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7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2058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2509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292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18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39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57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3952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099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80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034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4776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622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3043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735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40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60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B7461-B1DB-4807-A3E7-5DD1CA4CD30C}" type="datetimeFigureOut">
              <a:rPr lang="pt-BR" smtClean="0"/>
              <a:t>06/10/2020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5801AE5-2AE6-4087-8BFD-C5F55AB76B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3324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007168" y="4324865"/>
            <a:ext cx="81131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 smtClean="0"/>
              <a:t>Diferenças divididas de Newton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59645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051932" y="1476173"/>
            <a:ext cx="1079066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Suponha que </a:t>
            </a:r>
            <a:r>
              <a:rPr lang="pt-BR" dirty="0" err="1" smtClean="0"/>
              <a:t>P</a:t>
            </a:r>
            <a:r>
              <a:rPr lang="pt-BR" baseline="-25000" dirty="0" err="1" smtClean="0"/>
              <a:t>n</a:t>
            </a:r>
            <a:r>
              <a:rPr lang="pt-BR" dirty="0" smtClean="0"/>
              <a:t>(x) seja o enésimo polinômio de </a:t>
            </a:r>
            <a:r>
              <a:rPr lang="pt-BR" dirty="0" err="1" smtClean="0"/>
              <a:t>Lagrange</a:t>
            </a:r>
            <a:r>
              <a:rPr lang="pt-BR" dirty="0" smtClean="0"/>
              <a:t> que concorda com a função f em</a:t>
            </a:r>
          </a:p>
          <a:p>
            <a:r>
              <a:rPr lang="pt-BR" dirty="0" smtClean="0"/>
              <a:t>os números distintos x0, x1,. . . , </a:t>
            </a:r>
            <a:r>
              <a:rPr lang="pt-BR" dirty="0" err="1" smtClean="0"/>
              <a:t>xn</a:t>
            </a:r>
            <a:r>
              <a:rPr lang="pt-BR" dirty="0" smtClean="0"/>
              <a:t>. </a:t>
            </a:r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Embora este polinômio seja único, existem alternativas representações algébricas que são úteis em certas situações. As diferenças divididas de f em relação a x0, x1,. . . , </a:t>
            </a:r>
            <a:r>
              <a:rPr lang="pt-BR" dirty="0" err="1" smtClean="0"/>
              <a:t>xn</a:t>
            </a:r>
            <a:r>
              <a:rPr lang="pt-BR" dirty="0" smtClean="0"/>
              <a:t> são usados para expressar </a:t>
            </a:r>
            <a:r>
              <a:rPr lang="pt-BR" dirty="0" err="1" smtClean="0"/>
              <a:t>Pn</a:t>
            </a:r>
            <a:r>
              <a:rPr lang="pt-BR" dirty="0" smtClean="0"/>
              <a:t> (x) na forma 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  <a:p>
            <a:r>
              <a:rPr lang="pt-BR" dirty="0" smtClean="0"/>
              <a:t>para constantes apropriadas a0, a1,. . . , a. Para determinar a primeira dessas constantes, a0, observe que se </a:t>
            </a:r>
            <a:r>
              <a:rPr lang="pt-BR" dirty="0" err="1" smtClean="0"/>
              <a:t>P</a:t>
            </a:r>
            <a:r>
              <a:rPr lang="pt-BR" baseline="-25000" dirty="0" err="1" smtClean="0"/>
              <a:t>n</a:t>
            </a:r>
            <a:r>
              <a:rPr lang="pt-BR" dirty="0" smtClean="0"/>
              <a:t>(x) for escrito na forma da equação acima então avaliando </a:t>
            </a:r>
            <a:r>
              <a:rPr lang="pt-BR" dirty="0" err="1" smtClean="0"/>
              <a:t>P</a:t>
            </a:r>
            <a:r>
              <a:rPr lang="pt-BR" baseline="-25000" dirty="0" err="1" smtClean="0"/>
              <a:t>n</a:t>
            </a:r>
            <a:r>
              <a:rPr lang="pt-BR" dirty="0" smtClean="0"/>
              <a:t>(x) em x0 deixa apenas o termo constante a0, logo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370" y="4015329"/>
            <a:ext cx="7317755" cy="422856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656" y="6038942"/>
            <a:ext cx="2828123" cy="515544"/>
          </a:xfrm>
          <a:prstGeom prst="rect">
            <a:avLst/>
          </a:prstGeom>
        </p:spPr>
      </p:pic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1812339" y="604918"/>
            <a:ext cx="8911687" cy="1280890"/>
          </a:xfrm>
        </p:spPr>
        <p:txBody>
          <a:bodyPr/>
          <a:lstStyle/>
          <a:p>
            <a:r>
              <a:rPr lang="pt-BR" dirty="0" smtClean="0"/>
              <a:t>Diferenças divididas de Newton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368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85384" y="1406164"/>
            <a:ext cx="105676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Da mesma forma, quando P (x) é avaliado em x1, os únicos termos diferentes de zero na avaliação de </a:t>
            </a:r>
            <a:r>
              <a:rPr lang="pt-BR" dirty="0" err="1" smtClean="0"/>
              <a:t>P</a:t>
            </a:r>
            <a:r>
              <a:rPr lang="pt-BR" baseline="-25000" dirty="0" err="1" smtClean="0"/>
              <a:t>n</a:t>
            </a:r>
            <a:r>
              <a:rPr lang="pt-BR" dirty="0" smtClean="0"/>
              <a:t>(x1) são os termos constantes e lineares,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427" y="2462539"/>
            <a:ext cx="3105583" cy="304843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255" y="3668942"/>
            <a:ext cx="1838582" cy="590632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179542" y="3121671"/>
            <a:ext cx="8627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então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tângulo 5"/>
              <p:cNvSpPr/>
              <p:nvPr/>
            </p:nvSpPr>
            <p:spPr>
              <a:xfrm>
                <a:off x="1085383" y="4738251"/>
                <a:ext cx="10567639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dirty="0" smtClean="0"/>
                  <a:t>Agora apresentamos a notação de diferença dividida, que está relacionada ao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 smtClean="0"/>
                  <a:t> de </a:t>
                </a:r>
                <a:r>
                  <a:rPr lang="pt-BR" dirty="0" err="1" smtClean="0"/>
                  <a:t>Aitken</a:t>
                </a:r>
                <a:r>
                  <a:rPr lang="pt-BR" dirty="0" smtClean="0"/>
                  <a:t>. A diferença dividida zero da função f em relação a xi, denotado f[xi], é simplesmente o valor de f em xi:</a:t>
                </a:r>
              </a:p>
              <a:p>
                <a:endParaRPr lang="pt-BR" dirty="0" smtClean="0"/>
              </a:p>
              <a:p>
                <a:endParaRPr lang="pt-BR" dirty="0" smtClean="0"/>
              </a:p>
              <a:p>
                <a:endParaRPr lang="pt-BR" dirty="0"/>
              </a:p>
            </p:txBody>
          </p:sp>
        </mc:Choice>
        <mc:Fallback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83" y="4738251"/>
                <a:ext cx="10567639" cy="1754326"/>
              </a:xfrm>
              <a:prstGeom prst="rect">
                <a:avLst/>
              </a:prstGeom>
              <a:blipFill rotWithShape="0">
                <a:blip r:embed="rId4"/>
                <a:stretch>
                  <a:fillRect l="-461" t="-1736" r="-9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5296" y="5884917"/>
            <a:ext cx="1219370" cy="323895"/>
          </a:xfrm>
          <a:prstGeom prst="rect">
            <a:avLst/>
          </a:prstGeom>
        </p:spPr>
      </p:pic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1812339" y="604918"/>
            <a:ext cx="8911687" cy="1280890"/>
          </a:xfrm>
        </p:spPr>
        <p:txBody>
          <a:bodyPr/>
          <a:lstStyle/>
          <a:p>
            <a:r>
              <a:rPr lang="pt-BR" dirty="0" smtClean="0"/>
              <a:t>Diferenças divididas de Newton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091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92820" y="1427345"/>
            <a:ext cx="1082783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As diferenças divididas restantes são definidas recursivamente; a primeira diferença dividida</a:t>
            </a:r>
          </a:p>
          <a:p>
            <a:r>
              <a:rPr lang="pt-BR" dirty="0" smtClean="0"/>
              <a:t>de f em relação a x</a:t>
            </a:r>
            <a:r>
              <a:rPr lang="pt-BR" baseline="-25000" dirty="0" smtClean="0"/>
              <a:t>i</a:t>
            </a:r>
            <a:r>
              <a:rPr lang="pt-BR" dirty="0"/>
              <a:t> </a:t>
            </a:r>
            <a:r>
              <a:rPr lang="pt-BR" dirty="0" smtClean="0"/>
              <a:t>e</a:t>
            </a:r>
            <a:r>
              <a:rPr lang="pt-BR" dirty="0" smtClean="0"/>
              <a:t> x</a:t>
            </a:r>
            <a:r>
              <a:rPr lang="pt-BR" baseline="-25000" dirty="0" smtClean="0"/>
              <a:t>i+1 </a:t>
            </a:r>
            <a:r>
              <a:rPr lang="pt-BR" dirty="0" smtClean="0"/>
              <a:t>é denotado f[x</a:t>
            </a:r>
            <a:r>
              <a:rPr lang="pt-BR" baseline="-25000" dirty="0" smtClean="0"/>
              <a:t>i</a:t>
            </a:r>
            <a:r>
              <a:rPr lang="pt-BR" dirty="0" smtClean="0"/>
              <a:t>, x</a:t>
            </a:r>
            <a:r>
              <a:rPr lang="pt-BR" baseline="-25000" dirty="0" smtClean="0"/>
              <a:t>i+1</a:t>
            </a:r>
            <a:r>
              <a:rPr lang="pt-BR" dirty="0" smtClean="0"/>
              <a:t>] e definido como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A segunda diferença dividida, f[x</a:t>
            </a:r>
            <a:r>
              <a:rPr lang="pt-BR" baseline="-25000" dirty="0" smtClean="0"/>
              <a:t>i</a:t>
            </a:r>
            <a:r>
              <a:rPr lang="pt-BR" dirty="0" smtClean="0"/>
              <a:t>, x</a:t>
            </a:r>
            <a:r>
              <a:rPr lang="pt-BR" baseline="-25000" dirty="0" smtClean="0"/>
              <a:t>i+1</a:t>
            </a:r>
            <a:r>
              <a:rPr lang="pt-BR" dirty="0" smtClean="0"/>
              <a:t>,x</a:t>
            </a:r>
            <a:r>
              <a:rPr lang="pt-BR" baseline="-25000" dirty="0" smtClean="0"/>
              <a:t>i+2</a:t>
            </a:r>
            <a:r>
              <a:rPr lang="pt-BR" dirty="0" smtClean="0"/>
              <a:t>],  é definida como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41" y="2451833"/>
            <a:ext cx="2886703" cy="69280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772" y="4142808"/>
            <a:ext cx="4074502" cy="617349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903248" y="5278079"/>
            <a:ext cx="106494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Da mesma forma, após as (k - 1) </a:t>
            </a:r>
            <a:r>
              <a:rPr lang="pt-BR" dirty="0" err="1"/>
              <a:t>é</a:t>
            </a:r>
            <a:r>
              <a:rPr lang="pt-BR" dirty="0" err="1" smtClean="0"/>
              <a:t>sima</a:t>
            </a:r>
            <a:r>
              <a:rPr lang="pt-BR" dirty="0" smtClean="0"/>
              <a:t> diferenças divididas, 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230" y="5989240"/>
            <a:ext cx="4915586" cy="352474"/>
          </a:xfrm>
          <a:prstGeom prst="rect">
            <a:avLst/>
          </a:prstGeom>
        </p:spPr>
      </p:pic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1812339" y="604918"/>
            <a:ext cx="8911687" cy="1280890"/>
          </a:xfrm>
        </p:spPr>
        <p:txBody>
          <a:bodyPr/>
          <a:lstStyle/>
          <a:p>
            <a:r>
              <a:rPr lang="pt-BR" dirty="0" smtClean="0"/>
              <a:t>Diferenças divididas de Newton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531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70517" y="1628069"/>
            <a:ext cx="1060481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foram determinados, a k-</a:t>
            </a:r>
            <a:r>
              <a:rPr lang="pt-BR" dirty="0" err="1" smtClean="0"/>
              <a:t>ésima</a:t>
            </a:r>
            <a:r>
              <a:rPr lang="pt-BR" dirty="0" smtClean="0"/>
              <a:t> diferença dividida em relação a x</a:t>
            </a:r>
            <a:r>
              <a:rPr lang="pt-BR" baseline="-25000" dirty="0" smtClean="0"/>
              <a:t>i</a:t>
            </a:r>
            <a:r>
              <a:rPr lang="pt-BR" dirty="0" smtClean="0"/>
              <a:t>, x</a:t>
            </a:r>
            <a:r>
              <a:rPr lang="pt-BR" baseline="-25000" dirty="0" smtClean="0"/>
              <a:t>i+1</a:t>
            </a:r>
            <a:r>
              <a:rPr lang="pt-BR" dirty="0" smtClean="0"/>
              <a:t>, x</a:t>
            </a:r>
            <a:r>
              <a:rPr lang="pt-BR" baseline="-25000" dirty="0" smtClean="0"/>
              <a:t>i+2</a:t>
            </a:r>
            <a:r>
              <a:rPr lang="pt-BR" dirty="0" smtClean="0"/>
              <a:t>,. . . , </a:t>
            </a:r>
            <a:r>
              <a:rPr lang="pt-BR" dirty="0" err="1" smtClean="0"/>
              <a:t>x</a:t>
            </a:r>
            <a:r>
              <a:rPr lang="pt-BR" baseline="-25000" dirty="0" err="1" smtClean="0"/>
              <a:t>i+k</a:t>
            </a:r>
            <a:r>
              <a:rPr lang="pt-BR" dirty="0" smtClean="0"/>
              <a:t> é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O processo termina com a enésima diferença dividida,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772" y="2252784"/>
            <a:ext cx="4467849" cy="504895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1070517" y="3787842"/>
            <a:ext cx="10604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causa</a:t>
            </a:r>
            <a:r>
              <a:rPr lang="en-US" dirty="0" smtClean="0"/>
              <a:t> da </a:t>
            </a:r>
            <a:r>
              <a:rPr lang="en-US" dirty="0" err="1" smtClean="0"/>
              <a:t>eq</a:t>
            </a:r>
            <a:r>
              <a:rPr lang="en-US" dirty="0" smtClean="0"/>
              <a:t> </a:t>
            </a:r>
            <a:r>
              <a:rPr lang="en-US" dirty="0" err="1" smtClean="0"/>
              <a:t>acima</a:t>
            </a:r>
            <a:r>
              <a:rPr lang="en-US" dirty="0" smtClean="0"/>
              <a:t>, </a:t>
            </a:r>
            <a:r>
              <a:rPr lang="en-US" dirty="0" err="1" smtClean="0"/>
              <a:t>podemos</a:t>
            </a:r>
            <a:r>
              <a:rPr lang="en-US" dirty="0" smtClean="0"/>
              <a:t> </a:t>
            </a:r>
            <a:r>
              <a:rPr lang="en-US" dirty="0" err="1" smtClean="0"/>
              <a:t>escrever</a:t>
            </a:r>
            <a:r>
              <a:rPr lang="en-US" dirty="0" smtClean="0"/>
              <a:t> a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f[x</a:t>
            </a:r>
            <a:r>
              <a:rPr lang="en-US" baseline="-25000" dirty="0" smtClean="0"/>
              <a:t>0</a:t>
            </a:r>
            <a:r>
              <a:rPr lang="en-US" dirty="0" smtClean="0"/>
              <a:t>, x</a:t>
            </a:r>
            <a:r>
              <a:rPr lang="en-US" baseline="-25000" dirty="0" smtClean="0"/>
              <a:t>1</a:t>
            </a:r>
            <a:r>
              <a:rPr lang="en-US" dirty="0" smtClean="0"/>
              <a:t>], </a:t>
            </a:r>
            <a:r>
              <a:rPr lang="en-US" dirty="0" err="1" smtClean="0"/>
              <a:t>assim</a:t>
            </a:r>
            <a:r>
              <a:rPr lang="en-US" dirty="0" smtClean="0"/>
              <a:t> </a:t>
            </a:r>
            <a:r>
              <a:rPr lang="en-US" dirty="0" err="1" smtClean="0"/>
              <a:t>como</a:t>
            </a:r>
            <a:r>
              <a:rPr lang="en-US" dirty="0" smtClean="0"/>
              <a:t> a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 err="1" smtClean="0"/>
              <a:t>pode</a:t>
            </a:r>
            <a:r>
              <a:rPr lang="en-US" dirty="0" smtClean="0"/>
              <a:t> </a:t>
            </a:r>
            <a:r>
              <a:rPr lang="en-US" dirty="0" err="1" smtClean="0"/>
              <a:t>ser</a:t>
            </a:r>
            <a:r>
              <a:rPr lang="en-US" dirty="0" smtClean="0"/>
              <a:t> </a:t>
            </a:r>
            <a:r>
              <a:rPr lang="en-US" dirty="0" err="1" smtClean="0"/>
              <a:t>escrito</a:t>
            </a:r>
            <a:r>
              <a:rPr lang="en-US" dirty="0" smtClean="0"/>
              <a:t> </a:t>
            </a:r>
            <a:r>
              <a:rPr lang="en-US" dirty="0" err="1" smtClean="0"/>
              <a:t>como</a:t>
            </a:r>
            <a:r>
              <a:rPr lang="en-US" dirty="0" smtClean="0"/>
              <a:t>   a</a:t>
            </a:r>
            <a:r>
              <a:rPr lang="en-US" baseline="-25000" dirty="0" smtClean="0"/>
              <a:t>0</a:t>
            </a:r>
            <a:r>
              <a:rPr lang="en-US" dirty="0" smtClean="0"/>
              <a:t> = f(x</a:t>
            </a:r>
            <a:r>
              <a:rPr lang="en-US" baseline="-25000" dirty="0" smtClean="0"/>
              <a:t>0</a:t>
            </a:r>
            <a:r>
              <a:rPr lang="en-US" dirty="0" smtClean="0"/>
              <a:t>) </a:t>
            </a:r>
            <a:r>
              <a:rPr lang="en-US" dirty="0"/>
              <a:t>= </a:t>
            </a:r>
            <a:r>
              <a:rPr lang="en-US" dirty="0" smtClean="0"/>
              <a:t>f[x</a:t>
            </a:r>
            <a:r>
              <a:rPr lang="en-US" baseline="-25000" dirty="0" smtClean="0"/>
              <a:t>0</a:t>
            </a:r>
            <a:r>
              <a:rPr lang="en-US" dirty="0" smtClean="0"/>
              <a:t>]. </a:t>
            </a:r>
            <a:r>
              <a:rPr lang="en-US" dirty="0" err="1" smtClean="0"/>
              <a:t>Portanto</a:t>
            </a:r>
            <a:r>
              <a:rPr lang="en-US" dirty="0" smtClean="0"/>
              <a:t> o </a:t>
            </a:r>
            <a:r>
              <a:rPr lang="en-US" dirty="0" err="1" smtClean="0"/>
              <a:t>polinomio</a:t>
            </a:r>
            <a:r>
              <a:rPr lang="en-US" dirty="0" smtClean="0"/>
              <a:t> </a:t>
            </a:r>
            <a:r>
              <a:rPr lang="en-US" dirty="0" err="1" smtClean="0"/>
              <a:t>interpolador</a:t>
            </a:r>
            <a:r>
              <a:rPr lang="en-US" dirty="0" smtClean="0"/>
              <a:t> </a:t>
            </a:r>
            <a:r>
              <a:rPr lang="en-US" dirty="0" err="1" smtClean="0"/>
              <a:t>fica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96930" y="4956320"/>
            <a:ext cx="4410691" cy="714475"/>
          </a:xfrm>
          <a:prstGeom prst="rect">
            <a:avLst/>
          </a:prstGeom>
        </p:spPr>
      </p:pic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1812339" y="604918"/>
            <a:ext cx="8911687" cy="1280890"/>
          </a:xfrm>
        </p:spPr>
        <p:txBody>
          <a:bodyPr/>
          <a:lstStyle/>
          <a:p>
            <a:r>
              <a:rPr lang="pt-BR" dirty="0" smtClean="0"/>
              <a:t>Diferenças divididas de Newton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348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48215" y="1447405"/>
            <a:ext cx="1125158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Como pode ser esperado da avaliação de a0 e a1, as constantes necessárias são 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para cada k = 0, 1,. . . , n. Assim, </a:t>
            </a:r>
            <a:r>
              <a:rPr lang="pt-BR" dirty="0" err="1" smtClean="0"/>
              <a:t>P</a:t>
            </a:r>
            <a:r>
              <a:rPr lang="pt-BR" baseline="-25000" dirty="0" err="1" smtClean="0"/>
              <a:t>n</a:t>
            </a:r>
            <a:r>
              <a:rPr lang="pt-BR" dirty="0" smtClean="0"/>
              <a:t>(x) pode ser reescrito em uma forma chamada diferença dividida de Newton: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valor de f [x0, x1,. . . , </a:t>
            </a:r>
            <a:r>
              <a:rPr lang="pt-BR" dirty="0" err="1" smtClean="0"/>
              <a:t>xk</a:t>
            </a:r>
            <a:r>
              <a:rPr lang="pt-BR" dirty="0" smtClean="0"/>
              <a:t>] é independente da ordem dos números x0, x1,. . . , </a:t>
            </a:r>
            <a:r>
              <a:rPr lang="pt-BR" dirty="0" err="1" smtClean="0"/>
              <a:t>xk</a:t>
            </a:r>
            <a:endParaRPr lang="pt-BR" dirty="0" smtClean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376" y="2129628"/>
            <a:ext cx="2660639" cy="418804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49" y="3709562"/>
            <a:ext cx="4706007" cy="666843"/>
          </a:xfrm>
          <a:prstGeom prst="rect">
            <a:avLst/>
          </a:prstGeom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1812339" y="604918"/>
            <a:ext cx="8911687" cy="1280890"/>
          </a:xfrm>
        </p:spPr>
        <p:txBody>
          <a:bodyPr/>
          <a:lstStyle/>
          <a:p>
            <a:r>
              <a:rPr lang="pt-BR" dirty="0" smtClean="0"/>
              <a:t>Diferenças divididas de Newton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697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620644" y="1245363"/>
            <a:ext cx="1074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A geração das diferenças divididas é descrita na Tabela abaixo.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0003" y="1980904"/>
            <a:ext cx="10451869" cy="4733555"/>
          </a:xfrm>
          <a:prstGeom prst="rect">
            <a:avLst/>
          </a:prstGeo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812339" y="604918"/>
            <a:ext cx="8911687" cy="1280890"/>
          </a:xfrm>
        </p:spPr>
        <p:txBody>
          <a:bodyPr/>
          <a:lstStyle/>
          <a:p>
            <a:r>
              <a:rPr lang="pt-BR" dirty="0" smtClean="0"/>
              <a:t>Diferenças divididas de Newton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213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170876" y="2233141"/>
            <a:ext cx="1063826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Solução: A primeira diferença dividida envolvendo x0 e x1 é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As primeiras diferenças divididas restantes são encontradas de maneira semelhante e são mostradas no quarta coluna na Tabela mais a frente 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824" y="3664302"/>
            <a:ext cx="5363323" cy="504895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1170877" y="1334573"/>
            <a:ext cx="10638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Suponha que x0 = 1, x1 = 2,  x2 = 3, x3 = 4, x4 = 6 e f (x) = e</a:t>
            </a:r>
            <a:r>
              <a:rPr lang="pt-BR" baseline="30000" dirty="0" smtClean="0"/>
              <a:t>x</a:t>
            </a:r>
            <a:r>
              <a:rPr lang="pt-BR" dirty="0" smtClean="0"/>
              <a:t>. </a:t>
            </a:r>
          </a:p>
          <a:p>
            <a:r>
              <a:rPr lang="pt-BR" dirty="0" smtClean="0"/>
              <a:t>Determine o polinômio de interpolador e use este polinômio para aproximar f(5).</a:t>
            </a:r>
            <a:endParaRPr lang="pt-BR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1745432" y="666430"/>
            <a:ext cx="8911687" cy="1280890"/>
          </a:xfrm>
        </p:spPr>
        <p:txBody>
          <a:bodyPr/>
          <a:lstStyle/>
          <a:p>
            <a:r>
              <a:rPr lang="pt-BR" dirty="0" smtClean="0"/>
              <a:t>exemplo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499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05806" y="1733279"/>
            <a:ext cx="6535062" cy="51442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82068" y="3869513"/>
            <a:ext cx="5982535" cy="83831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72541" y="5098300"/>
            <a:ext cx="6268325" cy="762106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1561170" y="1144889"/>
            <a:ext cx="85418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A segunda diferença dividida envolvendo x0, x1 e x2 é</a:t>
            </a:r>
            <a:endParaRPr lang="pt-BR" dirty="0" smtClean="0"/>
          </a:p>
        </p:txBody>
      </p:sp>
      <p:sp>
        <p:nvSpPr>
          <p:cNvPr id="10" name="Retângulo 9"/>
          <p:cNvSpPr/>
          <p:nvPr/>
        </p:nvSpPr>
        <p:spPr>
          <a:xfrm>
            <a:off x="672343" y="2567347"/>
            <a:ext cx="110768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A terceira diferença dividida envolvendo x0, x1, x2 e x3 e a quarta diferença dividida envolvendo todos os pontos de dados são, respectivamente,</a:t>
            </a:r>
            <a:endParaRPr lang="pt-BR" dirty="0"/>
          </a:p>
        </p:txBody>
      </p:sp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745432" y="666430"/>
            <a:ext cx="8911687" cy="1280890"/>
          </a:xfrm>
        </p:spPr>
        <p:txBody>
          <a:bodyPr/>
          <a:lstStyle/>
          <a:p>
            <a:r>
              <a:rPr lang="pt-BR" dirty="0" smtClean="0"/>
              <a:t>exemplo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831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92886" y="1980255"/>
            <a:ext cx="5782482" cy="1000265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1029182" y="6362892"/>
            <a:ext cx="108687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As segundas diferenças divididas restantes são mostradas na 5ª coluna da Tabela adiante.</a:t>
            </a:r>
          </a:p>
        </p:txBody>
      </p:sp>
      <p:sp>
        <p:nvSpPr>
          <p:cNvPr id="9" name="Retângulo 8"/>
          <p:cNvSpPr/>
          <p:nvPr/>
        </p:nvSpPr>
        <p:spPr>
          <a:xfrm>
            <a:off x="1282390" y="1096617"/>
            <a:ext cx="111735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Os coeficientes da forma de diferença dividida avançada de Newton estão ao longo da diagonal superior na tabela abaixo. E o polinômio é</a:t>
            </a:r>
          </a:p>
          <a:p>
            <a:endParaRPr lang="pt-BR" dirty="0" smtClean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745432" y="666430"/>
            <a:ext cx="8911687" cy="1280890"/>
          </a:xfrm>
        </p:spPr>
        <p:txBody>
          <a:bodyPr/>
          <a:lstStyle/>
          <a:p>
            <a:r>
              <a:rPr lang="pt-BR" dirty="0" smtClean="0"/>
              <a:t>exemplo</a:t>
            </a:r>
            <a:endParaRPr lang="pt-BR" dirty="0"/>
          </a:p>
        </p:txBody>
      </p:sp>
      <p:grpSp>
        <p:nvGrpSpPr>
          <p:cNvPr id="12" name="Grupo 11"/>
          <p:cNvGrpSpPr/>
          <p:nvPr/>
        </p:nvGrpSpPr>
        <p:grpSpPr>
          <a:xfrm>
            <a:off x="1829992" y="3269009"/>
            <a:ext cx="8108270" cy="2805393"/>
            <a:chOff x="1829992" y="3269009"/>
            <a:chExt cx="8108270" cy="2805393"/>
          </a:xfrm>
        </p:grpSpPr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829992" y="3269009"/>
              <a:ext cx="8108270" cy="2805393"/>
            </a:xfrm>
            <a:prstGeom prst="rect">
              <a:avLst/>
            </a:prstGeom>
          </p:spPr>
        </p:pic>
        <p:sp>
          <p:nvSpPr>
            <p:cNvPr id="11" name="Retângulo de cantos arredondados 10"/>
            <p:cNvSpPr/>
            <p:nvPr/>
          </p:nvSpPr>
          <p:spPr>
            <a:xfrm rot="561065">
              <a:off x="2792423" y="4210175"/>
              <a:ext cx="6843261" cy="390292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53261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074235" y="1446085"/>
            <a:ext cx="111177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A fórmula de diferença avançada de Newton é construída fazendo uso do</a:t>
            </a:r>
          </a:p>
          <a:p>
            <a:r>
              <a:rPr lang="pt-BR" dirty="0" smtClean="0"/>
              <a:t>Delta de </a:t>
            </a:r>
            <a:r>
              <a:rPr lang="pt-BR" dirty="0" err="1" smtClean="0"/>
              <a:t>Aitken</a:t>
            </a:r>
            <a:r>
              <a:rPr lang="pt-BR" dirty="0" smtClean="0"/>
              <a:t>. Com esta notação,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08294" y="2327036"/>
            <a:ext cx="5820341" cy="138632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1074234" y="4028483"/>
            <a:ext cx="107237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e, em geral,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74729" y="4422573"/>
            <a:ext cx="3247992" cy="806239"/>
          </a:xfrm>
          <a:prstGeom prst="rect">
            <a:avLst/>
          </a:prstGeom>
        </p:spPr>
      </p:pic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1812339" y="604918"/>
            <a:ext cx="8911687" cy="1280890"/>
          </a:xfrm>
        </p:spPr>
        <p:txBody>
          <a:bodyPr/>
          <a:lstStyle/>
          <a:p>
            <a:r>
              <a:rPr lang="pt-BR" dirty="0" smtClean="0"/>
              <a:t>Diferenças divididas de Newton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713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464" y="3212076"/>
            <a:ext cx="4258394" cy="1170353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174511" y="1994944"/>
            <a:ext cx="52661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F</a:t>
            </a:r>
            <a:r>
              <a:rPr lang="pt-BR" dirty="0" smtClean="0"/>
              <a:t>órmula final diferença dividida de Newton é</a:t>
            </a:r>
            <a:endParaRPr lang="pt-BR" dirty="0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812339" y="604918"/>
            <a:ext cx="8911687" cy="1280890"/>
          </a:xfrm>
        </p:spPr>
        <p:txBody>
          <a:bodyPr/>
          <a:lstStyle/>
          <a:p>
            <a:r>
              <a:rPr lang="pt-BR" dirty="0" smtClean="0"/>
              <a:t>Diferenças divididas de Newton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1174511" y="5252838"/>
            <a:ext cx="104567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Obs. Toda a demonstração foi realizada com passos positivos, logo esta diferença dividida </a:t>
            </a:r>
          </a:p>
          <a:p>
            <a:r>
              <a:rPr lang="pt-BR" dirty="0" smtClean="0"/>
              <a:t>É também conhecida </a:t>
            </a:r>
            <a:r>
              <a:rPr lang="pt-BR" b="1" dirty="0" smtClean="0"/>
              <a:t>diferença avançada de Newton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18282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Diferença atrasada de Newton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99994" y="1789515"/>
            <a:ext cx="5792008" cy="83831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95522" y="2774165"/>
            <a:ext cx="3600953" cy="828791"/>
          </a:xfrm>
          <a:prstGeom prst="rect">
            <a:avLst/>
          </a:prstGeom>
        </p:spPr>
      </p:pic>
      <p:grpSp>
        <p:nvGrpSpPr>
          <p:cNvPr id="8" name="Grupo 7"/>
          <p:cNvGrpSpPr/>
          <p:nvPr/>
        </p:nvGrpSpPr>
        <p:grpSpPr>
          <a:xfrm>
            <a:off x="2592925" y="3960505"/>
            <a:ext cx="6706536" cy="2753109"/>
            <a:chOff x="2742730" y="3793237"/>
            <a:chExt cx="6706536" cy="2753109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42730" y="3793237"/>
              <a:ext cx="6706536" cy="2753109"/>
            </a:xfrm>
            <a:prstGeom prst="rect">
              <a:avLst/>
            </a:prstGeom>
          </p:spPr>
        </p:pic>
        <p:sp>
          <p:nvSpPr>
            <p:cNvPr id="7" name="Retângulo de cantos arredondados 6"/>
            <p:cNvSpPr/>
            <p:nvPr/>
          </p:nvSpPr>
          <p:spPr>
            <a:xfrm rot="20992835">
              <a:off x="3186254" y="5616656"/>
              <a:ext cx="6174520" cy="390292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17863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13061" y="1627025"/>
            <a:ext cx="7419308" cy="215323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40136" y="4161825"/>
            <a:ext cx="6754168" cy="2629267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dirty="0" smtClean="0"/>
              <a:t>Diferença centrais de Newton</a:t>
            </a:r>
            <a:endParaRPr lang="pt-BR" dirty="0"/>
          </a:p>
        </p:txBody>
      </p:sp>
      <p:sp>
        <p:nvSpPr>
          <p:cNvPr id="7" name="Retângulo de cantos arredondados 6"/>
          <p:cNvSpPr/>
          <p:nvPr/>
        </p:nvSpPr>
        <p:spPr>
          <a:xfrm>
            <a:off x="2869180" y="5371327"/>
            <a:ext cx="6325123" cy="70608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8799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898" y="2329378"/>
            <a:ext cx="8042843" cy="3101266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dirty="0" smtClean="0"/>
              <a:t>Diferença centrais de Newton</a:t>
            </a:r>
            <a:endParaRPr lang="pt-BR" dirty="0"/>
          </a:p>
        </p:txBody>
      </p:sp>
      <p:sp>
        <p:nvSpPr>
          <p:cNvPr id="7" name="Retângulo de cantos arredondados 6"/>
          <p:cNvSpPr/>
          <p:nvPr/>
        </p:nvSpPr>
        <p:spPr>
          <a:xfrm>
            <a:off x="2924936" y="3720947"/>
            <a:ext cx="7300732" cy="83990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23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2420888"/>
            <a:ext cx="7620000" cy="1143000"/>
          </a:xfrm>
        </p:spPr>
        <p:txBody>
          <a:bodyPr/>
          <a:lstStyle/>
          <a:p>
            <a:pPr algn="ctr"/>
            <a:r>
              <a:rPr lang="pt-BR" sz="6600" dirty="0"/>
              <a:t>Obrigado!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684C-6F7A-4E28-B171-F9923C41D7EE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539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4978</TotalTime>
  <Words>624</Words>
  <Application>Microsoft Office PowerPoint</Application>
  <PresentationFormat>Widescreen</PresentationFormat>
  <Paragraphs>84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Cambria Math</vt:lpstr>
      <vt:lpstr>Century Gothic</vt:lpstr>
      <vt:lpstr>Wingdings 3</vt:lpstr>
      <vt:lpstr>Cacho</vt:lpstr>
      <vt:lpstr>Apresentação do PowerPoint</vt:lpstr>
      <vt:lpstr>Diferenças divididas de Newton</vt:lpstr>
      <vt:lpstr>Diferenças divididas de Newton</vt:lpstr>
      <vt:lpstr>Diferenças divididas de Newton</vt:lpstr>
      <vt:lpstr>Diferenças divididas de Newton</vt:lpstr>
      <vt:lpstr>Diferenças divididas de Newton</vt:lpstr>
      <vt:lpstr>Diferenças divididas de Newton</vt:lpstr>
      <vt:lpstr>exemplo</vt:lpstr>
      <vt:lpstr>exemplo</vt:lpstr>
      <vt:lpstr>exemplo</vt:lpstr>
      <vt:lpstr>Diferenças divididas de Newton</vt:lpstr>
      <vt:lpstr>Diferenças divididas de Newton</vt:lpstr>
      <vt:lpstr>Diferença atrasada de Newton</vt:lpstr>
      <vt:lpstr>Diferença centrais de Newton</vt:lpstr>
      <vt:lpstr>Diferença centrais de Newton</vt:lpstr>
      <vt:lpstr>Obrigado!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antonio tavernard</dc:creator>
  <cp:lastModifiedBy>antonio tavernard</cp:lastModifiedBy>
  <cp:revision>29</cp:revision>
  <dcterms:created xsi:type="dcterms:W3CDTF">2020-10-06T14:40:50Z</dcterms:created>
  <dcterms:modified xsi:type="dcterms:W3CDTF">2020-10-10T01:39:30Z</dcterms:modified>
</cp:coreProperties>
</file>