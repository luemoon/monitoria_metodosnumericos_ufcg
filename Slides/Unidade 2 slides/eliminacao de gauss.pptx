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1.xml" ContentType="application/vnd.openxmlformats-officedocument.presentationml.tags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17"/>
  </p:notesMasterIdLst>
  <p:sldIdLst>
    <p:sldId id="257" r:id="rId2"/>
    <p:sldId id="334" r:id="rId3"/>
    <p:sldId id="259" r:id="rId4"/>
    <p:sldId id="295" r:id="rId5"/>
    <p:sldId id="260" r:id="rId6"/>
    <p:sldId id="261" r:id="rId7"/>
    <p:sldId id="262" r:id="rId8"/>
    <p:sldId id="264" r:id="rId9"/>
    <p:sldId id="265" r:id="rId10"/>
    <p:sldId id="296" r:id="rId11"/>
    <p:sldId id="266" r:id="rId12"/>
    <p:sldId id="297" r:id="rId13"/>
    <p:sldId id="267" r:id="rId14"/>
    <p:sldId id="268" r:id="rId15"/>
    <p:sldId id="300" r:id="rId16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17" autoAdjust="0"/>
    <p:restoredTop sz="94660"/>
  </p:normalViewPr>
  <p:slideViewPr>
    <p:cSldViewPr>
      <p:cViewPr>
        <p:scale>
          <a:sx n="90" d="100"/>
          <a:sy n="90" d="100"/>
        </p:scale>
        <p:origin x="588" y="5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4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4.wmf"/><Relationship Id="rId1" Type="http://schemas.openxmlformats.org/officeDocument/2006/relationships/image" Target="../media/image7.wmf"/><Relationship Id="rId4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3.wmf"/><Relationship Id="rId4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3.wmf"/><Relationship Id="rId4" Type="http://schemas.openxmlformats.org/officeDocument/2006/relationships/image" Target="../media/image17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4" Type="http://schemas.openxmlformats.org/officeDocument/2006/relationships/image" Target="../media/image21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24.wmf"/><Relationship Id="rId1" Type="http://schemas.openxmlformats.org/officeDocument/2006/relationships/image" Target="../media/image18.wmf"/><Relationship Id="rId4" Type="http://schemas.openxmlformats.org/officeDocument/2006/relationships/image" Target="../media/image21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8308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2D77E83-6FB5-4449-A58D-0293FEB18B20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9290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8BFD54C-B19B-4134-A144-F925BB2DFFAB}" type="slidenum">
              <a:rPr lang="en-US" sz="1200">
                <a:latin typeface="Arial" panose="020B0604020202020204" pitchFamily="34" charset="0"/>
              </a:rPr>
              <a:pPr eaLnBrk="1" hangingPunct="1"/>
              <a:t>1</a:t>
            </a:fld>
            <a:endParaRPr lang="en-US" sz="1200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04900" y="652463"/>
            <a:ext cx="4646613" cy="3484562"/>
          </a:xfrm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4354513"/>
            <a:ext cx="5000625" cy="41370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310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3E44CED-D6CE-4279-9555-E2D231FA8131}" type="slidenum">
              <a:rPr lang="en-US" sz="1200">
                <a:latin typeface="Arial" panose="020B0604020202020204" pitchFamily="34" charset="0"/>
              </a:rPr>
              <a:pPr eaLnBrk="1" hangingPunct="1"/>
              <a:t>2</a:t>
            </a:fld>
            <a:endParaRPr lang="en-US" sz="1200">
              <a:latin typeface="Arial" panose="020B0604020202020204" pitchFamily="34" charset="0"/>
            </a:endParaRPr>
          </a:p>
        </p:txBody>
      </p:sp>
      <p:sp>
        <p:nvSpPr>
          <p:cNvPr id="10137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83669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0D79CF7-AB27-481F-AD4F-7BCCE779032D}" type="slidenum">
              <a:rPr lang="en-US" sz="1200">
                <a:latin typeface="Arial" panose="020B0604020202020204" pitchFamily="34" charset="0"/>
              </a:rPr>
              <a:pPr eaLnBrk="1" hangingPunct="1"/>
              <a:t>3</a:t>
            </a:fld>
            <a:endParaRPr lang="en-US" sz="1200">
              <a:latin typeface="Arial" panose="020B0604020202020204" pitchFamily="34" charset="0"/>
            </a:endParaRPr>
          </a:p>
        </p:txBody>
      </p:sp>
      <p:sp>
        <p:nvSpPr>
          <p:cNvPr id="10240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5511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26E5463-93C5-494C-A19B-877A49542822}" type="slidenum">
              <a:rPr lang="en-US" sz="1200">
                <a:latin typeface="Arial" panose="020B0604020202020204" pitchFamily="34" charset="0"/>
              </a:rPr>
              <a:pPr eaLnBrk="1" hangingPunct="1"/>
              <a:t>4</a:t>
            </a:fld>
            <a:endParaRPr lang="en-US" sz="1200">
              <a:latin typeface="Arial" panose="020B0604020202020204" pitchFamily="34" charset="0"/>
            </a:endParaRPr>
          </a:p>
        </p:txBody>
      </p:sp>
      <p:sp>
        <p:nvSpPr>
          <p:cNvPr id="10342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8161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7DDEC838-52E3-4499-AE83-E84D2CC3E424}" type="slidenum">
              <a:rPr lang="en-US" sz="1200">
                <a:latin typeface="Arial" panose="020B0604020202020204" pitchFamily="34" charset="0"/>
              </a:rPr>
              <a:pPr eaLnBrk="1" hangingPunct="1"/>
              <a:t>5</a:t>
            </a:fld>
            <a:endParaRPr lang="en-US" sz="1200">
              <a:latin typeface="Arial" panose="020B0604020202020204" pitchFamily="34" charset="0"/>
            </a:endParaRPr>
          </a:p>
        </p:txBody>
      </p:sp>
      <p:sp>
        <p:nvSpPr>
          <p:cNvPr id="10445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6089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1C26883-EDA8-4028-A08F-6E712F7602E9}" type="slidenum">
              <a:rPr lang="en-US" sz="1200">
                <a:latin typeface="Arial" panose="020B0604020202020204" pitchFamily="34" charset="0"/>
              </a:rPr>
              <a:pPr eaLnBrk="1" hangingPunct="1"/>
              <a:t>6</a:t>
            </a:fld>
            <a:endParaRPr lang="en-US" sz="1200">
              <a:latin typeface="Arial" panose="020B0604020202020204" pitchFamily="34" charset="0"/>
            </a:endParaRPr>
          </a:p>
        </p:txBody>
      </p:sp>
      <p:sp>
        <p:nvSpPr>
          <p:cNvPr id="10547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7930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52DC7AF-8451-4039-981C-0D31B2B05339}" type="slidenum">
              <a:rPr lang="en-US" sz="1200">
                <a:latin typeface="Arial" panose="020B0604020202020204" pitchFamily="34" charset="0"/>
              </a:rPr>
              <a:pPr eaLnBrk="1" hangingPunct="1"/>
              <a:t>7</a:t>
            </a:fld>
            <a:endParaRPr lang="en-US" sz="1200">
              <a:latin typeface="Arial" panose="020B0604020202020204" pitchFamily="34" charset="0"/>
            </a:endParaRPr>
          </a:p>
        </p:txBody>
      </p:sp>
      <p:sp>
        <p:nvSpPr>
          <p:cNvPr id="10649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1219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CEB207A-CD6F-4F1B-96F6-959F510E924E}" type="slidenum">
              <a:rPr lang="en-US" sz="1200">
                <a:latin typeface="Arial" panose="020B0604020202020204" pitchFamily="34" charset="0"/>
              </a:rPr>
              <a:pPr eaLnBrk="1" hangingPunct="1"/>
              <a:t>8</a:t>
            </a:fld>
            <a:endParaRPr lang="en-US" sz="1200">
              <a:latin typeface="Arial" panose="020B0604020202020204" pitchFamily="34" charset="0"/>
            </a:endParaRPr>
          </a:p>
        </p:txBody>
      </p:sp>
      <p:sp>
        <p:nvSpPr>
          <p:cNvPr id="1075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6729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7880F60-D0F1-485B-BDA9-A40F82CD3370}" type="slidenum">
              <a:rPr lang="en-US" sz="1200">
                <a:latin typeface="Arial" panose="020B0604020202020204" pitchFamily="34" charset="0"/>
              </a:rPr>
              <a:pPr eaLnBrk="1" hangingPunct="1"/>
              <a:t>9</a:t>
            </a:fld>
            <a:endParaRPr lang="en-US" sz="1200">
              <a:latin typeface="Arial" panose="020B0604020202020204" pitchFamily="34" charset="0"/>
            </a:endParaRPr>
          </a:p>
        </p:txBody>
      </p:sp>
      <p:sp>
        <p:nvSpPr>
          <p:cNvPr id="1085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958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AD8BB09-EDC1-4786-B2B3-97504D4FCA45}" type="slidenum">
              <a:rPr lang="en-US" sz="1200">
                <a:latin typeface="Arial" panose="020B0604020202020204" pitchFamily="34" charset="0"/>
              </a:rPr>
              <a:pPr eaLnBrk="1" hangingPunct="1"/>
              <a:t>10</a:t>
            </a:fld>
            <a:endParaRPr lang="en-US" sz="1200">
              <a:latin typeface="Arial" panose="020B0604020202020204" pitchFamily="34" charset="0"/>
            </a:endParaRPr>
          </a:p>
        </p:txBody>
      </p:sp>
      <p:sp>
        <p:nvSpPr>
          <p:cNvPr id="1095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8453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834AC1B-BA8A-4234-B820-C2AED7EF488F}" type="slidenum">
              <a:rPr lang="en-US" sz="1200">
                <a:latin typeface="Arial" panose="020B0604020202020204" pitchFamily="34" charset="0"/>
              </a:rPr>
              <a:pPr eaLnBrk="1" hangingPunct="1"/>
              <a:t>11</a:t>
            </a:fld>
            <a:endParaRPr lang="en-US" sz="1200">
              <a:latin typeface="Arial" panose="020B0604020202020204" pitchFamily="34" charset="0"/>
            </a:endParaRPr>
          </a:p>
        </p:txBody>
      </p:sp>
      <p:sp>
        <p:nvSpPr>
          <p:cNvPr id="1105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1065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72C1FCF5-9FFE-4EDC-9415-5CA60F265F09}" type="slidenum">
              <a:rPr lang="en-US" sz="1200">
                <a:latin typeface="Arial" panose="020B0604020202020204" pitchFamily="34" charset="0"/>
              </a:rPr>
              <a:pPr eaLnBrk="1" hangingPunct="1"/>
              <a:t>12</a:t>
            </a:fld>
            <a:endParaRPr lang="en-US" sz="1200">
              <a:latin typeface="Arial" panose="020B0604020202020204" pitchFamily="34" charset="0"/>
            </a:endParaRPr>
          </a:p>
        </p:txBody>
      </p:sp>
      <p:sp>
        <p:nvSpPr>
          <p:cNvPr id="1116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68306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EA29053-17FD-49DA-8C0F-2D5BF2C48665}" type="slidenum">
              <a:rPr lang="en-US" sz="1200">
                <a:latin typeface="Arial" panose="020B0604020202020204" pitchFamily="34" charset="0"/>
              </a:rPr>
              <a:pPr eaLnBrk="1" hangingPunct="1"/>
              <a:t>13</a:t>
            </a:fld>
            <a:endParaRPr lang="en-US" sz="1200">
              <a:latin typeface="Arial" panose="020B0604020202020204" pitchFamily="34" charset="0"/>
            </a:endParaRPr>
          </a:p>
        </p:txBody>
      </p:sp>
      <p:sp>
        <p:nvSpPr>
          <p:cNvPr id="1126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2063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24DC43E-939C-4368-BDF5-A58CF0186284}" type="slidenum">
              <a:rPr lang="en-US" sz="1200">
                <a:latin typeface="Arial" panose="020B0604020202020204" pitchFamily="34" charset="0"/>
              </a:rPr>
              <a:pPr eaLnBrk="1" hangingPunct="1"/>
              <a:t>14</a:t>
            </a:fld>
            <a:endParaRPr lang="en-US" sz="1200">
              <a:latin typeface="Arial" panose="020B0604020202020204" pitchFamily="34" charset="0"/>
            </a:endParaRPr>
          </a:p>
        </p:txBody>
      </p:sp>
      <p:sp>
        <p:nvSpPr>
          <p:cNvPr id="1136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5093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FBAA5D6-D040-4E91-8533-03F93D0C4F48}" type="slidenum">
              <a:rPr lang="en-US" sz="1200">
                <a:latin typeface="Arial" panose="020B0604020202020204" pitchFamily="34" charset="0"/>
              </a:rPr>
              <a:pPr eaLnBrk="1" hangingPunct="1"/>
              <a:t>15</a:t>
            </a:fld>
            <a:endParaRPr lang="en-US" sz="1200">
              <a:latin typeface="Arial" panose="020B0604020202020204" pitchFamily="34" charset="0"/>
            </a:endParaRPr>
          </a:p>
        </p:txBody>
      </p:sp>
      <p:sp>
        <p:nvSpPr>
          <p:cNvPr id="114691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528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A977F-2504-E741-85B4-8F01994E1F25}" type="datetimeFigureOut">
              <a:rPr lang="en-US" dirty="0"/>
              <a:t>11/6/2020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78332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9A02F-357D-AF42-B110-A7740AFDCA1B}" type="datetimeFigureOut">
              <a:rPr lang="en-US" dirty="0"/>
              <a:t>11/6/2020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224996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B9B27-4D02-2940-AED5-BC8F2B3B1507}" type="datetimeFigureOut">
              <a:rPr lang="en-US" dirty="0"/>
              <a:t>11/6/2020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1757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F7878-2C98-7449-BB8F-764A5EA8E558}" type="datetimeFigureOut">
              <a:rPr lang="en-US" dirty="0"/>
              <a:t>11/6/2020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62532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2F403-9584-1749-B6AB-5E1C5F94527C}" type="datetimeFigureOut">
              <a:rPr lang="en-US" dirty="0"/>
              <a:t>11/6/2020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76889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C0351-EB03-5444-BA93-B7E778374E24}" type="datetimeFigureOut">
              <a:rPr lang="en-US" dirty="0"/>
              <a:t>11/6/2020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71173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ADB90-FF7E-5041-AB9F-1BC0957AB829}" type="datetimeFigureOut">
              <a:rPr lang="en-US" dirty="0"/>
              <a:t>11/6/2020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61972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8CB6-48D8-4E47-B0D3-B56230F429D0}" type="datetimeFigureOut">
              <a:rPr lang="en-US" dirty="0"/>
              <a:t>11/6/2020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44392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716D3-DCE8-CC45-8106-AE5DFCD073F9}" type="datetimeFigureOut">
              <a:rPr lang="en-US" dirty="0"/>
              <a:t>11/6/2020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463891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F351F-53B1-3B4C-8CD4-15B0457E8E3F}" type="datetimeFigureOut">
              <a:rPr lang="en-US" dirty="0"/>
              <a:t>11/6/2020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65912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1E8F6-4F69-E448-82E4-3FF8C30628E4}" type="datetimeFigureOut">
              <a:rPr lang="en-US" dirty="0"/>
              <a:t>11/6/2020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8406612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BAD4-EC93-8B4C-97AE-9AB5F3271B19}" type="datetimeFigureOut">
              <a:rPr lang="en-US" dirty="0"/>
              <a:t>11/6/2020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90318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9050E-E079-6441-81E7-806D30677343}" type="datetimeFigureOut">
              <a:rPr lang="en-US" dirty="0"/>
              <a:t>11/6/2020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90877952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230AF-FFB7-DE42-B481-AAC2589869DA}" type="datetimeFigureOut">
              <a:rPr lang="en-US" dirty="0"/>
              <a:t>11/6/2020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542849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A7C16-FAF2-2C41-B697-563997C522AD}" type="datetimeFigureOut">
              <a:rPr lang="en-US" dirty="0"/>
              <a:t>11/6/2020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63964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9D9EA-0687-604F-B97A-763B6765DF9F}" type="datetimeFigureOut">
              <a:rPr lang="en-US" dirty="0"/>
              <a:t>11/6/2020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61629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FFFB4-400D-1240-AB24-6F86C96D4DFB}" type="datetimeFigureOut">
              <a:rPr lang="en-US" dirty="0"/>
              <a:t>11/6/2020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124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9.wmf"/><Relationship Id="rId5" Type="http://schemas.openxmlformats.org/officeDocument/2006/relationships/image" Target="../media/image6.w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8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1.wmf"/><Relationship Id="rId5" Type="http://schemas.openxmlformats.org/officeDocument/2006/relationships/image" Target="../media/image7.w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0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14.wmf"/><Relationship Id="rId5" Type="http://schemas.openxmlformats.org/officeDocument/2006/relationships/image" Target="../media/image3.w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3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5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17.wmf"/><Relationship Id="rId5" Type="http://schemas.openxmlformats.org/officeDocument/2006/relationships/image" Target="../media/image3.wmf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16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9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21.wmf"/><Relationship Id="rId5" Type="http://schemas.openxmlformats.org/officeDocument/2006/relationships/image" Target="../media/image18.wmf"/><Relationship Id="rId10" Type="http://schemas.openxmlformats.org/officeDocument/2006/relationships/oleObject" Target="../embeddings/oleObject25.bin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0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22.wmf"/><Relationship Id="rId4" Type="http://schemas.openxmlformats.org/officeDocument/2006/relationships/oleObject" Target="../embeddings/oleObject26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27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24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21.wmf"/><Relationship Id="rId5" Type="http://schemas.openxmlformats.org/officeDocument/2006/relationships/image" Target="../media/image18.wmf"/><Relationship Id="rId10" Type="http://schemas.openxmlformats.org/officeDocument/2006/relationships/oleObject" Target="../embeddings/oleObject31.bin"/><Relationship Id="rId4" Type="http://schemas.openxmlformats.org/officeDocument/2006/relationships/oleObject" Target="../embeddings/oleObject28.bin"/><Relationship Id="rId9" Type="http://schemas.openxmlformats.org/officeDocument/2006/relationships/image" Target="../media/image20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5.wmf"/><Relationship Id="rId4" Type="http://schemas.openxmlformats.org/officeDocument/2006/relationships/oleObject" Target="../embeddings/oleObject32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2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26.wmf"/><Relationship Id="rId4" Type="http://schemas.openxmlformats.org/officeDocument/2006/relationships/oleObject" Target="../embeddings/oleObject33.bin"/><Relationship Id="rId9" Type="http://schemas.openxmlformats.org/officeDocument/2006/relationships/image" Target="../media/image28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47800" y="1600200"/>
            <a:ext cx="7315200" cy="1066800"/>
          </a:xfrm>
        </p:spPr>
        <p:txBody>
          <a:bodyPr/>
          <a:lstStyle/>
          <a:p>
            <a:pPr eaLnBrk="1" hangingPunct="1"/>
            <a:r>
              <a:rPr lang="en-US" dirty="0" err="1" smtClean="0"/>
              <a:t>Eliminação</a:t>
            </a:r>
            <a:r>
              <a:rPr lang="en-US" dirty="0" smtClean="0"/>
              <a:t> de Gauss</a:t>
            </a:r>
            <a:endParaRPr lang="en-US" dirty="0" smtClean="0"/>
          </a:p>
        </p:txBody>
      </p:sp>
      <p:sp>
        <p:nvSpPr>
          <p:cNvPr id="2" name="Subtítulo 1"/>
          <p:cNvSpPr>
            <a:spLocks noGrp="1"/>
          </p:cNvSpPr>
          <p:nvPr>
            <p:ph type="subTitle" idx="1"/>
          </p:nvPr>
        </p:nvSpPr>
        <p:spPr>
          <a:xfrm>
            <a:off x="1524000" y="4572000"/>
            <a:ext cx="6600451" cy="1126283"/>
          </a:xfrm>
        </p:spPr>
        <p:txBody>
          <a:bodyPr/>
          <a:lstStyle/>
          <a:p>
            <a:r>
              <a:rPr lang="pt-BR" dirty="0" smtClean="0"/>
              <a:t>Prof. Antonio Tavernard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Gaussian </a:t>
            </a:r>
            <a:r>
              <a:rPr lang="en-US" dirty="0" smtClean="0"/>
              <a:t>Elimination</a:t>
            </a:r>
          </a:p>
        </p:txBody>
      </p:sp>
      <p:sp>
        <p:nvSpPr>
          <p:cNvPr id="66563" name="Text Box 3"/>
          <p:cNvSpPr txBox="1">
            <a:spLocks noChangeArrowheads="1"/>
          </p:cNvSpPr>
          <p:nvPr/>
        </p:nvSpPr>
        <p:spPr bwMode="auto">
          <a:xfrm>
            <a:off x="533400" y="1447800"/>
            <a:ext cx="8458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0" algn="l" eaLnBrk="1" hangingPunct="1">
              <a:spcBef>
                <a:spcPct val="50000"/>
              </a:spcBef>
            </a:pPr>
            <a:r>
              <a:rPr kumimoji="0" lang="pt-PT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Um </a:t>
            </a:r>
            <a:r>
              <a:rPr kumimoji="0" lang="pt-PT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método</a:t>
            </a:r>
            <a:r>
              <a:rPr kumimoji="0" lang="pt-PT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para resolver equações lineares simultâneas da forma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A][X]=[C]</a:t>
            </a:r>
          </a:p>
        </p:txBody>
      </p:sp>
      <p:sp>
        <p:nvSpPr>
          <p:cNvPr id="66564" name="Rectangle 4"/>
          <p:cNvSpPr>
            <a:spLocks noChangeArrowheads="1"/>
          </p:cNvSpPr>
          <p:nvPr/>
        </p:nvSpPr>
        <p:spPr bwMode="auto">
          <a:xfrm>
            <a:off x="685800" y="3102487"/>
            <a:ext cx="60198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/>
            <a:r>
              <a:rPr lang="en-US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Dois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pasos</a:t>
            </a:r>
            <a:r>
              <a:rPr lang="en-US" dirty="0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serão</a:t>
            </a:r>
            <a:r>
              <a:rPr lang="en-US" dirty="0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necessarios</a:t>
            </a:r>
            <a:endParaRPr lang="en-US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/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Eliminação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progressiva</a:t>
            </a:r>
            <a:endParaRPr lang="en-US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/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Substituição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regressiva</a:t>
            </a:r>
            <a:endParaRPr lang="en-US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Forward Elimination</a:t>
            </a:r>
          </a:p>
        </p:txBody>
      </p:sp>
      <p:graphicFrame>
        <p:nvGraphicFramePr>
          <p:cNvPr id="1027" name="Object 11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234897658"/>
              </p:ext>
            </p:extLst>
          </p:nvPr>
        </p:nvGraphicFramePr>
        <p:xfrm>
          <a:off x="3651250" y="4955574"/>
          <a:ext cx="22987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Equation" r:id="rId4" imgW="2298600" imgH="711000" progId="Equation.3">
                  <p:embed/>
                </p:oleObj>
              </mc:Choice>
              <mc:Fallback>
                <p:oleObj name="Equation" r:id="rId4" imgW="2298600" imgH="7110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1250" y="4955574"/>
                        <a:ext cx="22987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" name="Object 8"/>
          <p:cNvGraphicFramePr>
            <a:graphicFrameLocks noGrp="1" noChangeAspect="1"/>
          </p:cNvGraphicFramePr>
          <p:nvPr>
            <p:ph sz="half" idx="2"/>
          </p:nvPr>
        </p:nvGraphicFramePr>
        <p:xfrm>
          <a:off x="2287588" y="2363788"/>
          <a:ext cx="4568825" cy="181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Equation" r:id="rId6" imgW="1790640" imgH="711000" progId="Equation.3">
                  <p:embed/>
                </p:oleObj>
              </mc:Choice>
              <mc:Fallback>
                <p:oleObj name="Equation" r:id="rId6" imgW="1790640" imgH="711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7588" y="2363788"/>
                        <a:ext cx="4568825" cy="1814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Text Box 3"/>
          <p:cNvSpPr txBox="1">
            <a:spLocks noChangeArrowheads="1"/>
          </p:cNvSpPr>
          <p:nvPr/>
        </p:nvSpPr>
        <p:spPr bwMode="auto">
          <a:xfrm>
            <a:off x="914400" y="1406555"/>
            <a:ext cx="7772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pt-BR" dirty="0" smtClean="0"/>
              <a:t>O </a:t>
            </a:r>
            <a:r>
              <a:rPr lang="pt-BR" dirty="0"/>
              <a:t>objetivo da eliminação </a:t>
            </a:r>
            <a:r>
              <a:rPr lang="pt-BR" dirty="0" smtClean="0"/>
              <a:t>é </a:t>
            </a:r>
            <a:r>
              <a:rPr lang="pt-BR" dirty="0"/>
              <a:t>transformar a matriz de coeficientes em uma matriz triangular superior</a:t>
            </a:r>
            <a:endParaRPr lang="en-US" dirty="0"/>
          </a:p>
        </p:txBody>
      </p:sp>
      <p:sp>
        <p:nvSpPr>
          <p:cNvPr id="1030" name="Rectangle 5"/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1031" name="Line 14"/>
          <p:cNvSpPr>
            <a:spLocks noChangeShapeType="1"/>
          </p:cNvSpPr>
          <p:nvPr/>
        </p:nvSpPr>
        <p:spPr bwMode="auto">
          <a:xfrm>
            <a:off x="4800600" y="4192588"/>
            <a:ext cx="0" cy="533400"/>
          </a:xfrm>
          <a:prstGeom prst="line">
            <a:avLst/>
          </a:prstGeom>
          <a:noFill/>
          <a:ln w="41275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Forward Elimination</a:t>
            </a:r>
          </a:p>
        </p:txBody>
      </p:sp>
      <p:sp>
        <p:nvSpPr>
          <p:cNvPr id="2054" name="Text Box 3"/>
          <p:cNvSpPr txBox="1">
            <a:spLocks noChangeArrowheads="1"/>
          </p:cNvSpPr>
          <p:nvPr/>
        </p:nvSpPr>
        <p:spPr bwMode="auto">
          <a:xfrm>
            <a:off x="914400" y="1524000"/>
            <a:ext cx="701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 dirty="0" smtClean="0"/>
              <a:t>Um </a:t>
            </a:r>
            <a:r>
              <a:rPr lang="en-US" sz="2800" dirty="0" err="1" smtClean="0"/>
              <a:t>conjunto</a:t>
            </a:r>
            <a:r>
              <a:rPr lang="en-US" sz="2800" dirty="0" smtClean="0"/>
              <a:t> com n </a:t>
            </a:r>
            <a:r>
              <a:rPr lang="en-US" sz="2800" dirty="0" err="1" smtClean="0"/>
              <a:t>equações</a:t>
            </a:r>
            <a:r>
              <a:rPr lang="en-US" sz="2800" dirty="0" smtClean="0"/>
              <a:t> e n </a:t>
            </a:r>
            <a:r>
              <a:rPr lang="en-US" sz="2800" dirty="0" err="1" smtClean="0"/>
              <a:t>variaveis</a:t>
            </a:r>
            <a:r>
              <a:rPr lang="en-US" sz="2800" dirty="0" smtClean="0"/>
              <a:t> </a:t>
            </a:r>
            <a:endParaRPr lang="en-US" sz="2800" dirty="0"/>
          </a:p>
        </p:txBody>
      </p:sp>
      <p:sp>
        <p:nvSpPr>
          <p:cNvPr id="2055" name="Rectangle 5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1524000" y="2057400"/>
          <a:ext cx="54864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" name="Equation" r:id="rId4" imgW="2146300" imgH="228600" progId="Equation.3">
                  <p:embed/>
                </p:oleObj>
              </mc:Choice>
              <mc:Fallback>
                <p:oleObj name="Equation" r:id="rId4" imgW="21463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057400"/>
                        <a:ext cx="5486400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7"/>
          <p:cNvGraphicFramePr>
            <a:graphicFrameLocks noChangeAspect="1"/>
          </p:cNvGraphicFramePr>
          <p:nvPr/>
        </p:nvGraphicFramePr>
        <p:xfrm>
          <a:off x="1447800" y="2819400"/>
          <a:ext cx="57150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Equation" r:id="rId6" imgW="2209800" imgH="228600" progId="Equation.3">
                  <p:embed/>
                </p:oleObj>
              </mc:Choice>
              <mc:Fallback>
                <p:oleObj name="Equation" r:id="rId6" imgW="22098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819400"/>
                        <a:ext cx="5715000" cy="590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6"/>
          <p:cNvGraphicFramePr>
            <a:graphicFrameLocks noChangeAspect="1"/>
          </p:cNvGraphicFramePr>
          <p:nvPr/>
        </p:nvGraphicFramePr>
        <p:xfrm>
          <a:off x="1295400" y="4419600"/>
          <a:ext cx="60198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" name="Equation" r:id="rId8" imgW="2209800" imgH="228600" progId="Equation.3">
                  <p:embed/>
                </p:oleObj>
              </mc:Choice>
              <mc:Fallback>
                <p:oleObj name="Equation" r:id="rId8" imgW="22098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419600"/>
                        <a:ext cx="6019800" cy="622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26527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2057" name="Rectangle 9"/>
          <p:cNvSpPr>
            <a:spLocks noChangeArrowheads="1"/>
          </p:cNvSpPr>
          <p:nvPr/>
        </p:nvSpPr>
        <p:spPr bwMode="auto">
          <a:xfrm>
            <a:off x="2590800" y="3192463"/>
            <a:ext cx="3657600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/>
            <a:r>
              <a:rPr lang="en-US" sz="2000">
                <a:latin typeface="Arial" panose="020B0604020202020204" pitchFamily="34" charset="0"/>
                <a:cs typeface="Times New Roman" panose="02020603050405020304" pitchFamily="18" charset="0"/>
              </a:rPr>
              <a:t>	</a:t>
            </a:r>
            <a:endParaRPr lang="en-US" sz="2000">
              <a:latin typeface="Arial" panose="020B0604020202020204" pitchFamily="34" charset="0"/>
            </a:endParaRPr>
          </a:p>
          <a:p>
            <a:pPr algn="l"/>
            <a:r>
              <a:rPr lang="en-US" sz="2000">
                <a:latin typeface="Arial" panose="020B0604020202020204" pitchFamily="34" charset="0"/>
                <a:cs typeface="Times New Roman" panose="02020603050405020304" pitchFamily="18" charset="0"/>
              </a:rPr>
              <a:t>     .                 .</a:t>
            </a:r>
            <a:endParaRPr lang="en-US" sz="2000">
              <a:latin typeface="Arial" panose="020B0604020202020204" pitchFamily="34" charset="0"/>
            </a:endParaRPr>
          </a:p>
          <a:p>
            <a:pPr algn="l"/>
            <a:r>
              <a:rPr lang="en-US" sz="2000">
                <a:latin typeface="Arial" panose="020B0604020202020204" pitchFamily="34" charset="0"/>
                <a:cs typeface="Times New Roman" panose="02020603050405020304" pitchFamily="18" charset="0"/>
              </a:rPr>
              <a:t>     .                 .</a:t>
            </a:r>
            <a:endParaRPr lang="en-US" sz="2000">
              <a:latin typeface="Arial" panose="020B0604020202020204" pitchFamily="34" charset="0"/>
            </a:endParaRPr>
          </a:p>
          <a:p>
            <a:pPr algn="l"/>
            <a:r>
              <a:rPr lang="en-US" sz="2000">
                <a:latin typeface="Arial" panose="020B0604020202020204" pitchFamily="34" charset="0"/>
                <a:cs typeface="Times New Roman" panose="02020603050405020304" pitchFamily="18" charset="0"/>
              </a:rPr>
              <a:t>     .                 .</a:t>
            </a:r>
            <a:endParaRPr lang="en-US" sz="2000">
              <a:latin typeface="Arial" panose="020B0604020202020204" pitchFamily="34" charset="0"/>
            </a:endParaRPr>
          </a:p>
          <a:p>
            <a:pPr algn="l"/>
            <a:endParaRPr lang="en-US" sz="2000">
              <a:latin typeface="Arial" panose="020B0604020202020204" pitchFamily="34" charset="0"/>
            </a:endParaRPr>
          </a:p>
        </p:txBody>
      </p:sp>
      <p:sp>
        <p:nvSpPr>
          <p:cNvPr id="2058" name="Text Box 10"/>
          <p:cNvSpPr txBox="1">
            <a:spLocks noChangeArrowheads="1"/>
          </p:cNvSpPr>
          <p:nvPr/>
        </p:nvSpPr>
        <p:spPr bwMode="auto">
          <a:xfrm>
            <a:off x="3429000" y="5486400"/>
            <a:ext cx="4800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(n-1) </a:t>
            </a:r>
            <a:r>
              <a:rPr lang="en-US" dirty="0" err="1" smtClean="0"/>
              <a:t>pasos</a:t>
            </a:r>
            <a:r>
              <a:rPr lang="en-US" dirty="0" smtClean="0"/>
              <a:t> para a </a:t>
            </a:r>
            <a:r>
              <a:rPr lang="en-US" dirty="0" err="1" smtClean="0"/>
              <a:t>eliminação</a:t>
            </a:r>
            <a:r>
              <a:rPr lang="en-US" dirty="0" smtClean="0"/>
              <a:t> </a:t>
            </a:r>
            <a:r>
              <a:rPr lang="en-US" dirty="0" err="1" smtClean="0"/>
              <a:t>são</a:t>
            </a:r>
            <a:r>
              <a:rPr lang="en-US" dirty="0" smtClean="0"/>
              <a:t> </a:t>
            </a:r>
            <a:r>
              <a:rPr lang="en-US" dirty="0" err="1" smtClean="0"/>
              <a:t>necessarios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Forward Elimination</a:t>
            </a:r>
          </a:p>
        </p:txBody>
      </p:sp>
      <p:sp>
        <p:nvSpPr>
          <p:cNvPr id="3079" name="Text Box 4"/>
          <p:cNvSpPr txBox="1">
            <a:spLocks noChangeArrowheads="1"/>
          </p:cNvSpPr>
          <p:nvPr/>
        </p:nvSpPr>
        <p:spPr bwMode="auto">
          <a:xfrm>
            <a:off x="609600" y="1447800"/>
            <a:ext cx="8305800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</a:t>
            </a:r>
          </a:p>
          <a:p>
            <a:pPr algn="l" eaLnBrk="1" hangingPunct="1"/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 a eq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divide a eq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     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por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multilicar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por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080" name="Rectangle 9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graphicFrame>
        <p:nvGraphicFramePr>
          <p:cNvPr id="3074" name="Object 8"/>
          <p:cNvGraphicFramePr>
            <a:graphicFrameLocks noChangeAspect="1"/>
          </p:cNvGraphicFramePr>
          <p:nvPr/>
        </p:nvGraphicFramePr>
        <p:xfrm>
          <a:off x="1600200" y="3048000"/>
          <a:ext cx="58674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Equation" r:id="rId4" imgW="2590560" imgH="482400" progId="Equation.3">
                  <p:embed/>
                </p:oleObj>
              </mc:Choice>
              <mc:Fallback>
                <p:oleObj name="Equation" r:id="rId4" imgW="2590560" imgH="482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048000"/>
                        <a:ext cx="5867400" cy="1085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11"/>
          <p:cNvGraphicFramePr>
            <a:graphicFrameLocks noChangeAspect="1"/>
          </p:cNvGraphicFramePr>
          <p:nvPr/>
        </p:nvGraphicFramePr>
        <p:xfrm>
          <a:off x="1676400" y="4114800"/>
          <a:ext cx="5715000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Equation" r:id="rId6" imgW="2362200" imgH="431800" progId="Equation.3">
                  <p:embed/>
                </p:oleObj>
              </mc:Choice>
              <mc:Fallback>
                <p:oleObj name="Equation" r:id="rId6" imgW="2362200" imgH="4318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114800"/>
                        <a:ext cx="5715000" cy="1036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714205"/>
              </p:ext>
            </p:extLst>
          </p:nvPr>
        </p:nvGraphicFramePr>
        <p:xfrm>
          <a:off x="4073525" y="1837771"/>
          <a:ext cx="460375" cy="4678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Equation" r:id="rId8" imgW="203040" imgH="215640" progId="Equation.3">
                  <p:embed/>
                </p:oleObj>
              </mc:Choice>
              <mc:Fallback>
                <p:oleObj name="Equation" r:id="rId8" imgW="203040" imgH="2156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3525" y="1837771"/>
                        <a:ext cx="460375" cy="4678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7499989"/>
              </p:ext>
            </p:extLst>
          </p:nvPr>
        </p:nvGraphicFramePr>
        <p:xfrm>
          <a:off x="7146925" y="1810533"/>
          <a:ext cx="4889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Equation" r:id="rId10" imgW="215640" imgH="215640" progId="Equation.3">
                  <p:embed/>
                </p:oleObj>
              </mc:Choice>
              <mc:Fallback>
                <p:oleObj name="Equation" r:id="rId10" imgW="215640" imgH="215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6925" y="1810533"/>
                        <a:ext cx="488950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Forward Elimination</a:t>
            </a:r>
          </a:p>
        </p:txBody>
      </p:sp>
      <p:graphicFrame>
        <p:nvGraphicFramePr>
          <p:cNvPr id="4098" name="Object 24"/>
          <p:cNvGraphicFramePr>
            <a:graphicFrameLocks noGrp="1" noChangeAspect="1"/>
          </p:cNvGraphicFramePr>
          <p:nvPr>
            <p:ph sz="half" idx="1"/>
          </p:nvPr>
        </p:nvGraphicFramePr>
        <p:xfrm>
          <a:off x="1982788" y="2362200"/>
          <a:ext cx="5635625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" name="Equation" r:id="rId4" imgW="2362200" imgH="431800" progId="Equation.3">
                  <p:embed/>
                </p:oleObj>
              </mc:Choice>
              <mc:Fallback>
                <p:oleObj name="Equation" r:id="rId4" imgW="2362200" imgH="4318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2788" y="2362200"/>
                        <a:ext cx="5635625" cy="1030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1755775" y="1824038"/>
          <a:ext cx="5402263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" name="Equation" r:id="rId6" imgW="2209800" imgH="228600" progId="Equation.3">
                  <p:embed/>
                </p:oleObj>
              </mc:Choice>
              <mc:Fallback>
                <p:oleObj name="Equation" r:id="rId6" imgW="2209800" imgH="2286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5775" y="1824038"/>
                        <a:ext cx="5402263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3" name="Rectangle 6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graphicFrame>
        <p:nvGraphicFramePr>
          <p:cNvPr id="4099" name="Object 5"/>
          <p:cNvGraphicFramePr>
            <a:graphicFrameLocks noChangeAspect="1"/>
          </p:cNvGraphicFramePr>
          <p:nvPr/>
        </p:nvGraphicFramePr>
        <p:xfrm>
          <a:off x="1066800" y="3505200"/>
          <a:ext cx="716280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" name="Equation" r:id="rId8" imgW="3175000" imgH="482600" progId="Equation.3">
                  <p:embed/>
                </p:oleObj>
              </mc:Choice>
              <mc:Fallback>
                <p:oleObj name="Equation" r:id="rId8" imgW="3175000" imgH="482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505200"/>
                        <a:ext cx="7162800" cy="1098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4" name="Rectangle 12"/>
          <p:cNvSpPr>
            <a:spLocks noChangeArrowheads="1"/>
          </p:cNvSpPr>
          <p:nvPr/>
        </p:nvSpPr>
        <p:spPr bwMode="auto">
          <a:xfrm>
            <a:off x="0" y="22717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4105" name="Rectangle 13"/>
          <p:cNvSpPr>
            <a:spLocks noChangeArrowheads="1"/>
          </p:cNvSpPr>
          <p:nvPr/>
        </p:nvSpPr>
        <p:spPr bwMode="auto">
          <a:xfrm>
            <a:off x="0" y="2500313"/>
            <a:ext cx="6127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 eaLnBrk="1" hangingPunct="1"/>
            <a:r>
              <a:rPr lang="en-US" sz="1200">
                <a:latin typeface="Arial" panose="020B0604020202020204" pitchFamily="34" charset="0"/>
                <a:cs typeface="Times New Roman" panose="02020603050405020304" pitchFamily="18" charset="0"/>
              </a:rPr>
              <a:t>          </a:t>
            </a:r>
            <a:endParaRPr lang="en-US" sz="1800">
              <a:latin typeface="Arial" panose="020B0604020202020204" pitchFamily="34" charset="0"/>
            </a:endParaRPr>
          </a:p>
        </p:txBody>
      </p:sp>
      <p:graphicFrame>
        <p:nvGraphicFramePr>
          <p:cNvPr id="4100" name="Object 17"/>
          <p:cNvGraphicFramePr>
            <a:graphicFrameLocks noChangeAspect="1"/>
          </p:cNvGraphicFramePr>
          <p:nvPr/>
        </p:nvGraphicFramePr>
        <p:xfrm>
          <a:off x="2590800" y="5105400"/>
          <a:ext cx="3886200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4" name="Equation" r:id="rId10" imgW="1333500" imgH="241300" progId="Equation.3">
                  <p:embed/>
                </p:oleObj>
              </mc:Choice>
              <mc:Fallback>
                <p:oleObj name="Equation" r:id="rId10" imgW="1333500" imgH="2413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5105400"/>
                        <a:ext cx="3886200" cy="693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6" name="Text Box 4"/>
          <p:cNvSpPr txBox="1">
            <a:spLocks noChangeArrowheads="1"/>
          </p:cNvSpPr>
          <p:nvPr/>
        </p:nvSpPr>
        <p:spPr bwMode="auto">
          <a:xfrm>
            <a:off x="762000" y="1295400"/>
            <a:ext cx="6781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2800" dirty="0" err="1" smtClean="0"/>
              <a:t>Subtrai</a:t>
            </a:r>
            <a:r>
              <a:rPr lang="en-US" sz="2800" dirty="0" smtClean="0"/>
              <a:t> o </a:t>
            </a:r>
            <a:r>
              <a:rPr lang="en-US" sz="2800" dirty="0" err="1" smtClean="0"/>
              <a:t>resultado</a:t>
            </a:r>
            <a:r>
              <a:rPr lang="en-US" sz="2800" dirty="0" smtClean="0"/>
              <a:t> anterior </a:t>
            </a:r>
            <a:r>
              <a:rPr lang="en-US" sz="2800" dirty="0" err="1" smtClean="0"/>
              <a:t>pela</a:t>
            </a:r>
            <a:r>
              <a:rPr lang="en-US" sz="2800" dirty="0" smtClean="0"/>
              <a:t> eq-2.</a:t>
            </a:r>
            <a:endParaRPr lang="en-US" sz="2800" dirty="0"/>
          </a:p>
        </p:txBody>
      </p:sp>
      <p:sp>
        <p:nvSpPr>
          <p:cNvPr id="4107" name="Text Box 4"/>
          <p:cNvSpPr txBox="1">
            <a:spLocks noChangeArrowheads="1"/>
          </p:cNvSpPr>
          <p:nvPr/>
        </p:nvSpPr>
        <p:spPr bwMode="auto">
          <a:xfrm>
            <a:off x="1219200" y="2667000"/>
            <a:ext cx="7086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/>
            <a:r>
              <a:rPr lang="en-US" sz="2800"/>
              <a:t>−</a:t>
            </a:r>
          </a:p>
          <a:p>
            <a:pPr algn="l" eaLnBrk="1" hangingPunct="1"/>
            <a:r>
              <a:rPr lang="en-US" sz="2000"/>
              <a:t>_________________________________________________</a:t>
            </a:r>
          </a:p>
        </p:txBody>
      </p:sp>
      <p:sp>
        <p:nvSpPr>
          <p:cNvPr id="4108" name="Text Box 4"/>
          <p:cNvSpPr txBox="1">
            <a:spLocks noChangeArrowheads="1"/>
          </p:cNvSpPr>
          <p:nvPr/>
        </p:nvSpPr>
        <p:spPr bwMode="auto">
          <a:xfrm>
            <a:off x="1676400" y="5257800"/>
            <a:ext cx="533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2800"/>
              <a:t>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Forward Elimination</a:t>
            </a:r>
          </a:p>
        </p:txBody>
      </p:sp>
      <p:sp>
        <p:nvSpPr>
          <p:cNvPr id="5127" name="Text Box 3"/>
          <p:cNvSpPr txBox="1">
            <a:spLocks noChangeArrowheads="1"/>
          </p:cNvSpPr>
          <p:nvPr/>
        </p:nvSpPr>
        <p:spPr bwMode="auto">
          <a:xfrm>
            <a:off x="914400" y="1447800"/>
            <a:ext cx="74676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2800" dirty="0" err="1" smtClean="0"/>
              <a:t>Repete</a:t>
            </a:r>
            <a:r>
              <a:rPr lang="en-US" sz="2800" dirty="0" smtClean="0"/>
              <a:t> o </a:t>
            </a:r>
            <a:r>
              <a:rPr lang="en-US" sz="2800" dirty="0" err="1" smtClean="0"/>
              <a:t>procedimento</a:t>
            </a:r>
            <a:r>
              <a:rPr lang="en-US" sz="2800" dirty="0" smtClean="0"/>
              <a:t> para </a:t>
            </a:r>
            <a:r>
              <a:rPr lang="en-US" sz="2800" dirty="0" err="1" smtClean="0"/>
              <a:t>todas</a:t>
            </a:r>
            <a:r>
              <a:rPr lang="en-US" sz="2800" dirty="0" smtClean="0"/>
              <a:t> as </a:t>
            </a:r>
            <a:r>
              <a:rPr lang="en-US" sz="2800" dirty="0" err="1" smtClean="0"/>
              <a:t>eqs</a:t>
            </a:r>
            <a:r>
              <a:rPr lang="en-US" sz="2800" dirty="0" smtClean="0"/>
              <a:t> de 2 a n</a:t>
            </a:r>
            <a:endParaRPr lang="en-US" sz="2800" dirty="0"/>
          </a:p>
        </p:txBody>
      </p:sp>
      <p:graphicFrame>
        <p:nvGraphicFramePr>
          <p:cNvPr id="5122" name="Object 8"/>
          <p:cNvGraphicFramePr>
            <a:graphicFrameLocks noChangeAspect="1"/>
          </p:cNvGraphicFramePr>
          <p:nvPr/>
        </p:nvGraphicFramePr>
        <p:xfrm>
          <a:off x="1905000" y="2438400"/>
          <a:ext cx="47244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5" name="Equation" r:id="rId4" imgW="2146300" imgH="228600" progId="Equation.3">
                  <p:embed/>
                </p:oleObj>
              </mc:Choice>
              <mc:Fallback>
                <p:oleObj name="Equation" r:id="rId4" imgW="21463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438400"/>
                        <a:ext cx="4724400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7"/>
          <p:cNvGraphicFramePr>
            <a:graphicFrameLocks noChangeAspect="1"/>
          </p:cNvGraphicFramePr>
          <p:nvPr/>
        </p:nvGraphicFramePr>
        <p:xfrm>
          <a:off x="2895600" y="2971800"/>
          <a:ext cx="37338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6" name="Equation" r:id="rId6" imgW="1778000" imgH="241300" progId="Equation.3">
                  <p:embed/>
                </p:oleObj>
              </mc:Choice>
              <mc:Fallback>
                <p:oleObj name="Equation" r:id="rId6" imgW="1778000" imgH="2413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971800"/>
                        <a:ext cx="3733800" cy="498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6"/>
          <p:cNvGraphicFramePr>
            <a:graphicFrameLocks noChangeAspect="1"/>
          </p:cNvGraphicFramePr>
          <p:nvPr/>
        </p:nvGraphicFramePr>
        <p:xfrm>
          <a:off x="2895600" y="3505200"/>
          <a:ext cx="37338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7" name="Equation" r:id="rId8" imgW="1765300" imgH="241300" progId="Equation.3">
                  <p:embed/>
                </p:oleObj>
              </mc:Choice>
              <mc:Fallback>
                <p:oleObj name="Equation" r:id="rId8" imgW="1765300" imgH="241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505200"/>
                        <a:ext cx="3733800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" name="Object 5"/>
          <p:cNvGraphicFramePr>
            <a:graphicFrameLocks noChangeAspect="1"/>
          </p:cNvGraphicFramePr>
          <p:nvPr/>
        </p:nvGraphicFramePr>
        <p:xfrm>
          <a:off x="2971800" y="5029200"/>
          <a:ext cx="36576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8" name="Equation" r:id="rId10" imgW="1790700" imgH="241300" progId="Equation.3">
                  <p:embed/>
                </p:oleObj>
              </mc:Choice>
              <mc:Fallback>
                <p:oleObj name="Equation" r:id="rId10" imgW="1790700" imgH="241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5029200"/>
                        <a:ext cx="3657600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8" name="Rectangle 9"/>
          <p:cNvSpPr>
            <a:spLocks noChangeArrowheads="1"/>
          </p:cNvSpPr>
          <p:nvPr/>
        </p:nvSpPr>
        <p:spPr bwMode="auto">
          <a:xfrm>
            <a:off x="0" y="22717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5129" name="Rectangle 10"/>
          <p:cNvSpPr>
            <a:spLocks noChangeArrowheads="1"/>
          </p:cNvSpPr>
          <p:nvPr/>
        </p:nvSpPr>
        <p:spPr bwMode="auto">
          <a:xfrm>
            <a:off x="0" y="2500313"/>
            <a:ext cx="6127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 eaLnBrk="1" hangingPunct="1"/>
            <a:r>
              <a:rPr lang="en-US" sz="1200">
                <a:latin typeface="Arial" panose="020B0604020202020204" pitchFamily="34" charset="0"/>
                <a:cs typeface="Times New Roman" panose="02020603050405020304" pitchFamily="18" charset="0"/>
              </a:rPr>
              <a:t>          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5130" name="Rectangle 11"/>
          <p:cNvSpPr>
            <a:spLocks noChangeArrowheads="1"/>
          </p:cNvSpPr>
          <p:nvPr/>
        </p:nvSpPr>
        <p:spPr bwMode="auto">
          <a:xfrm>
            <a:off x="0" y="3013075"/>
            <a:ext cx="6127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 eaLnBrk="1" hangingPunct="1"/>
            <a:r>
              <a:rPr lang="en-US" sz="1200">
                <a:latin typeface="Arial" panose="020B0604020202020204" pitchFamily="34" charset="0"/>
                <a:cs typeface="Times New Roman" panose="02020603050405020304" pitchFamily="18" charset="0"/>
              </a:rPr>
              <a:t>          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5131" name="Rectangle 12"/>
          <p:cNvSpPr>
            <a:spLocks noChangeArrowheads="1"/>
          </p:cNvSpPr>
          <p:nvPr/>
        </p:nvSpPr>
        <p:spPr bwMode="auto">
          <a:xfrm>
            <a:off x="2438400" y="4191000"/>
            <a:ext cx="4495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 eaLnBrk="1" hangingPunct="1"/>
            <a:r>
              <a:rPr lang="en-US" sz="1200">
                <a:latin typeface="Arial" panose="020B0604020202020204" pitchFamily="34" charset="0"/>
                <a:cs typeface="Times New Roman" panose="02020603050405020304" pitchFamily="18" charset="0"/>
              </a:rPr>
              <a:t>                 .                 .		.	</a:t>
            </a:r>
            <a:endParaRPr lang="en-US" sz="1100">
              <a:latin typeface="Arial" panose="020B0604020202020204" pitchFamily="34" charset="0"/>
            </a:endParaRPr>
          </a:p>
          <a:p>
            <a:pPr algn="just"/>
            <a:r>
              <a:rPr lang="en-US" sz="1200">
                <a:latin typeface="Arial" panose="020B0604020202020204" pitchFamily="34" charset="0"/>
                <a:cs typeface="Times New Roman" panose="02020603050405020304" pitchFamily="18" charset="0"/>
              </a:rPr>
              <a:t>                 .                 .		.	</a:t>
            </a:r>
            <a:endParaRPr lang="en-US" sz="1100">
              <a:latin typeface="Arial" panose="020B0604020202020204" pitchFamily="34" charset="0"/>
            </a:endParaRPr>
          </a:p>
          <a:p>
            <a:pPr algn="just"/>
            <a:r>
              <a:rPr lang="en-US" sz="1200">
                <a:latin typeface="Arial" panose="020B0604020202020204" pitchFamily="34" charset="0"/>
                <a:cs typeface="Times New Roman" panose="02020603050405020304" pitchFamily="18" charset="0"/>
              </a:rPr>
              <a:t>                 .                 .		.	</a:t>
            </a:r>
            <a:endParaRPr lang="en-US" sz="1100">
              <a:latin typeface="Arial" panose="020B0604020202020204" pitchFamily="34" charset="0"/>
            </a:endParaRPr>
          </a:p>
          <a:p>
            <a:pPr algn="just"/>
            <a:r>
              <a:rPr lang="en-US" sz="1200">
                <a:latin typeface="Arial" panose="020B0604020202020204" pitchFamily="34" charset="0"/>
                <a:cs typeface="Times New Roman" panose="02020603050405020304" pitchFamily="18" charset="0"/>
              </a:rPr>
              <a:t>           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5132" name="Text Box 13"/>
          <p:cNvSpPr txBox="1">
            <a:spLocks noChangeArrowheads="1"/>
          </p:cNvSpPr>
          <p:nvPr/>
        </p:nvSpPr>
        <p:spPr bwMode="auto">
          <a:xfrm>
            <a:off x="2590800" y="5791200"/>
            <a:ext cx="381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 smtClean="0"/>
              <a:t>Final do </a:t>
            </a:r>
            <a:r>
              <a:rPr lang="en-US" b="1" dirty="0" err="1" smtClean="0"/>
              <a:t>paso</a:t>
            </a:r>
            <a:r>
              <a:rPr lang="en-US" b="1" dirty="0" smtClean="0"/>
              <a:t> 1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0" name="Text Box 3"/>
          <p:cNvSpPr txBox="1">
            <a:spLocks noChangeArrowheads="1"/>
          </p:cNvSpPr>
          <p:nvPr/>
        </p:nvSpPr>
        <p:spPr bwMode="auto">
          <a:xfrm>
            <a:off x="914400" y="1295400"/>
            <a:ext cx="74676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/>
            <a:r>
              <a:rPr lang="en-US" sz="2800" b="1"/>
              <a:t>Step 2</a:t>
            </a:r>
          </a:p>
          <a:p>
            <a:pPr algn="l" eaLnBrk="1" hangingPunct="1"/>
            <a:r>
              <a:rPr lang="en-US" sz="2800"/>
              <a:t>Repeat the same procedure for the 3</a:t>
            </a:r>
            <a:r>
              <a:rPr lang="en-US" sz="2800" baseline="30000"/>
              <a:t>rd</a:t>
            </a:r>
            <a:r>
              <a:rPr lang="en-US" sz="2800"/>
              <a:t> term of Equation 3.</a:t>
            </a:r>
          </a:p>
        </p:txBody>
      </p:sp>
      <p:sp>
        <p:nvSpPr>
          <p:cNvPr id="61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Forward Elimination</a:t>
            </a:r>
          </a:p>
        </p:txBody>
      </p:sp>
      <p:graphicFrame>
        <p:nvGraphicFramePr>
          <p:cNvPr id="6146" name="Object 8"/>
          <p:cNvGraphicFramePr>
            <a:graphicFrameLocks noChangeAspect="1"/>
          </p:cNvGraphicFramePr>
          <p:nvPr/>
        </p:nvGraphicFramePr>
        <p:xfrm>
          <a:off x="2057400" y="2667000"/>
          <a:ext cx="48006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5" name="Equation" r:id="rId4" imgW="2146300" imgH="228600" progId="Equation.3">
                  <p:embed/>
                </p:oleObj>
              </mc:Choice>
              <mc:Fallback>
                <p:oleObj name="Equation" r:id="rId4" imgW="21463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667000"/>
                        <a:ext cx="4800600" cy="512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7"/>
          <p:cNvGraphicFramePr>
            <a:graphicFrameLocks noChangeAspect="1"/>
          </p:cNvGraphicFramePr>
          <p:nvPr/>
        </p:nvGraphicFramePr>
        <p:xfrm>
          <a:off x="2971800" y="3352800"/>
          <a:ext cx="38862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6" name="Equation" r:id="rId6" imgW="1778000" imgH="241300" progId="Equation.3">
                  <p:embed/>
                </p:oleObj>
              </mc:Choice>
              <mc:Fallback>
                <p:oleObj name="Equation" r:id="rId6" imgW="1778000" imgH="2413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352800"/>
                        <a:ext cx="3886200" cy="519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6"/>
          <p:cNvGraphicFramePr>
            <a:graphicFrameLocks noChangeAspect="1"/>
          </p:cNvGraphicFramePr>
          <p:nvPr/>
        </p:nvGraphicFramePr>
        <p:xfrm>
          <a:off x="3962400" y="4038600"/>
          <a:ext cx="2895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7" name="Equation" r:id="rId8" imgW="1320227" imgH="241195" progId="Equation.3">
                  <p:embed/>
                </p:oleObj>
              </mc:Choice>
              <mc:Fallback>
                <p:oleObj name="Equation" r:id="rId8" imgW="1320227" imgH="24119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4038600"/>
                        <a:ext cx="28956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5"/>
          <p:cNvGraphicFramePr>
            <a:graphicFrameLocks noChangeAspect="1"/>
          </p:cNvGraphicFramePr>
          <p:nvPr/>
        </p:nvGraphicFramePr>
        <p:xfrm>
          <a:off x="4038600" y="5410200"/>
          <a:ext cx="28956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8" name="Equation" r:id="rId10" imgW="1333500" imgH="241300" progId="Equation.3">
                  <p:embed/>
                </p:oleObj>
              </mc:Choice>
              <mc:Fallback>
                <p:oleObj name="Equation" r:id="rId10" imgW="1333500" imgH="241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5410200"/>
                        <a:ext cx="2895600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2" name="Rectangle 9"/>
          <p:cNvSpPr>
            <a:spLocks noChangeArrowheads="1"/>
          </p:cNvSpPr>
          <p:nvPr/>
        </p:nvSpPr>
        <p:spPr bwMode="auto">
          <a:xfrm>
            <a:off x="0" y="21812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6153" name="Rectangle 10"/>
          <p:cNvSpPr>
            <a:spLocks noChangeArrowheads="1"/>
          </p:cNvSpPr>
          <p:nvPr/>
        </p:nvSpPr>
        <p:spPr bwMode="auto">
          <a:xfrm>
            <a:off x="0" y="2409825"/>
            <a:ext cx="4841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 eaLnBrk="1" hangingPunct="1"/>
            <a:r>
              <a:rPr lang="en-US" sz="1200">
                <a:latin typeface="Arial" panose="020B0604020202020204" pitchFamily="34" charset="0"/>
                <a:cs typeface="Times New Roman" panose="02020603050405020304" pitchFamily="18" charset="0"/>
              </a:rPr>
              <a:t>       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6154" name="Rectangle 11"/>
          <p:cNvSpPr>
            <a:spLocks noChangeArrowheads="1"/>
          </p:cNvSpPr>
          <p:nvPr/>
        </p:nvSpPr>
        <p:spPr bwMode="auto">
          <a:xfrm>
            <a:off x="762000" y="5029200"/>
            <a:ext cx="998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 eaLnBrk="1" hangingPunct="1"/>
            <a:r>
              <a:rPr lang="en-US" sz="1200">
                <a:latin typeface="Arial" panose="020B0604020202020204" pitchFamily="34" charset="0"/>
                <a:cs typeface="Times New Roman" panose="02020603050405020304" pitchFamily="18" charset="0"/>
              </a:rPr>
              <a:t>           </a:t>
            </a:r>
            <a:endParaRPr lang="en-US" sz="1100">
              <a:latin typeface="Arial" panose="020B0604020202020204" pitchFamily="34" charset="0"/>
            </a:endParaRPr>
          </a:p>
          <a:p>
            <a:pPr algn="just"/>
            <a:r>
              <a:rPr lang="en-US" sz="1200">
                <a:latin typeface="Arial" panose="020B0604020202020204" pitchFamily="34" charset="0"/>
                <a:cs typeface="Times New Roman" panose="02020603050405020304" pitchFamily="18" charset="0"/>
              </a:rPr>
              <a:t>                   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6155" name="Rectangle 12"/>
          <p:cNvSpPr>
            <a:spLocks noChangeArrowheads="1"/>
          </p:cNvSpPr>
          <p:nvPr/>
        </p:nvSpPr>
        <p:spPr bwMode="auto">
          <a:xfrm>
            <a:off x="3886200" y="4648200"/>
            <a:ext cx="211296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 eaLnBrk="1" hangingPunct="1"/>
            <a:r>
              <a:rPr lang="en-US" sz="1200">
                <a:latin typeface="Arial" panose="020B0604020202020204" pitchFamily="34" charset="0"/>
                <a:cs typeface="Times New Roman" panose="02020603050405020304" pitchFamily="18" charset="0"/>
              </a:rPr>
              <a:t>                            .               .</a:t>
            </a:r>
            <a:endParaRPr lang="en-US" sz="1100">
              <a:latin typeface="Arial" panose="020B0604020202020204" pitchFamily="34" charset="0"/>
            </a:endParaRPr>
          </a:p>
          <a:p>
            <a:pPr algn="just"/>
            <a:r>
              <a:rPr lang="en-US" sz="1200">
                <a:latin typeface="Arial" panose="020B0604020202020204" pitchFamily="34" charset="0"/>
                <a:cs typeface="Times New Roman" panose="02020603050405020304" pitchFamily="18" charset="0"/>
              </a:rPr>
              <a:t>                            .               .</a:t>
            </a:r>
            <a:endParaRPr lang="en-US" sz="1100">
              <a:latin typeface="Arial" panose="020B0604020202020204" pitchFamily="34" charset="0"/>
            </a:endParaRPr>
          </a:p>
          <a:p>
            <a:pPr algn="just"/>
            <a:r>
              <a:rPr lang="en-US" sz="1200">
                <a:latin typeface="Arial" panose="020B0604020202020204" pitchFamily="34" charset="0"/>
                <a:cs typeface="Times New Roman" panose="02020603050405020304" pitchFamily="18" charset="0"/>
              </a:rPr>
              <a:t>                            .               .</a:t>
            </a:r>
            <a:endParaRPr lang="en-US" sz="1100">
              <a:latin typeface="Arial" panose="020B0604020202020204" pitchFamily="34" charset="0"/>
            </a:endParaRPr>
          </a:p>
          <a:p>
            <a:pPr algn="just"/>
            <a:r>
              <a:rPr lang="en-US" sz="1200">
                <a:latin typeface="Arial" panose="020B0604020202020204" pitchFamily="34" charset="0"/>
                <a:cs typeface="Times New Roman" panose="02020603050405020304" pitchFamily="18" charset="0"/>
              </a:rPr>
              <a:t>                    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6156" name="Text Box 13"/>
          <p:cNvSpPr txBox="1">
            <a:spLocks noChangeArrowheads="1"/>
          </p:cNvSpPr>
          <p:nvPr/>
        </p:nvSpPr>
        <p:spPr bwMode="auto">
          <a:xfrm>
            <a:off x="2667000" y="6019800"/>
            <a:ext cx="381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/>
              <a:t>End of Step 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Forward Elimination</a:t>
            </a:r>
          </a:p>
        </p:txBody>
      </p:sp>
      <p:sp>
        <p:nvSpPr>
          <p:cNvPr id="7175" name="Text Box 4"/>
          <p:cNvSpPr txBox="1">
            <a:spLocks noChangeArrowheads="1"/>
          </p:cNvSpPr>
          <p:nvPr/>
        </p:nvSpPr>
        <p:spPr bwMode="auto">
          <a:xfrm>
            <a:off x="685800" y="1524000"/>
            <a:ext cx="7924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/>
              <a:t>At the end of (n-1) Forward Elimination steps, the system of equations will look like</a:t>
            </a:r>
          </a:p>
        </p:txBody>
      </p:sp>
      <p:graphicFrame>
        <p:nvGraphicFramePr>
          <p:cNvPr id="7170" name="Object 7"/>
          <p:cNvGraphicFramePr>
            <a:graphicFrameLocks noChangeAspect="1"/>
          </p:cNvGraphicFramePr>
          <p:nvPr/>
        </p:nvGraphicFramePr>
        <p:xfrm>
          <a:off x="3048000" y="2971800"/>
          <a:ext cx="39624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" name="Equation" r:id="rId4" imgW="1778000" imgH="241300" progId="Equation.3">
                  <p:embed/>
                </p:oleObj>
              </mc:Choice>
              <mc:Fallback>
                <p:oleObj name="Equation" r:id="rId4" imgW="1778000" imgH="2413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971800"/>
                        <a:ext cx="3962400" cy="528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6"/>
          <p:cNvGraphicFramePr>
            <a:graphicFrameLocks noChangeAspect="1"/>
          </p:cNvGraphicFramePr>
          <p:nvPr/>
        </p:nvGraphicFramePr>
        <p:xfrm>
          <a:off x="3994150" y="3581400"/>
          <a:ext cx="30607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1" name="Equation" r:id="rId6" imgW="1307880" imgH="241200" progId="Equation.3">
                  <p:embed/>
                </p:oleObj>
              </mc:Choice>
              <mc:Fallback>
                <p:oleObj name="Equation" r:id="rId6" imgW="1307880" imgH="241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4150" y="3581400"/>
                        <a:ext cx="30607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5"/>
          <p:cNvGraphicFramePr>
            <a:graphicFrameLocks noChangeAspect="1"/>
          </p:cNvGraphicFramePr>
          <p:nvPr/>
        </p:nvGraphicFramePr>
        <p:xfrm>
          <a:off x="5334000" y="4724400"/>
          <a:ext cx="2362200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2" name="Equation" r:id="rId8" imgW="1016000" imgH="279400" progId="Equation.3">
                  <p:embed/>
                </p:oleObj>
              </mc:Choice>
              <mc:Fallback>
                <p:oleObj name="Equation" r:id="rId8" imgW="1016000" imgH="279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4724400"/>
                        <a:ext cx="2362200" cy="639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6" name="Rectangle 12"/>
          <p:cNvSpPr>
            <a:spLocks noChangeArrowheads="1"/>
          </p:cNvSpPr>
          <p:nvPr/>
        </p:nvSpPr>
        <p:spPr bwMode="auto">
          <a:xfrm>
            <a:off x="0" y="2454275"/>
            <a:ext cx="6127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 eaLnBrk="1" hangingPunct="1"/>
            <a:r>
              <a:rPr lang="en-US" sz="1200">
                <a:latin typeface="Arial" panose="020B0604020202020204" pitchFamily="34" charset="0"/>
                <a:cs typeface="Times New Roman" panose="02020603050405020304" pitchFamily="18" charset="0"/>
              </a:rPr>
              <a:t>          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7177" name="Rectangle 13"/>
          <p:cNvSpPr>
            <a:spLocks noChangeArrowheads="1"/>
          </p:cNvSpPr>
          <p:nvPr/>
        </p:nvSpPr>
        <p:spPr bwMode="auto">
          <a:xfrm>
            <a:off x="0" y="2967038"/>
            <a:ext cx="11271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 eaLnBrk="1" hangingPunct="1"/>
            <a:r>
              <a:rPr lang="en-US" sz="1200">
                <a:latin typeface="Arial" panose="020B0604020202020204" pitchFamily="34" charset="0"/>
                <a:cs typeface="Times New Roman" panose="02020603050405020304" pitchFamily="18" charset="0"/>
              </a:rPr>
              <a:t>                      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7178" name="Rectangle 14"/>
          <p:cNvSpPr>
            <a:spLocks noChangeArrowheads="1"/>
          </p:cNvSpPr>
          <p:nvPr/>
        </p:nvSpPr>
        <p:spPr bwMode="auto">
          <a:xfrm>
            <a:off x="4267200" y="4038600"/>
            <a:ext cx="2743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 eaLnBrk="1" hangingPunct="1"/>
            <a:r>
              <a:rPr lang="en-US" sz="1200">
                <a:latin typeface="Arial" panose="020B0604020202020204" pitchFamily="34" charset="0"/>
                <a:cs typeface="Times New Roman" panose="02020603050405020304" pitchFamily="18" charset="0"/>
              </a:rPr>
              <a:t>	            .             .</a:t>
            </a:r>
            <a:endParaRPr lang="en-US" sz="1100">
              <a:latin typeface="Arial" panose="020B0604020202020204" pitchFamily="34" charset="0"/>
            </a:endParaRPr>
          </a:p>
          <a:p>
            <a:pPr algn="just"/>
            <a:r>
              <a:rPr lang="en-US" sz="1200">
                <a:latin typeface="Arial" panose="020B0604020202020204" pitchFamily="34" charset="0"/>
                <a:cs typeface="Times New Roman" panose="02020603050405020304" pitchFamily="18" charset="0"/>
              </a:rPr>
              <a:t>                                 .             .</a:t>
            </a:r>
            <a:endParaRPr lang="en-US" sz="1100">
              <a:latin typeface="Arial" panose="020B0604020202020204" pitchFamily="34" charset="0"/>
            </a:endParaRPr>
          </a:p>
          <a:p>
            <a:pPr algn="just"/>
            <a:r>
              <a:rPr lang="en-US" sz="1200">
                <a:latin typeface="Arial" panose="020B0604020202020204" pitchFamily="34" charset="0"/>
                <a:cs typeface="Times New Roman" panose="02020603050405020304" pitchFamily="18" charset="0"/>
              </a:rPr>
              <a:t>                                 .             .</a:t>
            </a:r>
            <a:endParaRPr lang="en-US" sz="1100">
              <a:latin typeface="Arial" panose="020B0604020202020204" pitchFamily="34" charset="0"/>
            </a:endParaRPr>
          </a:p>
          <a:p>
            <a:pPr algn="just"/>
            <a:r>
              <a:rPr lang="en-US" sz="1200">
                <a:latin typeface="Arial" panose="020B0604020202020204" pitchFamily="34" charset="0"/>
                <a:cs typeface="Times New Roman" panose="02020603050405020304" pitchFamily="18" charset="0"/>
              </a:rPr>
              <a:t>                                       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7179" name="Rectangle 15"/>
          <p:cNvSpPr>
            <a:spLocks noChangeArrowheads="1"/>
          </p:cNvSpPr>
          <p:nvPr/>
        </p:nvSpPr>
        <p:spPr bwMode="auto">
          <a:xfrm>
            <a:off x="0" y="4578350"/>
            <a:ext cx="3127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 eaLnBrk="1" hangingPunct="1"/>
            <a:r>
              <a:rPr lang="en-US" sz="1200">
                <a:latin typeface="Arial" panose="020B0604020202020204" pitchFamily="34" charset="0"/>
                <a:cs typeface="Times New Roman" panose="02020603050405020304" pitchFamily="18" charset="0"/>
              </a:rPr>
              <a:t>   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7180" name="Rectangle 17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graphicFrame>
        <p:nvGraphicFramePr>
          <p:cNvPr id="7173" name="Object 16"/>
          <p:cNvGraphicFramePr>
            <a:graphicFrameLocks noChangeAspect="1"/>
          </p:cNvGraphicFramePr>
          <p:nvPr/>
        </p:nvGraphicFramePr>
        <p:xfrm>
          <a:off x="2057400" y="2438400"/>
          <a:ext cx="49530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3" name="Equation" r:id="rId10" imgW="2247900" imgH="228600" progId="Equation.3">
                  <p:embed/>
                </p:oleObj>
              </mc:Choice>
              <mc:Fallback>
                <p:oleObj name="Equation" r:id="rId10" imgW="2247900" imgH="2286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438400"/>
                        <a:ext cx="4953000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1" name="Text Box 18"/>
          <p:cNvSpPr txBox="1">
            <a:spLocks noChangeArrowheads="1"/>
          </p:cNvSpPr>
          <p:nvPr/>
        </p:nvSpPr>
        <p:spPr bwMode="auto">
          <a:xfrm>
            <a:off x="2514600" y="5867400"/>
            <a:ext cx="381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/>
              <a:t>End of Step (n-1)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 smtClean="0"/>
              <a:t>Matrix Form at End of Forward Elimination</a:t>
            </a:r>
          </a:p>
        </p:txBody>
      </p:sp>
      <p:graphicFrame>
        <p:nvGraphicFramePr>
          <p:cNvPr id="8194" name="Object 7"/>
          <p:cNvGraphicFramePr>
            <a:graphicFrameLocks noGrp="1" noChangeAspect="1"/>
          </p:cNvGraphicFramePr>
          <p:nvPr>
            <p:ph idx="1"/>
          </p:nvPr>
        </p:nvGraphicFramePr>
        <p:xfrm>
          <a:off x="1042988" y="1828800"/>
          <a:ext cx="7015162" cy="324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Equation" r:id="rId4" imgW="2527200" imgH="1168200" progId="Equation.3">
                  <p:embed/>
                </p:oleObj>
              </mc:Choice>
              <mc:Fallback>
                <p:oleObj name="Equation" r:id="rId4" imgW="2527200" imgH="1168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828800"/>
                        <a:ext cx="7015162" cy="324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Back Substitution</a:t>
            </a:r>
          </a:p>
        </p:txBody>
      </p:sp>
      <p:graphicFrame>
        <p:nvGraphicFramePr>
          <p:cNvPr id="9218" name="Object 10"/>
          <p:cNvGraphicFramePr>
            <a:graphicFrameLocks noGrp="1" noChangeAspect="1"/>
          </p:cNvGraphicFramePr>
          <p:nvPr>
            <p:ph idx="1"/>
          </p:nvPr>
        </p:nvGraphicFramePr>
        <p:xfrm>
          <a:off x="1371600" y="2133600"/>
          <a:ext cx="6859588" cy="212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Equation" r:id="rId4" imgW="2298600" imgH="711000" progId="Equation.3">
                  <p:embed/>
                </p:oleObj>
              </mc:Choice>
              <mc:Fallback>
                <p:oleObj name="Equation" r:id="rId4" imgW="2298600" imgH="711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133600"/>
                        <a:ext cx="6859588" cy="212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0" name="Text Box 3"/>
          <p:cNvSpPr txBox="1">
            <a:spLocks noChangeArrowheads="1"/>
          </p:cNvSpPr>
          <p:nvPr/>
        </p:nvSpPr>
        <p:spPr bwMode="auto">
          <a:xfrm>
            <a:off x="1143000" y="1447800"/>
            <a:ext cx="746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/>
              <a:t>Solve each equation starting from the last equation</a:t>
            </a:r>
          </a:p>
        </p:txBody>
      </p:sp>
      <p:sp>
        <p:nvSpPr>
          <p:cNvPr id="9221" name="Rectangle 6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9222" name="Rectangle 8"/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9223" name="Text Box 9"/>
          <p:cNvSpPr txBox="1">
            <a:spLocks noChangeArrowheads="1"/>
          </p:cNvSpPr>
          <p:nvPr/>
        </p:nvSpPr>
        <p:spPr bwMode="auto">
          <a:xfrm>
            <a:off x="1828800" y="4572000"/>
            <a:ext cx="609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2800"/>
              <a:t>Example of a system of 3 equations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Back Substitution Starting Eqns</a:t>
            </a:r>
          </a:p>
        </p:txBody>
      </p:sp>
      <p:graphicFrame>
        <p:nvGraphicFramePr>
          <p:cNvPr id="10242" name="Object 4"/>
          <p:cNvGraphicFramePr>
            <a:graphicFrameLocks noChangeAspect="1"/>
          </p:cNvGraphicFramePr>
          <p:nvPr/>
        </p:nvGraphicFramePr>
        <p:xfrm>
          <a:off x="3124200" y="2133600"/>
          <a:ext cx="39624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" name="Equation" r:id="rId4" imgW="1778000" imgH="241300" progId="Equation.3">
                  <p:embed/>
                </p:oleObj>
              </mc:Choice>
              <mc:Fallback>
                <p:oleObj name="Equation" r:id="rId4" imgW="1778000" imgH="241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133600"/>
                        <a:ext cx="3962400" cy="528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5"/>
          <p:cNvGraphicFramePr>
            <a:graphicFrameLocks noChangeAspect="1"/>
          </p:cNvGraphicFramePr>
          <p:nvPr/>
        </p:nvGraphicFramePr>
        <p:xfrm>
          <a:off x="4114800" y="2743200"/>
          <a:ext cx="29718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1" name="Equation" r:id="rId6" imgW="1269449" imgH="241195" progId="Equation.3">
                  <p:embed/>
                </p:oleObj>
              </mc:Choice>
              <mc:Fallback>
                <p:oleObj name="Equation" r:id="rId6" imgW="1269449" imgH="24119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2743200"/>
                        <a:ext cx="29718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6"/>
          <p:cNvGraphicFramePr>
            <a:graphicFrameLocks noChangeAspect="1"/>
          </p:cNvGraphicFramePr>
          <p:nvPr/>
        </p:nvGraphicFramePr>
        <p:xfrm>
          <a:off x="5410200" y="3886200"/>
          <a:ext cx="2362200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2" name="Equation" r:id="rId8" imgW="1016000" imgH="279400" progId="Equation.3">
                  <p:embed/>
                </p:oleObj>
              </mc:Choice>
              <mc:Fallback>
                <p:oleObj name="Equation" r:id="rId8" imgW="1016000" imgH="279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3886200"/>
                        <a:ext cx="2362200" cy="639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Rectangle 7"/>
          <p:cNvSpPr>
            <a:spLocks noChangeArrowheads="1"/>
          </p:cNvSpPr>
          <p:nvPr/>
        </p:nvSpPr>
        <p:spPr bwMode="auto">
          <a:xfrm>
            <a:off x="0" y="2454275"/>
            <a:ext cx="6127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 eaLnBrk="1" hangingPunct="1"/>
            <a:r>
              <a:rPr lang="en-US" sz="1200">
                <a:latin typeface="Arial" panose="020B0604020202020204" pitchFamily="34" charset="0"/>
                <a:cs typeface="Times New Roman" panose="02020603050405020304" pitchFamily="18" charset="0"/>
              </a:rPr>
              <a:t>          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0248" name="Rectangle 8"/>
          <p:cNvSpPr>
            <a:spLocks noChangeArrowheads="1"/>
          </p:cNvSpPr>
          <p:nvPr/>
        </p:nvSpPr>
        <p:spPr bwMode="auto">
          <a:xfrm>
            <a:off x="0" y="2967038"/>
            <a:ext cx="11271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 eaLnBrk="1" hangingPunct="1"/>
            <a:r>
              <a:rPr lang="en-US" sz="1200">
                <a:latin typeface="Arial" panose="020B0604020202020204" pitchFamily="34" charset="0"/>
                <a:cs typeface="Times New Roman" panose="02020603050405020304" pitchFamily="18" charset="0"/>
              </a:rPr>
              <a:t>                      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4343400" y="3200400"/>
            <a:ext cx="2743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 eaLnBrk="1" hangingPunct="1"/>
            <a:r>
              <a:rPr lang="en-US" sz="1200">
                <a:latin typeface="Arial" panose="020B0604020202020204" pitchFamily="34" charset="0"/>
                <a:cs typeface="Times New Roman" panose="02020603050405020304" pitchFamily="18" charset="0"/>
              </a:rPr>
              <a:t>	            .             .</a:t>
            </a:r>
            <a:endParaRPr lang="en-US" sz="1100">
              <a:latin typeface="Arial" panose="020B0604020202020204" pitchFamily="34" charset="0"/>
            </a:endParaRPr>
          </a:p>
          <a:p>
            <a:pPr algn="just"/>
            <a:r>
              <a:rPr lang="en-US" sz="1200">
                <a:latin typeface="Arial" panose="020B0604020202020204" pitchFamily="34" charset="0"/>
                <a:cs typeface="Times New Roman" panose="02020603050405020304" pitchFamily="18" charset="0"/>
              </a:rPr>
              <a:t>                                 .             .</a:t>
            </a:r>
            <a:endParaRPr lang="en-US" sz="1100">
              <a:latin typeface="Arial" panose="020B0604020202020204" pitchFamily="34" charset="0"/>
            </a:endParaRPr>
          </a:p>
          <a:p>
            <a:pPr algn="just"/>
            <a:r>
              <a:rPr lang="en-US" sz="1200">
                <a:latin typeface="Arial" panose="020B0604020202020204" pitchFamily="34" charset="0"/>
                <a:cs typeface="Times New Roman" panose="02020603050405020304" pitchFamily="18" charset="0"/>
              </a:rPr>
              <a:t>                                 .             .</a:t>
            </a:r>
            <a:endParaRPr lang="en-US" sz="1100">
              <a:latin typeface="Arial" panose="020B0604020202020204" pitchFamily="34" charset="0"/>
            </a:endParaRPr>
          </a:p>
          <a:p>
            <a:pPr algn="just"/>
            <a:r>
              <a:rPr lang="en-US" sz="1200">
                <a:latin typeface="Arial" panose="020B0604020202020204" pitchFamily="34" charset="0"/>
                <a:cs typeface="Times New Roman" panose="02020603050405020304" pitchFamily="18" charset="0"/>
              </a:rPr>
              <a:t>                                       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0250" name="Rectangle 10"/>
          <p:cNvSpPr>
            <a:spLocks noChangeArrowheads="1"/>
          </p:cNvSpPr>
          <p:nvPr/>
        </p:nvSpPr>
        <p:spPr bwMode="auto">
          <a:xfrm>
            <a:off x="0" y="4578350"/>
            <a:ext cx="3127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 eaLnBrk="1" hangingPunct="1"/>
            <a:r>
              <a:rPr lang="en-US" sz="1200">
                <a:latin typeface="Arial" panose="020B0604020202020204" pitchFamily="34" charset="0"/>
                <a:cs typeface="Times New Roman" panose="02020603050405020304" pitchFamily="18" charset="0"/>
              </a:rPr>
              <a:t>   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0251" name="Rectangle 11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graphicFrame>
        <p:nvGraphicFramePr>
          <p:cNvPr id="10245" name="Object 12"/>
          <p:cNvGraphicFramePr>
            <a:graphicFrameLocks noChangeAspect="1"/>
          </p:cNvGraphicFramePr>
          <p:nvPr/>
        </p:nvGraphicFramePr>
        <p:xfrm>
          <a:off x="2133600" y="1600200"/>
          <a:ext cx="49530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3" name="Equation" r:id="rId10" imgW="2247900" imgH="228600" progId="Equation.3">
                  <p:embed/>
                </p:oleObj>
              </mc:Choice>
              <mc:Fallback>
                <p:oleObj name="Equation" r:id="rId10" imgW="2247900" imgH="228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600200"/>
                        <a:ext cx="4953000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Back Substitution</a:t>
            </a:r>
          </a:p>
        </p:txBody>
      </p:sp>
      <p:sp>
        <p:nvSpPr>
          <p:cNvPr id="11268" name="Text Box 3"/>
          <p:cNvSpPr txBox="1">
            <a:spLocks noChangeArrowheads="1"/>
          </p:cNvSpPr>
          <p:nvPr/>
        </p:nvSpPr>
        <p:spPr bwMode="auto">
          <a:xfrm>
            <a:off x="228600" y="1447800"/>
            <a:ext cx="868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>
                <a:latin typeface="Arial" panose="020B0604020202020204" pitchFamily="34" charset="0"/>
              </a:rPr>
              <a:t>Start with the last equation because it has only one unknown</a:t>
            </a:r>
          </a:p>
        </p:txBody>
      </p: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graphicFrame>
        <p:nvGraphicFramePr>
          <p:cNvPr id="11266" name="Object 4"/>
          <p:cNvGraphicFramePr>
            <a:graphicFrameLocks noChangeAspect="1"/>
          </p:cNvGraphicFramePr>
          <p:nvPr/>
        </p:nvGraphicFramePr>
        <p:xfrm>
          <a:off x="2895600" y="1905000"/>
          <a:ext cx="2209800" cy="1452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Equation" r:id="rId4" imgW="698500" imgH="457200" progId="Equation.3">
                  <p:embed/>
                </p:oleObj>
              </mc:Choice>
              <mc:Fallback>
                <p:oleObj name="Equation" r:id="rId4" imgW="6985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905000"/>
                        <a:ext cx="2209800" cy="1452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Back Substitution</a:t>
            </a:r>
          </a:p>
        </p:txBody>
      </p:sp>
      <p:graphicFrame>
        <p:nvGraphicFramePr>
          <p:cNvPr id="12292" name="Object 13"/>
          <p:cNvGraphicFramePr>
            <a:graphicFrameLocks noGrp="1" noChangeAspect="1"/>
          </p:cNvGraphicFramePr>
          <p:nvPr>
            <p:ph idx="1"/>
          </p:nvPr>
        </p:nvGraphicFramePr>
        <p:xfrm>
          <a:off x="352425" y="2819400"/>
          <a:ext cx="8742363" cy="116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2" name="Equation" r:id="rId4" imgW="3530520" imgH="469800" progId="Equation.3">
                  <p:embed/>
                </p:oleObj>
              </mc:Choice>
              <mc:Fallback>
                <p:oleObj name="Equation" r:id="rId4" imgW="3530520" imgH="4698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425" y="2819400"/>
                        <a:ext cx="8742363" cy="1163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Rectangle 5"/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graphicFrame>
        <p:nvGraphicFramePr>
          <p:cNvPr id="12290" name="Object 4"/>
          <p:cNvGraphicFramePr>
            <a:graphicFrameLocks noChangeAspect="1"/>
          </p:cNvGraphicFramePr>
          <p:nvPr/>
        </p:nvGraphicFramePr>
        <p:xfrm>
          <a:off x="381000" y="4191000"/>
          <a:ext cx="59436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3" name="Equation" r:id="rId6" imgW="2323800" imgH="596880" progId="Equation.3">
                  <p:embed/>
                </p:oleObj>
              </mc:Choice>
              <mc:Fallback>
                <p:oleObj name="Equation" r:id="rId6" imgW="2323800" imgH="5968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191000"/>
                        <a:ext cx="5943600" cy="152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5" name="Rectangle 12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graphicFrame>
        <p:nvGraphicFramePr>
          <p:cNvPr id="12291" name="Object 11"/>
          <p:cNvGraphicFramePr>
            <a:graphicFrameLocks noChangeAspect="1"/>
          </p:cNvGraphicFramePr>
          <p:nvPr/>
        </p:nvGraphicFramePr>
        <p:xfrm>
          <a:off x="3352800" y="1371600"/>
          <a:ext cx="1752600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4" name="Equation" r:id="rId8" imgW="698500" imgH="457200" progId="Equation.3">
                  <p:embed/>
                </p:oleObj>
              </mc:Choice>
              <mc:Fallback>
                <p:oleObj name="Equation" r:id="rId8" imgW="698500" imgH="4572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371600"/>
                        <a:ext cx="1752600" cy="1152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3200400"/>
            <a:ext cx="8229600" cy="762000"/>
          </a:xfrm>
        </p:spPr>
        <p:txBody>
          <a:bodyPr>
            <a:normAutofit fontScale="92500" lnSpcReduction="10000"/>
          </a:bodyPr>
          <a:lstStyle/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en-US" sz="6000" b="1" dirty="0" smtClean="0"/>
              <a:t>Obrigado!</a:t>
            </a:r>
            <a:endParaRPr lang="en-US" sz="6000" b="1" dirty="0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theme1.xml><?xml version="1.0" encoding="utf-8"?>
<a:theme xmlns:a="http://schemas.openxmlformats.org/drawingml/2006/main" name="Cacho">
  <a:themeElements>
    <a:clrScheme name="Cacho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Cach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ch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1633</TotalTime>
  <Words>249</Words>
  <Application>Microsoft Office PowerPoint</Application>
  <PresentationFormat>Apresentação na tela (4:3)</PresentationFormat>
  <Paragraphs>86</Paragraphs>
  <Slides>15</Slides>
  <Notes>15</Notes>
  <HiddenSlides>0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3" baseType="lpstr">
      <vt:lpstr>Tahoma</vt:lpstr>
      <vt:lpstr>Arial</vt:lpstr>
      <vt:lpstr>Times New Roman</vt:lpstr>
      <vt:lpstr>Verdana</vt:lpstr>
      <vt:lpstr>Symbol</vt:lpstr>
      <vt:lpstr>MathSoftText</vt:lpstr>
      <vt:lpstr>Cacho</vt:lpstr>
      <vt:lpstr>Microsoft Equation 3.0</vt:lpstr>
      <vt:lpstr>Eliminação de Gauss</vt:lpstr>
      <vt:lpstr>Gaussian Elimination</vt:lpstr>
      <vt:lpstr>Forward Elimination</vt:lpstr>
      <vt:lpstr>Forward Elimination</vt:lpstr>
      <vt:lpstr>Forward Elimination</vt:lpstr>
      <vt:lpstr>Forward Elimination</vt:lpstr>
      <vt:lpstr>Forward Elimination</vt:lpstr>
      <vt:lpstr>Forward Elimination</vt:lpstr>
      <vt:lpstr>Forward Elimination</vt:lpstr>
      <vt:lpstr>Matrix Form at End of Forward Elimination</vt:lpstr>
      <vt:lpstr>Back Substitution</vt:lpstr>
      <vt:lpstr>Back Substitution Starting Eqns</vt:lpstr>
      <vt:lpstr>Back Substitution</vt:lpstr>
      <vt:lpstr>Back Substitution</vt:lpstr>
      <vt:lpstr>Apresentação do PowerPoint</vt:lpstr>
    </vt:vector>
  </TitlesOfParts>
  <Company>Holistic Numerical Methods Institute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Gaussian Elimination</dc:title>
  <dc:subject>Simultaneous Linear Equations</dc:subject>
  <dc:creator>Autar Kaw</dc:creator>
  <cp:keywords>Power Point, Gaussian Elimination, Simultaneous Linear Equations</cp:keywords>
  <dc:description>This power point shows how to solve simultaneous linear equations using Gaussian Elimination.</dc:description>
  <cp:lastModifiedBy>antonio tavernard</cp:lastModifiedBy>
  <cp:revision>94</cp:revision>
  <dcterms:created xsi:type="dcterms:W3CDTF">2004-10-20T02:26:59Z</dcterms:created>
  <dcterms:modified xsi:type="dcterms:W3CDTF">2020-11-06T19:09:56Z</dcterms:modified>
  <cp:category>General Engineering</cp:category>
</cp:coreProperties>
</file>