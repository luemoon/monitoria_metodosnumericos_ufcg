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67" r:id="rId3"/>
    <p:sldId id="280" r:id="rId4"/>
    <p:sldId id="278" r:id="rId5"/>
    <p:sldId id="279" r:id="rId6"/>
    <p:sldId id="270" r:id="rId7"/>
    <p:sldId id="266" r:id="rId8"/>
    <p:sldId id="269" r:id="rId9"/>
    <p:sldId id="268" r:id="rId10"/>
    <p:sldId id="272" r:id="rId11"/>
    <p:sldId id="273" r:id="rId12"/>
    <p:sldId id="271" r:id="rId13"/>
    <p:sldId id="274" r:id="rId14"/>
    <p:sldId id="275" r:id="rId15"/>
    <p:sldId id="277" r:id="rId16"/>
    <p:sldId id="276" r:id="rId17"/>
    <p:sldId id="281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0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0CC90-F8AD-49F3-9549-CE9DED40B5ED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AB880-A578-4683-838F-7C307E21C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459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75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56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47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67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73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073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07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48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77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03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8346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26367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1167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632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931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63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00220-1CDD-45FA-A93F-F13660CD5660}" type="datetimeFigureOut">
              <a:rPr lang="pt-BR" smtClean="0"/>
              <a:t>02/10/2020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B2BDFAE-1A5F-4395-AEC1-1827391800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47901" y="3975406"/>
            <a:ext cx="8102599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 smtClean="0"/>
              <a:t>Polinômio</a:t>
            </a:r>
            <a:r>
              <a:rPr lang="en-US" dirty="0" smtClean="0"/>
              <a:t> de Lagrange</a:t>
            </a:r>
            <a:endParaRPr 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803401" y="838200"/>
            <a:ext cx="10058400" cy="9017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000" b="1" dirty="0" err="1"/>
              <a:t>Métodos</a:t>
            </a:r>
            <a:r>
              <a:rPr lang="en-US" sz="5000" b="1" dirty="0"/>
              <a:t> </a:t>
            </a:r>
            <a:r>
              <a:rPr lang="en-US" sz="5000" b="1" dirty="0" err="1" smtClean="0"/>
              <a:t>Numéricos</a:t>
            </a:r>
            <a:endParaRPr lang="en-US" sz="5000" b="1" dirty="0" smtClean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909190" y="5977634"/>
            <a:ext cx="658919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Prof. Antonio Tavernard</a:t>
            </a:r>
            <a:endParaRPr lang="en-US" sz="2400" dirty="0"/>
          </a:p>
        </p:txBody>
      </p:sp>
      <p:sp>
        <p:nvSpPr>
          <p:cNvPr id="7" name="Retângulo 6"/>
          <p:cNvSpPr/>
          <p:nvPr/>
        </p:nvSpPr>
        <p:spPr>
          <a:xfrm>
            <a:off x="1895299" y="2596676"/>
            <a:ext cx="66030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err="1" smtClean="0"/>
              <a:t>Métodos</a:t>
            </a:r>
            <a:r>
              <a:rPr lang="en-US" sz="4000" dirty="0" smtClean="0"/>
              <a:t> de </a:t>
            </a:r>
            <a:r>
              <a:rPr lang="en-US" sz="4000" dirty="0" err="1" smtClean="0"/>
              <a:t>Interpolação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2177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82117" y="2474488"/>
            <a:ext cx="6331683" cy="757048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539262" y="1437847"/>
            <a:ext cx="117465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Uma das classes de funções mais úteis e conhecidas que mapeia o conjunto de números reais</a:t>
            </a:r>
          </a:p>
          <a:p>
            <a:r>
              <a:rPr lang="pt-BR" dirty="0" smtClean="0"/>
              <a:t>em si mesmo estão os polinômios algébricos, o conjunto de funções da forma</a:t>
            </a:r>
          </a:p>
        </p:txBody>
      </p:sp>
      <p:sp>
        <p:nvSpPr>
          <p:cNvPr id="5" name="Retângulo 4"/>
          <p:cNvSpPr/>
          <p:nvPr/>
        </p:nvSpPr>
        <p:spPr>
          <a:xfrm>
            <a:off x="638908" y="3641509"/>
            <a:ext cx="1154723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onde n é um número inteiro não negativo e a0,. . . </a:t>
            </a:r>
            <a:r>
              <a:rPr lang="pt-BR" dirty="0" err="1" smtClean="0"/>
              <a:t>an</a:t>
            </a:r>
            <a:r>
              <a:rPr lang="pt-BR" dirty="0" smtClean="0"/>
              <a:t>, são constantes reais. </a:t>
            </a:r>
          </a:p>
          <a:p>
            <a:endParaRPr lang="pt-BR" dirty="0" smtClean="0"/>
          </a:p>
          <a:p>
            <a:r>
              <a:rPr lang="pt-BR" dirty="0" smtClean="0"/>
              <a:t>Uma razão para sua  importância é que eles se aproximam uniformemente das funções contínuas. </a:t>
            </a:r>
            <a:r>
              <a:rPr lang="pt-BR" dirty="0" smtClean="0"/>
              <a:t>Ou seja, </a:t>
            </a:r>
            <a:r>
              <a:rPr lang="pt-BR" dirty="0" smtClean="0"/>
              <a:t>dada qualquer função, definida e contínua em um intervalo fechado e limitado, sempre existe um polinômio que é tão “próximo” da função dada quanto desejado (Teorema da Aproximação de </a:t>
            </a:r>
            <a:r>
              <a:rPr lang="pt-BR" dirty="0" err="1" smtClean="0"/>
              <a:t>Weierstrass</a:t>
            </a:r>
            <a:r>
              <a:rPr lang="pt-BR" dirty="0" smtClean="0"/>
              <a:t>).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1755859" y="560846"/>
            <a:ext cx="5997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Polinômio de </a:t>
            </a:r>
            <a:r>
              <a:rPr lang="pt-BR" sz="4000" dirty="0" err="1" smtClean="0"/>
              <a:t>Lagrange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319925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23260" y="2019668"/>
            <a:ext cx="6246139" cy="3897384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755859" y="560846"/>
            <a:ext cx="5997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Polinômio de </a:t>
            </a:r>
            <a:r>
              <a:rPr lang="pt-BR" sz="4000" dirty="0" err="1" smtClean="0"/>
              <a:t>Lagrange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072814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571500" y="1336559"/>
            <a:ext cx="1127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Suponha que f seja definido e contínuo em [a, b]. Para cada&gt; 0, existe um polinômio P(x), com a propriedade que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25571" y="2209234"/>
            <a:ext cx="4292908" cy="68636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14046" y="4548616"/>
            <a:ext cx="7991521" cy="1458483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571500" y="3121944"/>
            <a:ext cx="11277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Por exemplo, suponha que calculemos os primeiros seis polinômios de Taylor sobre x0 = 0 para f (x) = e</a:t>
            </a:r>
            <a:r>
              <a:rPr lang="pt-BR" baseline="30000" dirty="0" smtClean="0"/>
              <a:t>x</a:t>
            </a:r>
            <a:r>
              <a:rPr lang="pt-BR" dirty="0" smtClean="0"/>
              <a:t>.</a:t>
            </a:r>
          </a:p>
          <a:p>
            <a:r>
              <a:rPr lang="pt-BR" dirty="0" smtClean="0"/>
              <a:t>Uma vez que as derivadas de f(x) são todas </a:t>
            </a:r>
            <a:r>
              <a:rPr lang="pt-BR" dirty="0" err="1" smtClean="0"/>
              <a:t>e</a:t>
            </a:r>
            <a:r>
              <a:rPr lang="pt-BR" baseline="30000" dirty="0" err="1" smtClean="0"/>
              <a:t>x</a:t>
            </a:r>
            <a:r>
              <a:rPr lang="pt-BR" dirty="0" smtClean="0"/>
              <a:t>, que avaliadas em x0 = 0 dá 1, o Taylor</a:t>
            </a:r>
          </a:p>
          <a:p>
            <a:r>
              <a:rPr lang="pt-BR" dirty="0" smtClean="0"/>
              <a:t>polinômios são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1755859" y="560846"/>
            <a:ext cx="5997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Polinômio de </a:t>
            </a:r>
            <a:r>
              <a:rPr lang="pt-BR" sz="4000" dirty="0" err="1" smtClean="0"/>
              <a:t>Lagrange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9945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55638" y="2457966"/>
            <a:ext cx="6151862" cy="411926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187528" y="1534636"/>
            <a:ext cx="107885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Os gráficos dos polinômios são mostrados na Figura abaixo. (Observe que mesmo para o</a:t>
            </a:r>
          </a:p>
          <a:p>
            <a:r>
              <a:rPr lang="pt-BR" dirty="0" smtClean="0"/>
              <a:t>polinômios de alto grau, o erro se torna progressivamente maior à medida que nos afastamos do zero.)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1755859" y="560846"/>
            <a:ext cx="5997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Polinômio de </a:t>
            </a:r>
            <a:r>
              <a:rPr lang="pt-BR" sz="4000" dirty="0" err="1" smtClean="0"/>
              <a:t>Lagrange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000810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27989" y="3313560"/>
            <a:ext cx="5539775" cy="96402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42990" y="4747023"/>
            <a:ext cx="6826466" cy="90855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42990" y="6114419"/>
            <a:ext cx="6385903" cy="624284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703385" y="1283282"/>
            <a:ext cx="113948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 smtClean="0"/>
              <a:t>O problema de determinar um polinômio de grau um que passa pelas distintas pontos (x0, y0) e (x1, y1) é o mesmo que aproximar uma função f para a qual f(x0) = y0 e f(x1) = y1 por meio de uma interpolação polinomial de primeiro grau. Usando este polinômio para aproximação dentro do intervalo especificado, o polinômio de interpolação linear de </a:t>
            </a:r>
            <a:r>
              <a:rPr lang="pt-BR" dirty="0" err="1" smtClean="0"/>
              <a:t>Lagrange</a:t>
            </a:r>
            <a:r>
              <a:rPr lang="pt-BR" dirty="0" smtClean="0"/>
              <a:t> através de (x0, y0) e (x1, y1) é chamado de interpolação polinomial.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Defina as funções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703386" y="4277589"/>
            <a:ext cx="113948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O polinômio de interpolação linear de </a:t>
            </a:r>
            <a:r>
              <a:rPr lang="pt-BR" dirty="0" err="1" smtClean="0"/>
              <a:t>Lagrange</a:t>
            </a:r>
            <a:r>
              <a:rPr lang="pt-BR" dirty="0" smtClean="0"/>
              <a:t> através de (x0, y0) e (x1, y1) é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703386" y="5558197"/>
            <a:ext cx="113948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Note que 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755859" y="560846"/>
            <a:ext cx="5997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Polinômio de </a:t>
            </a:r>
            <a:r>
              <a:rPr lang="pt-BR" sz="4000" dirty="0" err="1" smtClean="0"/>
              <a:t>Lagrange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820302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35386" y="2282023"/>
            <a:ext cx="5926014" cy="2108737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1173286" y="1557697"/>
            <a:ext cx="113948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Isto implica que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e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173286" y="5192498"/>
            <a:ext cx="11049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Portanto, P é o único polinômio de grau pelo menos 1 que passa por (x0, y0) e (x1, y1).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1755859" y="560846"/>
            <a:ext cx="5997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Polinômio de </a:t>
            </a:r>
            <a:r>
              <a:rPr lang="pt-BR" sz="4000" dirty="0" err="1" smtClean="0"/>
              <a:t>Lagrange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260476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315342" y="1566730"/>
            <a:ext cx="1068615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Determine o polinômio de interpolação de </a:t>
            </a:r>
            <a:r>
              <a:rPr lang="pt-BR" dirty="0" err="1" smtClean="0"/>
              <a:t>Lagrange</a:t>
            </a:r>
            <a:r>
              <a:rPr lang="pt-BR" dirty="0" smtClean="0"/>
              <a:t> linear que passa pelos pontos (2, 4)</a:t>
            </a:r>
          </a:p>
          <a:p>
            <a:r>
              <a:rPr lang="pt-BR" dirty="0" smtClean="0"/>
              <a:t>e (5, 1).</a:t>
            </a:r>
          </a:p>
          <a:p>
            <a:endParaRPr lang="pt-BR" dirty="0"/>
          </a:p>
          <a:p>
            <a:r>
              <a:rPr lang="pt-BR" dirty="0" smtClean="0"/>
              <a:t>Neste caso nós temos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então</a:t>
            </a:r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15342" y="3273445"/>
            <a:ext cx="5420481" cy="57158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15342" y="5158526"/>
            <a:ext cx="5906324" cy="60015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0300" y="3105602"/>
            <a:ext cx="4368800" cy="3492212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1755859" y="560846"/>
            <a:ext cx="27366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Exemplo 1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233515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78952" y="2217676"/>
            <a:ext cx="5611357" cy="868424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78952" y="3327198"/>
            <a:ext cx="5325218" cy="2896004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762000" y="1330247"/>
            <a:ext cx="1115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Para generalizar o conceito de interpolação linear, considere a construção de um polinômio</a:t>
            </a:r>
          </a:p>
          <a:p>
            <a:r>
              <a:rPr lang="pt-BR" dirty="0" smtClean="0"/>
              <a:t>de grau no máximo n que passa pelos n + 1 pontos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755859" y="560846"/>
            <a:ext cx="5997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Polinômio de </a:t>
            </a:r>
            <a:r>
              <a:rPr lang="pt-BR" sz="4000" dirty="0" err="1" smtClean="0"/>
              <a:t>Lagrange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523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685800" y="1459637"/>
            <a:ext cx="10960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Neste caso, primeiro construímos, para cada k = 0, 1,. . . , n, uma função </a:t>
            </a:r>
            <a:r>
              <a:rPr lang="pt-BR" dirty="0" err="1" smtClean="0"/>
              <a:t>Ln,k</a:t>
            </a:r>
            <a:r>
              <a:rPr lang="pt-BR" dirty="0" smtClean="0"/>
              <a:t>(x) com o</a:t>
            </a:r>
          </a:p>
          <a:p>
            <a:r>
              <a:rPr lang="pt-BR" dirty="0" smtClean="0"/>
              <a:t>propriedade que </a:t>
            </a:r>
            <a:r>
              <a:rPr lang="pt-BR" dirty="0" err="1" smtClean="0"/>
              <a:t>Ln,k</a:t>
            </a:r>
            <a:r>
              <a:rPr lang="pt-BR" dirty="0" smtClean="0"/>
              <a:t>(xi) = 0 quando i = k e </a:t>
            </a:r>
            <a:r>
              <a:rPr lang="pt-BR" dirty="0" err="1" smtClean="0"/>
              <a:t>Ln,k</a:t>
            </a:r>
            <a:r>
              <a:rPr lang="pt-BR" dirty="0" smtClean="0"/>
              <a:t> (</a:t>
            </a:r>
            <a:r>
              <a:rPr lang="pt-BR" dirty="0" err="1" smtClean="0"/>
              <a:t>xk</a:t>
            </a:r>
            <a:r>
              <a:rPr lang="pt-BR" dirty="0" smtClean="0"/>
              <a:t>) = 1. </a:t>
            </a:r>
          </a:p>
          <a:p>
            <a:endParaRPr lang="pt-BR" dirty="0" smtClean="0"/>
          </a:p>
          <a:p>
            <a:r>
              <a:rPr lang="pt-BR" dirty="0" smtClean="0"/>
              <a:t>Para satisfazer </a:t>
            </a:r>
            <a:r>
              <a:rPr lang="pt-BR" dirty="0" err="1" smtClean="0"/>
              <a:t>Ln,k</a:t>
            </a:r>
            <a:r>
              <a:rPr lang="pt-BR" dirty="0" smtClean="0"/>
              <a:t> (xi) = 0 para cada i = k requer que o numerador de </a:t>
            </a:r>
            <a:r>
              <a:rPr lang="pt-BR" dirty="0" err="1" smtClean="0"/>
              <a:t>Ln,k</a:t>
            </a:r>
            <a:r>
              <a:rPr lang="pt-BR" dirty="0" smtClean="0"/>
              <a:t>(x) contenha o termo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46086" y="3032063"/>
            <a:ext cx="6128059" cy="663637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685800" y="4004297"/>
            <a:ext cx="11061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Para satisfazer </a:t>
            </a:r>
            <a:r>
              <a:rPr lang="pt-BR" dirty="0" err="1" smtClean="0"/>
              <a:t>Ln,k</a:t>
            </a:r>
            <a:r>
              <a:rPr lang="pt-BR" dirty="0" smtClean="0"/>
              <a:t> (</a:t>
            </a:r>
            <a:r>
              <a:rPr lang="pt-BR" dirty="0" err="1" smtClean="0"/>
              <a:t>xk</a:t>
            </a:r>
            <a:r>
              <a:rPr lang="pt-BR" dirty="0" smtClean="0"/>
              <a:t>) = 1, o denominador de </a:t>
            </a:r>
            <a:r>
              <a:rPr lang="pt-BR" dirty="0" err="1" smtClean="0"/>
              <a:t>Ln,k</a:t>
            </a:r>
            <a:r>
              <a:rPr lang="pt-BR" dirty="0" smtClean="0"/>
              <a:t> (x) deve ser o mesmo termo, mas avaliado em x = </a:t>
            </a:r>
            <a:r>
              <a:rPr lang="pt-BR" dirty="0" err="1" smtClean="0"/>
              <a:t>xk</a:t>
            </a:r>
            <a:r>
              <a:rPr lang="pt-BR" dirty="0"/>
              <a:t>,</a:t>
            </a:r>
            <a:r>
              <a:rPr lang="pt-BR" dirty="0" smtClean="0"/>
              <a:t> então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12427" y="4959225"/>
            <a:ext cx="6325373" cy="1035734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1755859" y="560846"/>
            <a:ext cx="5997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Polinômio de </a:t>
            </a:r>
            <a:r>
              <a:rPr lang="pt-BR" sz="4000" dirty="0" err="1" smtClean="0"/>
              <a:t>Lagrange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291773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7895" y="2312846"/>
            <a:ext cx="9491410" cy="3224354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155700" y="1365935"/>
            <a:ext cx="10579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Um esboço do gráfico de um típico </a:t>
            </a:r>
            <a:r>
              <a:rPr lang="pt-BR" dirty="0" err="1" smtClean="0"/>
              <a:t>Ln,k</a:t>
            </a:r>
            <a:r>
              <a:rPr lang="pt-BR" dirty="0" smtClean="0"/>
              <a:t> (quando n é par) é mostrado na Figura abaixo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1755859" y="560846"/>
            <a:ext cx="5997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Polinômio de </a:t>
            </a:r>
            <a:r>
              <a:rPr lang="pt-BR" sz="4000" dirty="0" err="1" smtClean="0"/>
              <a:t>Lagrange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095550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1093486" y="2431011"/>
            <a:ext cx="109207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Se x0, x1,. . . , </a:t>
            </a:r>
            <a:r>
              <a:rPr lang="pt-BR" dirty="0" err="1" smtClean="0"/>
              <a:t>xn</a:t>
            </a:r>
            <a:r>
              <a:rPr lang="pt-BR" dirty="0" smtClean="0"/>
              <a:t> são n + 1 números distintos e f é uma função cujos valores são dados</a:t>
            </a:r>
          </a:p>
          <a:p>
            <a:r>
              <a:rPr lang="pt-BR" dirty="0" smtClean="0"/>
              <a:t>Nestes pontos, então um único polinômio P(x) de grau no máximo n existe com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Este polinômio é dado por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50600" y="3266594"/>
            <a:ext cx="5514211" cy="72120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90200" y="5377265"/>
            <a:ext cx="6485965" cy="756268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1093486" y="1417787"/>
            <a:ext cx="107556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O polinômio de interpolação é facilmente descrito uma vez que a forma de </a:t>
            </a:r>
            <a:r>
              <a:rPr lang="pt-BR" dirty="0" err="1" smtClean="0"/>
              <a:t>Ln,k</a:t>
            </a:r>
            <a:r>
              <a:rPr lang="pt-BR" dirty="0" smtClean="0"/>
              <a:t> é conhecida. Este polinômio é denominado enésimo polinômio de interpolação de </a:t>
            </a:r>
            <a:r>
              <a:rPr lang="pt-BR" dirty="0" err="1" smtClean="0"/>
              <a:t>Lagrange</a:t>
            </a:r>
            <a:r>
              <a:rPr lang="pt-BR" dirty="0" smtClean="0"/>
              <a:t>, é definido da seguinte forma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755859" y="560846"/>
            <a:ext cx="5997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Polinômio de </a:t>
            </a:r>
            <a:r>
              <a:rPr lang="pt-BR" sz="4000" dirty="0" err="1" smtClean="0"/>
              <a:t>Lagrange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860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06499" y="2358124"/>
            <a:ext cx="8620473" cy="212497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942123" y="1450117"/>
            <a:ext cx="3754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onde, para cada k = 0, 1,. . . , n,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1206499" y="5136529"/>
            <a:ext cx="10426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Escreveremos </a:t>
            </a:r>
            <a:r>
              <a:rPr lang="pt-BR" dirty="0" err="1" smtClean="0"/>
              <a:t>Ln,k</a:t>
            </a:r>
            <a:r>
              <a:rPr lang="pt-BR" dirty="0" smtClean="0"/>
              <a:t>(x) simplesmente como </a:t>
            </a:r>
            <a:r>
              <a:rPr lang="pt-BR" dirty="0" err="1" smtClean="0"/>
              <a:t>Lk</a:t>
            </a:r>
            <a:r>
              <a:rPr lang="pt-BR" dirty="0" smtClean="0"/>
              <a:t>(x) quando não houver confusão quanto ao seu grau.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1755859" y="560846"/>
            <a:ext cx="5997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Polinômio de </a:t>
            </a:r>
            <a:r>
              <a:rPr lang="pt-BR" sz="4000" dirty="0" err="1" smtClean="0"/>
              <a:t>Lagrange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277101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71388" y="3894669"/>
            <a:ext cx="6801302" cy="2963331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175932" y="1519871"/>
            <a:ext cx="109144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lphaLcParenR"/>
            </a:pPr>
            <a:r>
              <a:rPr lang="pt-BR" dirty="0" smtClean="0"/>
              <a:t>Use os pontos </a:t>
            </a:r>
            <a:r>
              <a:rPr lang="pt-BR" b="1" dirty="0" smtClean="0"/>
              <a:t>x0 = 2,  x1 = 2,75 e x2 = 4</a:t>
            </a:r>
            <a:r>
              <a:rPr lang="pt-BR" dirty="0" smtClean="0"/>
              <a:t> para encontrar o segundo Polinômio de interpolação de </a:t>
            </a:r>
            <a:r>
              <a:rPr lang="pt-BR" dirty="0" err="1" smtClean="0"/>
              <a:t>Lagrange</a:t>
            </a:r>
            <a:r>
              <a:rPr lang="pt-BR" dirty="0" smtClean="0"/>
              <a:t> para f (x) = 1 / x.</a:t>
            </a:r>
          </a:p>
          <a:p>
            <a:pPr marL="342900" indent="-342900">
              <a:buAutoNum type="alphaLcParenR"/>
            </a:pPr>
            <a:endParaRPr lang="pt-BR" dirty="0" smtClean="0"/>
          </a:p>
          <a:p>
            <a:r>
              <a:rPr lang="pt-BR" dirty="0" smtClean="0"/>
              <a:t>b) Use este </a:t>
            </a:r>
            <a:r>
              <a:rPr lang="pt-BR" dirty="0" smtClean="0"/>
              <a:t>polinômio </a:t>
            </a:r>
            <a:r>
              <a:rPr lang="pt-BR" dirty="0" smtClean="0"/>
              <a:t>para aproximar f (3) = 1/3.</a:t>
            </a:r>
          </a:p>
          <a:p>
            <a:endParaRPr lang="pt-BR" dirty="0" smtClean="0"/>
          </a:p>
        </p:txBody>
      </p:sp>
      <p:sp>
        <p:nvSpPr>
          <p:cNvPr id="7" name="Retângulo 6"/>
          <p:cNvSpPr/>
          <p:nvPr/>
        </p:nvSpPr>
        <p:spPr>
          <a:xfrm>
            <a:off x="1175932" y="3248338"/>
            <a:ext cx="10723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Solução (a) Primeiro determinamos os polinômios de coeficiente L0 (x), L1 (x) e L2 (x). Dentro</a:t>
            </a:r>
          </a:p>
          <a:p>
            <a:r>
              <a:rPr lang="pt-BR" dirty="0" smtClean="0"/>
              <a:t>forma aninhada eles são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1755859" y="560846"/>
            <a:ext cx="27366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Exemplo 2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560817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88731" y="2479370"/>
            <a:ext cx="7861767" cy="295623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023532" y="1762438"/>
            <a:ext cx="10723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Também temos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1755859" y="560846"/>
            <a:ext cx="27366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Exemplo 2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978672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60423" y="1960520"/>
            <a:ext cx="5316526" cy="76998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60423" y="2854153"/>
            <a:ext cx="4997689" cy="384810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016000" y="1467535"/>
            <a:ext cx="10604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b) Uma aproximação para f (3) = 1/3 (ver Figura 3.6) é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1755859" y="560846"/>
            <a:ext cx="27366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/>
              <a:t>Exemplo 2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87513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181559" y="3113546"/>
            <a:ext cx="406393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0" dirty="0" smtClean="0"/>
              <a:t>Obrigado!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081965231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79</TotalTime>
  <Words>788</Words>
  <Application>Microsoft Office PowerPoint</Application>
  <PresentationFormat>Widescreen</PresentationFormat>
  <Paragraphs>84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Wingdings 3</vt:lpstr>
      <vt:lpstr>Cacho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antonio tavernard</dc:creator>
  <cp:lastModifiedBy>antonio tavernard</cp:lastModifiedBy>
  <cp:revision>12</cp:revision>
  <dcterms:created xsi:type="dcterms:W3CDTF">2020-10-02T14:09:11Z</dcterms:created>
  <dcterms:modified xsi:type="dcterms:W3CDTF">2020-10-02T15:29:04Z</dcterms:modified>
</cp:coreProperties>
</file>