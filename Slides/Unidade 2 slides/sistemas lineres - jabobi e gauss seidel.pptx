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notesMasterIdLst>
    <p:notesMasterId r:id="rId19"/>
  </p:notesMasterIdLst>
  <p:sldIdLst>
    <p:sldId id="258" r:id="rId2"/>
    <p:sldId id="299" r:id="rId3"/>
    <p:sldId id="300" r:id="rId4"/>
    <p:sldId id="326" r:id="rId5"/>
    <p:sldId id="327" r:id="rId6"/>
    <p:sldId id="331" r:id="rId7"/>
    <p:sldId id="329" r:id="rId8"/>
    <p:sldId id="302" r:id="rId9"/>
    <p:sldId id="303" r:id="rId10"/>
    <p:sldId id="304" r:id="rId11"/>
    <p:sldId id="306" r:id="rId12"/>
    <p:sldId id="318" r:id="rId13"/>
    <p:sldId id="320" r:id="rId14"/>
    <p:sldId id="321" r:id="rId15"/>
    <p:sldId id="324" r:id="rId16"/>
    <p:sldId id="349" r:id="rId17"/>
    <p:sldId id="347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CC"/>
    <a:srgbClr val="CCFF99"/>
    <a:srgbClr val="FFFFFF"/>
    <a:srgbClr val="00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323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4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4" Type="http://schemas.openxmlformats.org/officeDocument/2006/relationships/image" Target="../media/image4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D51306A-A855-4B27-BAFE-2C4C0603C303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10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14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73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5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9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971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948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3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19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21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24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9127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11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8106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53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54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137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2296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295400"/>
            <a:ext cx="4038600" cy="4800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295400"/>
            <a:ext cx="4038600" cy="2324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00600" y="3771900"/>
            <a:ext cx="4038600" cy="23241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D24B15-FEB6-4C7C-AE7B-84334A455159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81387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82296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295400"/>
            <a:ext cx="4038600" cy="4800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295400"/>
            <a:ext cx="4038600" cy="4800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3E4114-1DBC-4C8C-9BF6-305B8EE127B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3753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1914256-F1ED-4FE7-9ECF-850520F4B4A6}" type="slidenum">
              <a:rPr lang="en-US" smtClean="0"/>
              <a:pPr/>
              <a:t>‹nº›</a:t>
            </a:fld>
            <a:endParaRPr lang="en-US"/>
          </a:p>
        </p:txBody>
      </p:sp>
      <p:grpSp>
        <p:nvGrpSpPr>
          <p:cNvPr id="34" name="Group 194"/>
          <p:cNvGrpSpPr>
            <a:grpSpLocks/>
          </p:cNvGrpSpPr>
          <p:nvPr userDrawn="1"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5" name="Rectangle 195"/>
            <p:cNvSpPr>
              <a:spLocks noChangeArrowheads="1"/>
            </p:cNvSpPr>
            <p:nvPr/>
          </p:nvSpPr>
          <p:spPr bwMode="ltGray">
            <a:xfrm>
              <a:off x="1058" y="0"/>
              <a:ext cx="4702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3" name="Line 196"/>
            <p:cNvSpPr>
              <a:spLocks noChangeShapeType="1"/>
            </p:cNvSpPr>
            <p:nvPr/>
          </p:nvSpPr>
          <p:spPr bwMode="white">
            <a:xfrm>
              <a:off x="0" y="192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4" name="Line 197"/>
            <p:cNvSpPr>
              <a:spLocks noChangeShapeType="1"/>
            </p:cNvSpPr>
            <p:nvPr/>
          </p:nvSpPr>
          <p:spPr bwMode="white">
            <a:xfrm>
              <a:off x="0" y="384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5" name="Line 198"/>
            <p:cNvSpPr>
              <a:spLocks noChangeShapeType="1"/>
            </p:cNvSpPr>
            <p:nvPr/>
          </p:nvSpPr>
          <p:spPr bwMode="white">
            <a:xfrm>
              <a:off x="0" y="576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6" name="Line 199"/>
            <p:cNvSpPr>
              <a:spLocks noChangeShapeType="1"/>
            </p:cNvSpPr>
            <p:nvPr/>
          </p:nvSpPr>
          <p:spPr bwMode="white">
            <a:xfrm>
              <a:off x="0" y="768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7" name="Line 200"/>
            <p:cNvSpPr>
              <a:spLocks noChangeShapeType="1"/>
            </p:cNvSpPr>
            <p:nvPr/>
          </p:nvSpPr>
          <p:spPr bwMode="white">
            <a:xfrm>
              <a:off x="0" y="960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8" name="Line 201"/>
            <p:cNvSpPr>
              <a:spLocks noChangeShapeType="1"/>
            </p:cNvSpPr>
            <p:nvPr/>
          </p:nvSpPr>
          <p:spPr bwMode="white">
            <a:xfrm>
              <a:off x="0" y="1152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69" name="Line 202"/>
            <p:cNvSpPr>
              <a:spLocks noChangeShapeType="1"/>
            </p:cNvSpPr>
            <p:nvPr/>
          </p:nvSpPr>
          <p:spPr bwMode="white">
            <a:xfrm>
              <a:off x="0" y="1344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70" name="Line 203"/>
            <p:cNvSpPr>
              <a:spLocks noChangeShapeType="1"/>
            </p:cNvSpPr>
            <p:nvPr/>
          </p:nvSpPr>
          <p:spPr bwMode="white">
            <a:xfrm>
              <a:off x="0" y="1536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71" name="Line 204"/>
            <p:cNvSpPr>
              <a:spLocks noChangeShapeType="1"/>
            </p:cNvSpPr>
            <p:nvPr/>
          </p:nvSpPr>
          <p:spPr bwMode="white">
            <a:xfrm>
              <a:off x="0" y="1728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72" name="Line 205"/>
            <p:cNvSpPr>
              <a:spLocks noChangeShapeType="1"/>
            </p:cNvSpPr>
            <p:nvPr/>
          </p:nvSpPr>
          <p:spPr bwMode="white">
            <a:xfrm>
              <a:off x="0" y="1920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73" name="Line 206"/>
            <p:cNvSpPr>
              <a:spLocks noChangeShapeType="1"/>
            </p:cNvSpPr>
            <p:nvPr/>
          </p:nvSpPr>
          <p:spPr bwMode="white">
            <a:xfrm>
              <a:off x="0" y="2112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74" name="Line 207"/>
            <p:cNvSpPr>
              <a:spLocks noChangeShapeType="1"/>
            </p:cNvSpPr>
            <p:nvPr/>
          </p:nvSpPr>
          <p:spPr bwMode="white">
            <a:xfrm>
              <a:off x="0" y="2304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75" name="Line 208"/>
            <p:cNvSpPr>
              <a:spLocks noChangeShapeType="1"/>
            </p:cNvSpPr>
            <p:nvPr/>
          </p:nvSpPr>
          <p:spPr bwMode="white">
            <a:xfrm>
              <a:off x="0" y="2496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76" name="Line 209"/>
            <p:cNvSpPr>
              <a:spLocks noChangeShapeType="1"/>
            </p:cNvSpPr>
            <p:nvPr/>
          </p:nvSpPr>
          <p:spPr bwMode="white">
            <a:xfrm>
              <a:off x="0" y="2688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77" name="Line 210"/>
            <p:cNvSpPr>
              <a:spLocks noChangeShapeType="1"/>
            </p:cNvSpPr>
            <p:nvPr/>
          </p:nvSpPr>
          <p:spPr bwMode="white">
            <a:xfrm>
              <a:off x="0" y="2880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78" name="Line 211"/>
            <p:cNvSpPr>
              <a:spLocks noChangeShapeType="1"/>
            </p:cNvSpPr>
            <p:nvPr/>
          </p:nvSpPr>
          <p:spPr bwMode="white">
            <a:xfrm>
              <a:off x="0" y="3072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79" name="Line 212"/>
            <p:cNvSpPr>
              <a:spLocks noChangeShapeType="1"/>
            </p:cNvSpPr>
            <p:nvPr/>
          </p:nvSpPr>
          <p:spPr bwMode="white">
            <a:xfrm>
              <a:off x="0" y="3264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0" name="Line 213"/>
            <p:cNvSpPr>
              <a:spLocks noChangeShapeType="1"/>
            </p:cNvSpPr>
            <p:nvPr/>
          </p:nvSpPr>
          <p:spPr bwMode="white">
            <a:xfrm>
              <a:off x="0" y="3456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1" name="Line 214"/>
            <p:cNvSpPr>
              <a:spLocks noChangeShapeType="1"/>
            </p:cNvSpPr>
            <p:nvPr/>
          </p:nvSpPr>
          <p:spPr bwMode="white">
            <a:xfrm>
              <a:off x="0" y="3648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2" name="Line 215"/>
            <p:cNvSpPr>
              <a:spLocks noChangeShapeType="1"/>
            </p:cNvSpPr>
            <p:nvPr/>
          </p:nvSpPr>
          <p:spPr bwMode="white">
            <a:xfrm>
              <a:off x="0" y="3840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3" name="Line 216"/>
            <p:cNvSpPr>
              <a:spLocks noChangeShapeType="1"/>
            </p:cNvSpPr>
            <p:nvPr/>
          </p:nvSpPr>
          <p:spPr bwMode="white">
            <a:xfrm>
              <a:off x="0" y="4032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4" name="Line 217"/>
            <p:cNvSpPr>
              <a:spLocks noChangeShapeType="1"/>
            </p:cNvSpPr>
            <p:nvPr/>
          </p:nvSpPr>
          <p:spPr bwMode="white">
            <a:xfrm>
              <a:off x="0" y="4224"/>
              <a:ext cx="57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5" name="Line 218"/>
            <p:cNvSpPr>
              <a:spLocks noChangeShapeType="1"/>
            </p:cNvSpPr>
            <p:nvPr/>
          </p:nvSpPr>
          <p:spPr bwMode="white">
            <a:xfrm>
              <a:off x="192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6" name="Line 219"/>
            <p:cNvSpPr>
              <a:spLocks noChangeShapeType="1"/>
            </p:cNvSpPr>
            <p:nvPr/>
          </p:nvSpPr>
          <p:spPr bwMode="white">
            <a:xfrm>
              <a:off x="384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7" name="Line 220"/>
            <p:cNvSpPr>
              <a:spLocks noChangeShapeType="1"/>
            </p:cNvSpPr>
            <p:nvPr/>
          </p:nvSpPr>
          <p:spPr bwMode="white">
            <a:xfrm>
              <a:off x="576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8" name="Line 221"/>
            <p:cNvSpPr>
              <a:spLocks noChangeShapeType="1"/>
            </p:cNvSpPr>
            <p:nvPr/>
          </p:nvSpPr>
          <p:spPr bwMode="white">
            <a:xfrm>
              <a:off x="768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89" name="Line 222"/>
            <p:cNvSpPr>
              <a:spLocks noChangeShapeType="1"/>
            </p:cNvSpPr>
            <p:nvPr/>
          </p:nvSpPr>
          <p:spPr bwMode="white">
            <a:xfrm>
              <a:off x="960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90" name="Line 223"/>
            <p:cNvSpPr>
              <a:spLocks noChangeShapeType="1"/>
            </p:cNvSpPr>
            <p:nvPr/>
          </p:nvSpPr>
          <p:spPr bwMode="white">
            <a:xfrm>
              <a:off x="1152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91" name="Line 224"/>
            <p:cNvSpPr>
              <a:spLocks noChangeShapeType="1"/>
            </p:cNvSpPr>
            <p:nvPr/>
          </p:nvSpPr>
          <p:spPr bwMode="white">
            <a:xfrm>
              <a:off x="1344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92" name="Line 225"/>
            <p:cNvSpPr>
              <a:spLocks noChangeShapeType="1"/>
            </p:cNvSpPr>
            <p:nvPr/>
          </p:nvSpPr>
          <p:spPr bwMode="white">
            <a:xfrm>
              <a:off x="1536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93" name="Line 226"/>
            <p:cNvSpPr>
              <a:spLocks noChangeShapeType="1"/>
            </p:cNvSpPr>
            <p:nvPr/>
          </p:nvSpPr>
          <p:spPr bwMode="white">
            <a:xfrm>
              <a:off x="1728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94" name="Line 227"/>
            <p:cNvSpPr>
              <a:spLocks noChangeShapeType="1"/>
            </p:cNvSpPr>
            <p:nvPr/>
          </p:nvSpPr>
          <p:spPr bwMode="white">
            <a:xfrm>
              <a:off x="1920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95" name="Line 228"/>
            <p:cNvSpPr>
              <a:spLocks noChangeShapeType="1"/>
            </p:cNvSpPr>
            <p:nvPr/>
          </p:nvSpPr>
          <p:spPr bwMode="white">
            <a:xfrm>
              <a:off x="2112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96" name="Line 229"/>
            <p:cNvSpPr>
              <a:spLocks noChangeShapeType="1"/>
            </p:cNvSpPr>
            <p:nvPr/>
          </p:nvSpPr>
          <p:spPr bwMode="white">
            <a:xfrm>
              <a:off x="2304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97" name="Line 230"/>
            <p:cNvSpPr>
              <a:spLocks noChangeShapeType="1"/>
            </p:cNvSpPr>
            <p:nvPr/>
          </p:nvSpPr>
          <p:spPr bwMode="white">
            <a:xfrm>
              <a:off x="2496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98" name="Line 231"/>
            <p:cNvSpPr>
              <a:spLocks noChangeShapeType="1"/>
            </p:cNvSpPr>
            <p:nvPr/>
          </p:nvSpPr>
          <p:spPr bwMode="white">
            <a:xfrm>
              <a:off x="2688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99" name="Line 232"/>
            <p:cNvSpPr>
              <a:spLocks noChangeShapeType="1"/>
            </p:cNvSpPr>
            <p:nvPr/>
          </p:nvSpPr>
          <p:spPr bwMode="white">
            <a:xfrm>
              <a:off x="2880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0" name="Line 233"/>
            <p:cNvSpPr>
              <a:spLocks noChangeShapeType="1"/>
            </p:cNvSpPr>
            <p:nvPr/>
          </p:nvSpPr>
          <p:spPr bwMode="white">
            <a:xfrm>
              <a:off x="3072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1" name="Line 234"/>
            <p:cNvSpPr>
              <a:spLocks noChangeShapeType="1"/>
            </p:cNvSpPr>
            <p:nvPr/>
          </p:nvSpPr>
          <p:spPr bwMode="white">
            <a:xfrm>
              <a:off x="3264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2" name="Line 235"/>
            <p:cNvSpPr>
              <a:spLocks noChangeShapeType="1"/>
            </p:cNvSpPr>
            <p:nvPr/>
          </p:nvSpPr>
          <p:spPr bwMode="white">
            <a:xfrm>
              <a:off x="3456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3" name="Line 236"/>
            <p:cNvSpPr>
              <a:spLocks noChangeShapeType="1"/>
            </p:cNvSpPr>
            <p:nvPr/>
          </p:nvSpPr>
          <p:spPr bwMode="white">
            <a:xfrm>
              <a:off x="3648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4" name="Line 237"/>
            <p:cNvSpPr>
              <a:spLocks noChangeShapeType="1"/>
            </p:cNvSpPr>
            <p:nvPr/>
          </p:nvSpPr>
          <p:spPr bwMode="white">
            <a:xfrm>
              <a:off x="3840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5" name="Line 238"/>
            <p:cNvSpPr>
              <a:spLocks noChangeShapeType="1"/>
            </p:cNvSpPr>
            <p:nvPr/>
          </p:nvSpPr>
          <p:spPr bwMode="white">
            <a:xfrm>
              <a:off x="4032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6" name="Line 239"/>
            <p:cNvSpPr>
              <a:spLocks noChangeShapeType="1"/>
            </p:cNvSpPr>
            <p:nvPr/>
          </p:nvSpPr>
          <p:spPr bwMode="white">
            <a:xfrm>
              <a:off x="4224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7" name="Line 240"/>
            <p:cNvSpPr>
              <a:spLocks noChangeShapeType="1"/>
            </p:cNvSpPr>
            <p:nvPr/>
          </p:nvSpPr>
          <p:spPr bwMode="white">
            <a:xfrm>
              <a:off x="4416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8" name="Line 241"/>
            <p:cNvSpPr>
              <a:spLocks noChangeShapeType="1"/>
            </p:cNvSpPr>
            <p:nvPr/>
          </p:nvSpPr>
          <p:spPr bwMode="white">
            <a:xfrm>
              <a:off x="4608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09" name="Line 242"/>
            <p:cNvSpPr>
              <a:spLocks noChangeShapeType="1"/>
            </p:cNvSpPr>
            <p:nvPr/>
          </p:nvSpPr>
          <p:spPr bwMode="white">
            <a:xfrm>
              <a:off x="4800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10" name="Line 243"/>
            <p:cNvSpPr>
              <a:spLocks noChangeShapeType="1"/>
            </p:cNvSpPr>
            <p:nvPr/>
          </p:nvSpPr>
          <p:spPr bwMode="white">
            <a:xfrm>
              <a:off x="4992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11" name="Line 244"/>
            <p:cNvSpPr>
              <a:spLocks noChangeShapeType="1"/>
            </p:cNvSpPr>
            <p:nvPr/>
          </p:nvSpPr>
          <p:spPr bwMode="white">
            <a:xfrm>
              <a:off x="5184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12" name="Line 245"/>
            <p:cNvSpPr>
              <a:spLocks noChangeShapeType="1"/>
            </p:cNvSpPr>
            <p:nvPr/>
          </p:nvSpPr>
          <p:spPr bwMode="white">
            <a:xfrm>
              <a:off x="5376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sp>
          <p:nvSpPr>
            <p:cNvPr id="113" name="Line 246"/>
            <p:cNvSpPr>
              <a:spLocks noChangeShapeType="1"/>
            </p:cNvSpPr>
            <p:nvPr/>
          </p:nvSpPr>
          <p:spPr bwMode="white">
            <a:xfrm>
              <a:off x="5568" y="0"/>
              <a:ext cx="0" cy="432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charset="0"/>
              </a:endParaRPr>
            </a:p>
          </p:txBody>
        </p:sp>
        <p:grpSp>
          <p:nvGrpSpPr>
            <p:cNvPr id="114" name="Group 247"/>
            <p:cNvGrpSpPr>
              <a:grpSpLocks/>
            </p:cNvGrpSpPr>
            <p:nvPr/>
          </p:nvGrpSpPr>
          <p:grpSpPr bwMode="auto">
            <a:xfrm>
              <a:off x="84" y="108"/>
              <a:ext cx="5295" cy="2200"/>
              <a:chOff x="84" y="108"/>
              <a:chExt cx="5295" cy="2200"/>
            </a:xfrm>
          </p:grpSpPr>
          <p:sp>
            <p:nvSpPr>
              <p:cNvPr id="115" name="Line 248"/>
              <p:cNvSpPr>
                <a:spLocks noChangeShapeType="1"/>
              </p:cNvSpPr>
              <p:nvPr/>
            </p:nvSpPr>
            <p:spPr bwMode="ltGray">
              <a:xfrm>
                <a:off x="298" y="108"/>
                <a:ext cx="20" cy="2200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</a:endParaRPr>
              </a:p>
            </p:txBody>
          </p:sp>
          <p:sp>
            <p:nvSpPr>
              <p:cNvPr id="116" name="Line 249"/>
              <p:cNvSpPr>
                <a:spLocks noChangeShapeType="1"/>
              </p:cNvSpPr>
              <p:nvPr/>
            </p:nvSpPr>
            <p:spPr bwMode="ltGray">
              <a:xfrm flipH="1">
                <a:off x="84" y="755"/>
                <a:ext cx="5295" cy="16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</a:endParaRPr>
              </a:p>
            </p:txBody>
          </p:sp>
          <p:sp>
            <p:nvSpPr>
              <p:cNvPr id="117" name="Arc 250"/>
              <p:cNvSpPr>
                <a:spLocks/>
              </p:cNvSpPr>
              <p:nvPr/>
            </p:nvSpPr>
            <p:spPr bwMode="ltGray">
              <a:xfrm rot="-21202848" flipH="1" flipV="1">
                <a:off x="189" y="656"/>
                <a:ext cx="202" cy="266"/>
              </a:xfrm>
              <a:custGeom>
                <a:avLst/>
                <a:gdLst>
                  <a:gd name="G0" fmla="+- 0 0 0"/>
                  <a:gd name="G1" fmla="+- 20573 0 0"/>
                  <a:gd name="G2" fmla="+- 21600 0 0"/>
                  <a:gd name="T0" fmla="*/ 6583 w 21600"/>
                  <a:gd name="T1" fmla="*/ 0 h 39144"/>
                  <a:gd name="T2" fmla="*/ 11030 w 21600"/>
                  <a:gd name="T3" fmla="*/ 39144 h 39144"/>
                  <a:gd name="T4" fmla="*/ 0 w 21600"/>
                  <a:gd name="T5" fmla="*/ 20573 h 39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39144" fill="none" extrusionOk="0">
                    <a:moveTo>
                      <a:pt x="6582" y="0"/>
                    </a:moveTo>
                    <a:cubicBezTo>
                      <a:pt x="15529" y="2863"/>
                      <a:pt x="21600" y="11179"/>
                      <a:pt x="21600" y="20573"/>
                    </a:cubicBezTo>
                    <a:cubicBezTo>
                      <a:pt x="21600" y="28194"/>
                      <a:pt x="17583" y="35252"/>
                      <a:pt x="11030" y="39144"/>
                    </a:cubicBezTo>
                  </a:path>
                  <a:path w="21600" h="39144" stroke="0" extrusionOk="0">
                    <a:moveTo>
                      <a:pt x="6582" y="0"/>
                    </a:moveTo>
                    <a:cubicBezTo>
                      <a:pt x="15529" y="2863"/>
                      <a:pt x="21600" y="11179"/>
                      <a:pt x="21600" y="20573"/>
                    </a:cubicBezTo>
                    <a:cubicBezTo>
                      <a:pt x="21600" y="28194"/>
                      <a:pt x="17583" y="35252"/>
                      <a:pt x="11030" y="39144"/>
                    </a:cubicBezTo>
                    <a:lnTo>
                      <a:pt x="0" y="20573"/>
                    </a:lnTo>
                    <a:close/>
                  </a:path>
                </a:pathLst>
              </a:custGeom>
              <a:noFill/>
              <a:ln w="28575">
                <a:solidFill>
                  <a:srgbClr val="000099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951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  <p:sldLayoutId id="214748379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image" Target="../media/image17.wmf"/><Relationship Id="rId18" Type="http://schemas.openxmlformats.org/officeDocument/2006/relationships/oleObject" Target="../embeddings/oleObject20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19.wmf"/><Relationship Id="rId2" Type="http://schemas.openxmlformats.org/officeDocument/2006/relationships/slideLayout" Target="../slideLayouts/slideLayout17.xml"/><Relationship Id="rId16" Type="http://schemas.openxmlformats.org/officeDocument/2006/relationships/oleObject" Target="../embeddings/oleObject19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11" Type="http://schemas.openxmlformats.org/officeDocument/2006/relationships/image" Target="../media/image21.jpeg"/><Relationship Id="rId5" Type="http://schemas.openxmlformats.org/officeDocument/2006/relationships/oleObject" Target="../embeddings/oleObject14.bin"/><Relationship Id="rId15" Type="http://schemas.openxmlformats.org/officeDocument/2006/relationships/image" Target="../media/image18.wmf"/><Relationship Id="rId10" Type="http://schemas.openxmlformats.org/officeDocument/2006/relationships/image" Target="../media/image16.wmf"/><Relationship Id="rId19" Type="http://schemas.openxmlformats.org/officeDocument/2006/relationships/image" Target="../media/image20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6.bin"/><Relationship Id="rId14" Type="http://schemas.openxmlformats.org/officeDocument/2006/relationships/oleObject" Target="../embeddings/oleObject1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3.jpeg"/><Relationship Id="rId4" Type="http://schemas.openxmlformats.org/officeDocument/2006/relationships/image" Target="../media/image2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29.jpeg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19.wmf"/><Relationship Id="rId3" Type="http://schemas.openxmlformats.org/officeDocument/2006/relationships/oleObject" Target="../embeddings/oleObject27.bin"/><Relationship Id="rId7" Type="http://schemas.openxmlformats.org/officeDocument/2006/relationships/image" Target="../media/image32.jpeg"/><Relationship Id="rId12" Type="http://schemas.openxmlformats.org/officeDocument/2006/relationships/oleObject" Target="../embeddings/oleObject3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1.wmf"/><Relationship Id="rId11" Type="http://schemas.openxmlformats.org/officeDocument/2006/relationships/image" Target="../media/image18.wmf"/><Relationship Id="rId5" Type="http://schemas.openxmlformats.org/officeDocument/2006/relationships/oleObject" Target="../embeddings/oleObject28.bin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30.bin"/><Relationship Id="rId4" Type="http://schemas.openxmlformats.org/officeDocument/2006/relationships/image" Target="../media/image30.wmf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3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4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8.wmf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47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8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4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81200" y="1371600"/>
            <a:ext cx="6477000" cy="1143000"/>
          </a:xfrm>
        </p:spPr>
        <p:txBody>
          <a:bodyPr>
            <a:noAutofit/>
          </a:bodyPr>
          <a:lstStyle/>
          <a:p>
            <a:r>
              <a:rPr lang="en-US" sz="3000" dirty="0" err="1" smtClean="0">
                <a:solidFill>
                  <a:srgbClr val="000000"/>
                </a:solidFill>
              </a:rPr>
              <a:t>Resolução</a:t>
            </a:r>
            <a:r>
              <a:rPr lang="en-US" sz="3000" dirty="0" smtClean="0">
                <a:solidFill>
                  <a:srgbClr val="000000"/>
                </a:solidFill>
              </a:rPr>
              <a:t> de </a:t>
            </a:r>
            <a:r>
              <a:rPr lang="en-US" sz="3000" dirty="0" err="1" smtClean="0">
                <a:solidFill>
                  <a:srgbClr val="000000"/>
                </a:solidFill>
              </a:rPr>
              <a:t>sistemas</a:t>
            </a:r>
            <a:r>
              <a:rPr lang="en-US" sz="3000" dirty="0" smtClean="0">
                <a:solidFill>
                  <a:srgbClr val="000000"/>
                </a:solidFill>
              </a:rPr>
              <a:t> </a:t>
            </a:r>
            <a:r>
              <a:rPr lang="en-US" sz="3000" dirty="0" err="1" smtClean="0">
                <a:solidFill>
                  <a:srgbClr val="000000"/>
                </a:solidFill>
              </a:rPr>
              <a:t>lineares</a:t>
            </a:r>
            <a:r>
              <a:rPr lang="en-US" sz="3000" dirty="0" smtClean="0">
                <a:solidFill>
                  <a:srgbClr val="000000"/>
                </a:solidFill>
              </a:rPr>
              <a:t/>
            </a:r>
            <a:br>
              <a:rPr lang="en-US" sz="3000" dirty="0" smtClean="0">
                <a:solidFill>
                  <a:srgbClr val="000000"/>
                </a:solidFill>
              </a:rPr>
            </a:br>
            <a:endParaRPr lang="pt-BR" sz="3000" b="1" dirty="0"/>
          </a:p>
        </p:txBody>
      </p:sp>
      <p:sp>
        <p:nvSpPr>
          <p:cNvPr id="2" name="Retângulo 1"/>
          <p:cNvSpPr/>
          <p:nvPr/>
        </p:nvSpPr>
        <p:spPr>
          <a:xfrm>
            <a:off x="2971800" y="2667000"/>
            <a:ext cx="3435556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000" b="1" dirty="0"/>
              <a:t>Método de Jacobi</a:t>
            </a:r>
            <a:endParaRPr lang="pt-BR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Introdução</a:t>
            </a:r>
            <a:endParaRPr lang="en-US" altLang="ko-KR" dirty="0" smtClean="0">
              <a:ea typeface="굴림" pitchFamily="50" charset="-127"/>
            </a:endParaRPr>
          </a:p>
        </p:txBody>
      </p:sp>
      <p:sp>
        <p:nvSpPr>
          <p:cNvPr id="2662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os sistemas de equações lineares são muito grandes, o esforço computacional dos métodos diretos é proibitivamente caro</a:t>
            </a:r>
          </a:p>
          <a:p>
            <a:r>
              <a:rPr lang="pt-BR" dirty="0"/>
              <a:t>Três técnicas iterativas clássicas comuns para sistemas lineares</a:t>
            </a:r>
          </a:p>
          <a:p>
            <a:pPr lvl="1"/>
            <a:r>
              <a:rPr lang="pt-BR" dirty="0"/>
              <a:t>O método Jacobi</a:t>
            </a:r>
          </a:p>
          <a:p>
            <a:pPr lvl="1"/>
            <a:r>
              <a:rPr lang="pt-BR" dirty="0"/>
              <a:t>Método Gauss-</a:t>
            </a:r>
            <a:r>
              <a:rPr lang="pt-BR" dirty="0" err="1"/>
              <a:t>Seidel</a:t>
            </a:r>
            <a:endParaRPr lang="pt-BR" dirty="0"/>
          </a:p>
          <a:p>
            <a:pPr lvl="1"/>
            <a:r>
              <a:rPr lang="pt-BR" dirty="0"/>
              <a:t>Método de </a:t>
            </a:r>
            <a:r>
              <a:rPr lang="pt-BR" dirty="0" err="1"/>
              <a:t>Super</a:t>
            </a:r>
            <a:r>
              <a:rPr lang="pt-BR" dirty="0"/>
              <a:t> Relaxamento Sucessivo (SOR</a:t>
            </a:r>
            <a:r>
              <a:rPr lang="pt-BR" dirty="0" smtClean="0"/>
              <a:t>)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  <a:endParaRPr lang="en-US" altLang="ko-KR" dirty="0" smtClean="0">
              <a:ea typeface="굴림" pitchFamily="50" charset="-127"/>
            </a:endParaRPr>
          </a:p>
        </p:txBody>
      </p:sp>
      <p:graphicFrame>
        <p:nvGraphicFramePr>
          <p:cNvPr id="1026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37509"/>
              </p:ext>
            </p:extLst>
          </p:nvPr>
        </p:nvGraphicFramePr>
        <p:xfrm>
          <a:off x="2057400" y="3276600"/>
          <a:ext cx="4851400" cy="308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3" imgW="4851360" imgH="3085920" progId="Equation.3">
                  <p:embed/>
                </p:oleObj>
              </mc:Choice>
              <mc:Fallback>
                <p:oleObj name="Equation" r:id="rId3" imgW="4851360" imgH="30859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276600"/>
                        <a:ext cx="4851400" cy="308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33400" y="1295400"/>
            <a:ext cx="8077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68288" indent="-2682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sz="2400" dirty="0"/>
              <a:t>Para sistemas que têm matrizes de coeficientes com a estrutura apropriada - especialmente sistemas grandes e esparsos (muitos coeficientes cujo valor é zero) - técnicas iterativas podem ser preferíveis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1" y="624110"/>
            <a:ext cx="7696200" cy="1280890"/>
          </a:xfrm>
        </p:spPr>
        <p:txBody>
          <a:bodyPr>
            <a:normAutofit/>
          </a:bodyPr>
          <a:lstStyle/>
          <a:p>
            <a:r>
              <a:rPr lang="pt-BR" sz="3000" b="1" dirty="0"/>
              <a:t>Procedimento de solução iterativa</a:t>
            </a:r>
          </a:p>
        </p:txBody>
      </p:sp>
      <p:sp>
        <p:nvSpPr>
          <p:cNvPr id="33075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Escreva o sistema </a:t>
            </a:r>
            <a:r>
              <a:rPr lang="pt-BR" dirty="0" err="1"/>
              <a:t>Ax</a:t>
            </a:r>
            <a:r>
              <a:rPr lang="pt-BR" dirty="0"/>
              <a:t> = b em uma forma equivalente</a:t>
            </a:r>
          </a:p>
          <a:p>
            <a:pPr eaLnBrk="1" hangingPunct="1">
              <a:buFontTx/>
              <a:buNone/>
            </a:pPr>
            <a:r>
              <a:rPr lang="tr-TR" dirty="0" smtClean="0">
                <a:solidFill>
                  <a:srgbClr val="000000"/>
                </a:solidFill>
              </a:rPr>
              <a:t>	</a:t>
            </a:r>
            <a:r>
              <a:rPr lang="tr-TR" b="1" dirty="0" smtClean="0">
                <a:solidFill>
                  <a:srgbClr val="000000"/>
                </a:solidFill>
              </a:rPr>
              <a:t>x=Ex+f</a:t>
            </a:r>
            <a:r>
              <a:rPr lang="tr-TR" dirty="0" smtClean="0">
                <a:solidFill>
                  <a:srgbClr val="000000"/>
                </a:solidFill>
              </a:rPr>
              <a:t>   (like x=g(x) for fixed-point iteration)</a:t>
            </a:r>
          </a:p>
          <a:p>
            <a:r>
              <a:rPr lang="pt-BR" dirty="0"/>
              <a:t>Começando com x0, gere uma sequência de aproximações {</a:t>
            </a:r>
            <a:r>
              <a:rPr lang="pt-BR" dirty="0" err="1"/>
              <a:t>xk</a:t>
            </a:r>
            <a:r>
              <a:rPr lang="pt-BR" dirty="0"/>
              <a:t>} iterativamente por</a:t>
            </a:r>
          </a:p>
          <a:p>
            <a:pPr eaLnBrk="1" hangingPunct="1">
              <a:buFontTx/>
              <a:buNone/>
            </a:pPr>
            <a:r>
              <a:rPr lang="tr-TR" dirty="0" smtClean="0">
                <a:solidFill>
                  <a:srgbClr val="000000"/>
                </a:solidFill>
              </a:rPr>
              <a:t>	</a:t>
            </a:r>
            <a:r>
              <a:rPr lang="tr-TR" b="1" dirty="0" smtClean="0">
                <a:solidFill>
                  <a:srgbClr val="000000"/>
                </a:solidFill>
              </a:rPr>
              <a:t>x</a:t>
            </a:r>
            <a:r>
              <a:rPr lang="tr-TR" b="1" baseline="30000" dirty="0" smtClean="0">
                <a:solidFill>
                  <a:srgbClr val="000000"/>
                </a:solidFill>
              </a:rPr>
              <a:t>k+1</a:t>
            </a:r>
            <a:r>
              <a:rPr lang="tr-TR" b="1" dirty="0" smtClean="0">
                <a:solidFill>
                  <a:srgbClr val="000000"/>
                </a:solidFill>
              </a:rPr>
              <a:t>=Ex</a:t>
            </a:r>
            <a:r>
              <a:rPr lang="tr-TR" b="1" baseline="30000" dirty="0" smtClean="0">
                <a:solidFill>
                  <a:srgbClr val="000000"/>
                </a:solidFill>
              </a:rPr>
              <a:t>k</a:t>
            </a:r>
            <a:r>
              <a:rPr lang="tr-TR" b="1" dirty="0" smtClean="0">
                <a:solidFill>
                  <a:srgbClr val="000000"/>
                </a:solidFill>
              </a:rPr>
              <a:t>+f</a:t>
            </a:r>
          </a:p>
          <a:p>
            <a:r>
              <a:rPr lang="pt-BR" dirty="0"/>
              <a:t>A representação de E </a:t>
            </a:r>
            <a:r>
              <a:rPr lang="pt-BR" dirty="0" err="1"/>
              <a:t>e</a:t>
            </a:r>
            <a:r>
              <a:rPr lang="pt-BR" dirty="0"/>
              <a:t> f depende do tipo de método usado</a:t>
            </a:r>
          </a:p>
          <a:p>
            <a:r>
              <a:rPr lang="pt-BR" dirty="0"/>
              <a:t>Mas para cada método, E </a:t>
            </a:r>
            <a:r>
              <a:rPr lang="pt-BR" dirty="0" err="1"/>
              <a:t>e</a:t>
            </a:r>
            <a:r>
              <a:rPr lang="pt-BR" dirty="0"/>
              <a:t> f são obtidos de A e b, mas de uma maneira diferente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Convergência</a:t>
            </a:r>
            <a:r>
              <a:rPr lang="pt-BR" b="1" dirty="0"/>
              <a:t/>
            </a:r>
            <a:br>
              <a:rPr lang="pt-BR" b="1" dirty="0"/>
            </a:br>
            <a:endParaRPr lang="en-US" dirty="0" smtClean="0"/>
          </a:p>
        </p:txBody>
      </p:sp>
      <p:sp>
        <p:nvSpPr>
          <p:cNvPr id="3317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>
                <a:solidFill>
                  <a:srgbClr val="000000"/>
                </a:solidFill>
              </a:rPr>
              <a:t>como</a:t>
            </a:r>
            <a:r>
              <a:rPr lang="tr-TR" dirty="0" smtClean="0">
                <a:solidFill>
                  <a:srgbClr val="000000"/>
                </a:solidFill>
              </a:rPr>
              <a:t> k</a:t>
            </a:r>
            <a:r>
              <a:rPr lang="tr-TR" dirty="0" smtClean="0">
                <a:solidFill>
                  <a:srgbClr val="000000"/>
                </a:solidFill>
                <a:sym typeface="Symbol" panose="05050102010706020507" pitchFamily="18" charset="2"/>
              </a:rPr>
              <a:t>, </a:t>
            </a:r>
            <a:r>
              <a:rPr lang="pt-BR" dirty="0"/>
              <a:t>a sequência {</a:t>
            </a:r>
            <a:r>
              <a:rPr lang="pt-BR" dirty="0" err="1" smtClean="0"/>
              <a:t>x</a:t>
            </a:r>
            <a:r>
              <a:rPr lang="pt-BR" baseline="30000" dirty="0" err="1" smtClean="0"/>
              <a:t>k</a:t>
            </a:r>
            <a:r>
              <a:rPr lang="pt-BR" dirty="0" smtClean="0"/>
              <a:t>} </a:t>
            </a:r>
            <a:r>
              <a:rPr lang="pt-BR" dirty="0"/>
              <a:t>converge para o vetor solução sob algumas condições na matriz E</a:t>
            </a:r>
          </a:p>
          <a:p>
            <a:r>
              <a:rPr lang="pt-BR" dirty="0"/>
              <a:t>Isso impõe diferentes condições na matriz A para diferentes métodos</a:t>
            </a:r>
          </a:p>
          <a:p>
            <a:r>
              <a:rPr lang="pt-BR" dirty="0"/>
              <a:t>Para a mesma matriz A, um método pode convergir enquanto o outro pode divergir</a:t>
            </a:r>
          </a:p>
          <a:p>
            <a:r>
              <a:rPr lang="pt-BR" dirty="0"/>
              <a:t>Portanto, para cada método a relação entre A e </a:t>
            </a:r>
            <a:r>
              <a:rPr lang="pt-BR" dirty="0" err="1"/>
              <a:t>E</a:t>
            </a:r>
            <a:r>
              <a:rPr lang="pt-BR" dirty="0"/>
              <a:t> deve ser encontrada para decidir sobre a convergência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79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Ideia Básica do Método Jacobi</a:t>
            </a:r>
          </a:p>
        </p:txBody>
      </p:sp>
      <p:sp>
        <p:nvSpPr>
          <p:cNvPr id="205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295400"/>
            <a:ext cx="8223250" cy="4800600"/>
          </a:xfrm>
        </p:spPr>
        <p:txBody>
          <a:bodyPr>
            <a:normAutofit lnSpcReduction="10000"/>
          </a:bodyPr>
          <a:lstStyle/>
          <a:p>
            <a:pPr marL="268288" indent="-268288">
              <a:buNone/>
            </a:pPr>
            <a:r>
              <a:rPr lang="pt-BR" sz="2400" dirty="0"/>
              <a:t>Converta o sistema:</a:t>
            </a:r>
          </a:p>
          <a:p>
            <a:pPr marL="268288" indent="-268288" eaLnBrk="1" hangingPunct="1">
              <a:buFontTx/>
              <a:buNone/>
            </a:pPr>
            <a:r>
              <a:rPr lang="en-US" altLang="ko-KR" sz="2400" dirty="0" smtClean="0">
                <a:solidFill>
                  <a:srgbClr val="000000"/>
                </a:solidFill>
                <a:ea typeface="굴림" pitchFamily="50" charset="-127"/>
              </a:rPr>
              <a:t>             </a:t>
            </a:r>
          </a:p>
          <a:p>
            <a:r>
              <a:rPr lang="pt-BR" sz="2400" dirty="0" smtClean="0"/>
              <a:t>sistema </a:t>
            </a:r>
            <a:r>
              <a:rPr lang="pt-BR" sz="2400" dirty="0"/>
              <a:t>equivalente:</a:t>
            </a:r>
          </a:p>
          <a:p>
            <a:pPr marL="268288" indent="-268288" eaLnBrk="1" hangingPunct="1"/>
            <a:endParaRPr lang="en-US" altLang="ko-KR" sz="24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4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4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4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4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400" dirty="0" smtClean="0">
              <a:solidFill>
                <a:srgbClr val="000000"/>
              </a:solidFill>
              <a:ea typeface="굴림" pitchFamily="50" charset="-127"/>
            </a:endParaRPr>
          </a:p>
          <a:p>
            <a:r>
              <a:rPr lang="pt-BR" sz="2400" dirty="0"/>
              <a:t>Gere uma sequência de aproximação</a:t>
            </a:r>
          </a:p>
        </p:txBody>
      </p:sp>
      <p:graphicFrame>
        <p:nvGraphicFramePr>
          <p:cNvPr id="2050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677792274"/>
              </p:ext>
            </p:extLst>
          </p:nvPr>
        </p:nvGraphicFramePr>
        <p:xfrm>
          <a:off x="4503737" y="1371600"/>
          <a:ext cx="830263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" name="Equation" r:id="rId3" imgW="419040" imgH="152280" progId="Equation.3">
                  <p:embed/>
                </p:oleObj>
              </mc:Choice>
              <mc:Fallback>
                <p:oleObj name="Equation" r:id="rId3" imgW="419040" imgH="152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3737" y="1371600"/>
                        <a:ext cx="830263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495800" y="1828800"/>
          <a:ext cx="1168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" name="Equation" r:id="rId5" imgW="583920" imgH="164880" progId="Equation.3">
                  <p:embed/>
                </p:oleObj>
              </mc:Choice>
              <mc:Fallback>
                <p:oleObj name="Equation" r:id="rId5" imgW="583920" imgH="1648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828800"/>
                        <a:ext cx="1168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2206048"/>
              </p:ext>
            </p:extLst>
          </p:nvPr>
        </p:nvGraphicFramePr>
        <p:xfrm>
          <a:off x="3657600" y="5842000"/>
          <a:ext cx="18827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4" name="Equation" r:id="rId7" imgW="939600" imgH="190440" progId="Equation.3">
                  <p:embed/>
                </p:oleObj>
              </mc:Choice>
              <mc:Fallback>
                <p:oleObj name="Equation" r:id="rId7" imgW="939600" imgH="1904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842000"/>
                        <a:ext cx="18827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766676"/>
              </p:ext>
            </p:extLst>
          </p:nvPr>
        </p:nvGraphicFramePr>
        <p:xfrm>
          <a:off x="1219200" y="5842000"/>
          <a:ext cx="167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5" name="Equation" r:id="rId9" imgW="596880" imgH="203040" progId="Equation.3">
                  <p:embed/>
                </p:oleObj>
              </mc:Choice>
              <mc:Fallback>
                <p:oleObj name="Equation" r:id="rId9" imgW="596880" imgH="203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842000"/>
                        <a:ext cx="16764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58" name="Group 8"/>
          <p:cNvGrpSpPr>
            <a:grpSpLocks/>
          </p:cNvGrpSpPr>
          <p:nvPr/>
        </p:nvGrpSpPr>
        <p:grpSpPr bwMode="auto">
          <a:xfrm>
            <a:off x="838200" y="1995487"/>
            <a:ext cx="8016876" cy="2640013"/>
            <a:chOff x="542" y="979"/>
            <a:chExt cx="5050" cy="1663"/>
          </a:xfrm>
        </p:grpSpPr>
        <p:graphicFrame>
          <p:nvGraphicFramePr>
            <p:cNvPr id="2054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3198218"/>
                </p:ext>
              </p:extLst>
            </p:nvPr>
          </p:nvGraphicFramePr>
          <p:xfrm>
            <a:off x="542" y="1408"/>
            <a:ext cx="1890" cy="8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6" name="Equação" r:id="rId11" imgW="1498320" imgH="685800" progId="Equation.3">
                    <p:embed/>
                  </p:oleObj>
                </mc:Choice>
                <mc:Fallback>
                  <p:oleObj name="Equação" r:id="rId11" imgW="1498320" imgH="6858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" y="1408"/>
                          <a:ext cx="1890" cy="8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5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3672761"/>
                </p:ext>
              </p:extLst>
            </p:nvPr>
          </p:nvGraphicFramePr>
          <p:xfrm>
            <a:off x="2970" y="979"/>
            <a:ext cx="2622" cy="1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" name="Equation" r:id="rId13" imgW="2133360" imgH="1320480" progId="Equation.3">
                    <p:embed/>
                  </p:oleObj>
                </mc:Choice>
                <mc:Fallback>
                  <p:oleObj name="Equation" r:id="rId13" imgW="2133360" imgH="132048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0" y="979"/>
                          <a:ext cx="2622" cy="1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9" name="AutoShape 11"/>
            <p:cNvSpPr>
              <a:spLocks noChangeArrowheads="1"/>
            </p:cNvSpPr>
            <p:nvPr/>
          </p:nvSpPr>
          <p:spPr bwMode="auto">
            <a:xfrm>
              <a:off x="2517" y="1661"/>
              <a:ext cx="272" cy="27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de iteração Jacobi</a:t>
            </a:r>
          </a:p>
        </p:txBody>
      </p:sp>
      <p:graphicFrame>
        <p:nvGraphicFramePr>
          <p:cNvPr id="3074" name="Object 3"/>
          <p:cNvGraphicFramePr>
            <a:graphicFrameLocks noChangeAspect="1"/>
          </p:cNvGraphicFramePr>
          <p:nvPr/>
        </p:nvGraphicFramePr>
        <p:xfrm>
          <a:off x="914400" y="1447800"/>
          <a:ext cx="38862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Equation" r:id="rId3" imgW="1790640" imgH="914400" progId="Equation.3">
                  <p:embed/>
                </p:oleObj>
              </mc:Choice>
              <mc:Fallback>
                <p:oleObj name="Equation" r:id="rId3" imgW="1790640" imgH="914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447800"/>
                        <a:ext cx="388620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4"/>
          <p:cNvGraphicFramePr>
            <a:graphicFrameLocks noChangeAspect="1"/>
          </p:cNvGraphicFramePr>
          <p:nvPr/>
        </p:nvGraphicFramePr>
        <p:xfrm>
          <a:off x="6019800" y="1447800"/>
          <a:ext cx="1235075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Equation" r:id="rId5" imgW="622080" imgH="939600" progId="Equation.3">
                  <p:embed/>
                </p:oleObj>
              </mc:Choice>
              <mc:Fallback>
                <p:oleObj name="Equation" r:id="rId5" imgW="622080" imgH="93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1447800"/>
                        <a:ext cx="1235075" cy="187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6"/>
          <p:cNvGraphicFramePr>
            <a:graphicFrameLocks noChangeAspect="1"/>
          </p:cNvGraphicFramePr>
          <p:nvPr/>
        </p:nvGraphicFramePr>
        <p:xfrm>
          <a:off x="609600" y="4038600"/>
          <a:ext cx="35829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Equation" r:id="rId7" imgW="1904760" imgH="431640" progId="Equation.3">
                  <p:embed/>
                </p:oleObj>
              </mc:Choice>
              <mc:Fallback>
                <p:oleObj name="Equation" r:id="rId7" imgW="190476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038600"/>
                        <a:ext cx="3582988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11"/>
          <p:cNvGraphicFramePr>
            <a:graphicFrameLocks noChangeAspect="1"/>
          </p:cNvGraphicFramePr>
          <p:nvPr/>
        </p:nvGraphicFramePr>
        <p:xfrm>
          <a:off x="609600" y="5486400"/>
          <a:ext cx="487203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Equation" r:id="rId9" imgW="2590560" imgH="431640" progId="Equation.3">
                  <p:embed/>
                </p:oleObj>
              </mc:Choice>
              <mc:Fallback>
                <p:oleObj name="Equation" r:id="rId9" imgW="2590560" imgH="4316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5486400"/>
                        <a:ext cx="4872038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14"/>
          <p:cNvGraphicFramePr>
            <a:graphicFrameLocks noChangeAspect="1"/>
          </p:cNvGraphicFramePr>
          <p:nvPr/>
        </p:nvGraphicFramePr>
        <p:xfrm>
          <a:off x="574675" y="4800600"/>
          <a:ext cx="453707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Equation" r:id="rId11" imgW="2412720" imgH="431640" progId="Equation.3">
                  <p:embed/>
                </p:oleObj>
              </mc:Choice>
              <mc:Fallback>
                <p:oleObj name="Equation" r:id="rId11" imgW="2412720" imgH="43164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675" y="4800600"/>
                        <a:ext cx="453707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80" name="Group 18"/>
          <p:cNvGrpSpPr>
            <a:grpSpLocks noChangeAspect="1"/>
          </p:cNvGrpSpPr>
          <p:nvPr/>
        </p:nvGrpSpPr>
        <p:grpSpPr bwMode="auto">
          <a:xfrm>
            <a:off x="4724400" y="3886200"/>
            <a:ext cx="4189413" cy="965200"/>
            <a:chOff x="2976" y="2592"/>
            <a:chExt cx="2639" cy="608"/>
          </a:xfrm>
        </p:grpSpPr>
        <p:sp>
          <p:nvSpPr>
            <p:cNvPr id="3084" name="AutoShape 17"/>
            <p:cNvSpPr>
              <a:spLocks noChangeAspect="1" noChangeArrowheads="1" noTextEdit="1"/>
            </p:cNvSpPr>
            <p:nvPr/>
          </p:nvSpPr>
          <p:spPr bwMode="auto">
            <a:xfrm>
              <a:off x="2976" y="2592"/>
              <a:ext cx="2639" cy="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85" name="Line 19"/>
            <p:cNvSpPr>
              <a:spLocks noChangeShapeType="1"/>
            </p:cNvSpPr>
            <p:nvPr/>
          </p:nvSpPr>
          <p:spPr bwMode="auto">
            <a:xfrm>
              <a:off x="3497" y="2896"/>
              <a:ext cx="20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86" name="Rectangle 20"/>
            <p:cNvSpPr>
              <a:spLocks noChangeArrowheads="1"/>
            </p:cNvSpPr>
            <p:nvPr/>
          </p:nvSpPr>
          <p:spPr bwMode="auto">
            <a:xfrm>
              <a:off x="5505" y="2792"/>
              <a:ext cx="7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ú</a:t>
              </a:r>
              <a:endParaRPr lang="en-US"/>
            </a:p>
          </p:txBody>
        </p:sp>
        <p:sp>
          <p:nvSpPr>
            <p:cNvPr id="3087" name="Rectangle 21"/>
            <p:cNvSpPr>
              <a:spLocks noChangeArrowheads="1"/>
            </p:cNvSpPr>
            <p:nvPr/>
          </p:nvSpPr>
          <p:spPr bwMode="auto">
            <a:xfrm>
              <a:off x="5505" y="2960"/>
              <a:ext cx="7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û</a:t>
              </a:r>
              <a:endParaRPr lang="en-US"/>
            </a:p>
          </p:txBody>
        </p:sp>
        <p:sp>
          <p:nvSpPr>
            <p:cNvPr id="3088" name="Rectangle 22"/>
            <p:cNvSpPr>
              <a:spLocks noChangeArrowheads="1"/>
            </p:cNvSpPr>
            <p:nvPr/>
          </p:nvSpPr>
          <p:spPr bwMode="auto">
            <a:xfrm>
              <a:off x="5505" y="2608"/>
              <a:ext cx="7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ù</a:t>
              </a:r>
              <a:endParaRPr lang="en-US"/>
            </a:p>
          </p:txBody>
        </p:sp>
        <p:sp>
          <p:nvSpPr>
            <p:cNvPr id="3089" name="Rectangle 23"/>
            <p:cNvSpPr>
              <a:spLocks noChangeArrowheads="1"/>
            </p:cNvSpPr>
            <p:nvPr/>
          </p:nvSpPr>
          <p:spPr bwMode="auto">
            <a:xfrm>
              <a:off x="3736" y="2792"/>
              <a:ext cx="7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ê</a:t>
              </a:r>
              <a:endParaRPr lang="en-US"/>
            </a:p>
          </p:txBody>
        </p:sp>
        <p:sp>
          <p:nvSpPr>
            <p:cNvPr id="3090" name="Rectangle 24"/>
            <p:cNvSpPr>
              <a:spLocks noChangeArrowheads="1"/>
            </p:cNvSpPr>
            <p:nvPr/>
          </p:nvSpPr>
          <p:spPr bwMode="auto">
            <a:xfrm>
              <a:off x="3736" y="2960"/>
              <a:ext cx="7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ë</a:t>
              </a:r>
              <a:endParaRPr lang="en-US"/>
            </a:p>
          </p:txBody>
        </p:sp>
        <p:sp>
          <p:nvSpPr>
            <p:cNvPr id="3091" name="Rectangle 25"/>
            <p:cNvSpPr>
              <a:spLocks noChangeArrowheads="1"/>
            </p:cNvSpPr>
            <p:nvPr/>
          </p:nvSpPr>
          <p:spPr bwMode="auto">
            <a:xfrm>
              <a:off x="3736" y="2608"/>
              <a:ext cx="7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é</a:t>
              </a:r>
              <a:endParaRPr lang="en-US"/>
            </a:p>
          </p:txBody>
        </p:sp>
        <p:sp>
          <p:nvSpPr>
            <p:cNvPr id="3092" name="Rectangle 26"/>
            <p:cNvSpPr>
              <a:spLocks noChangeArrowheads="1"/>
            </p:cNvSpPr>
            <p:nvPr/>
          </p:nvSpPr>
          <p:spPr bwMode="auto">
            <a:xfrm>
              <a:off x="4738" y="2751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/>
            </a:p>
          </p:txBody>
        </p:sp>
        <p:sp>
          <p:nvSpPr>
            <p:cNvPr id="3093" name="Rectangle 27"/>
            <p:cNvSpPr>
              <a:spLocks noChangeArrowheads="1"/>
            </p:cNvSpPr>
            <p:nvPr/>
          </p:nvSpPr>
          <p:spPr bwMode="auto">
            <a:xfrm>
              <a:off x="3981" y="2751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/>
            </a:p>
          </p:txBody>
        </p:sp>
        <p:sp>
          <p:nvSpPr>
            <p:cNvPr id="3094" name="Rectangle 28"/>
            <p:cNvSpPr>
              <a:spLocks noChangeArrowheads="1"/>
            </p:cNvSpPr>
            <p:nvPr/>
          </p:nvSpPr>
          <p:spPr bwMode="auto">
            <a:xfrm>
              <a:off x="3344" y="2751"/>
              <a:ext cx="10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/>
            </a:p>
          </p:txBody>
        </p:sp>
        <p:sp>
          <p:nvSpPr>
            <p:cNvPr id="3095" name="Rectangle 29"/>
            <p:cNvSpPr>
              <a:spLocks noChangeArrowheads="1"/>
            </p:cNvSpPr>
            <p:nvPr/>
          </p:nvSpPr>
          <p:spPr bwMode="auto">
            <a:xfrm>
              <a:off x="4117" y="2699"/>
              <a:ext cx="205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3600">
                  <a:solidFill>
                    <a:srgbClr val="000000"/>
                  </a:solidFill>
                  <a:latin typeface="Symbol" panose="05050102010706020507" pitchFamily="18" charset="2"/>
                </a:rPr>
                <a:t>å</a:t>
              </a:r>
              <a:endParaRPr lang="en-US"/>
            </a:p>
          </p:txBody>
        </p:sp>
        <p:sp>
          <p:nvSpPr>
            <p:cNvPr id="3096" name="Rectangle 30"/>
            <p:cNvSpPr>
              <a:spLocks noChangeArrowheads="1"/>
            </p:cNvSpPr>
            <p:nvPr/>
          </p:nvSpPr>
          <p:spPr bwMode="auto">
            <a:xfrm>
              <a:off x="4911" y="2699"/>
              <a:ext cx="205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3600">
                  <a:solidFill>
                    <a:srgbClr val="000000"/>
                  </a:solidFill>
                  <a:latin typeface="Symbol" panose="05050102010706020507" pitchFamily="18" charset="2"/>
                </a:rPr>
                <a:t>å</a:t>
              </a:r>
              <a:endParaRPr lang="en-US"/>
            </a:p>
          </p:txBody>
        </p:sp>
        <p:sp>
          <p:nvSpPr>
            <p:cNvPr id="3097" name="Rectangle 31"/>
            <p:cNvSpPr>
              <a:spLocks noChangeArrowheads="1"/>
            </p:cNvSpPr>
            <p:nvPr/>
          </p:nvSpPr>
          <p:spPr bwMode="auto">
            <a:xfrm>
              <a:off x="4187" y="2636"/>
              <a:ext cx="6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Symbol" panose="05050102010706020507" pitchFamily="18" charset="2"/>
                </a:rPr>
                <a:t>-</a:t>
              </a:r>
              <a:endParaRPr lang="en-US"/>
            </a:p>
          </p:txBody>
        </p:sp>
        <p:sp>
          <p:nvSpPr>
            <p:cNvPr id="3098" name="Rectangle 32"/>
            <p:cNvSpPr>
              <a:spLocks noChangeArrowheads="1"/>
            </p:cNvSpPr>
            <p:nvPr/>
          </p:nvSpPr>
          <p:spPr bwMode="auto">
            <a:xfrm>
              <a:off x="4200" y="3015"/>
              <a:ext cx="6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/>
            </a:p>
          </p:txBody>
        </p:sp>
        <p:sp>
          <p:nvSpPr>
            <p:cNvPr id="3099" name="Rectangle 33"/>
            <p:cNvSpPr>
              <a:spLocks noChangeArrowheads="1"/>
            </p:cNvSpPr>
            <p:nvPr/>
          </p:nvSpPr>
          <p:spPr bwMode="auto">
            <a:xfrm>
              <a:off x="5045" y="3015"/>
              <a:ext cx="6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/>
            </a:p>
          </p:txBody>
        </p:sp>
        <p:sp>
          <p:nvSpPr>
            <p:cNvPr id="3100" name="Rectangle 34"/>
            <p:cNvSpPr>
              <a:spLocks noChangeArrowheads="1"/>
            </p:cNvSpPr>
            <p:nvPr/>
          </p:nvSpPr>
          <p:spPr bwMode="auto">
            <a:xfrm>
              <a:off x="4940" y="3015"/>
              <a:ext cx="6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Symbol" panose="05050102010706020507" pitchFamily="18" charset="2"/>
                </a:rPr>
                <a:t>=</a:t>
              </a:r>
              <a:endParaRPr lang="en-US"/>
            </a:p>
          </p:txBody>
        </p:sp>
        <p:sp>
          <p:nvSpPr>
            <p:cNvPr id="3101" name="Rectangle 35"/>
            <p:cNvSpPr>
              <a:spLocks noChangeArrowheads="1"/>
            </p:cNvSpPr>
            <p:nvPr/>
          </p:nvSpPr>
          <p:spPr bwMode="auto">
            <a:xfrm>
              <a:off x="3176" y="2745"/>
              <a:ext cx="6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Symbol" panose="05050102010706020507" pitchFamily="18" charset="2"/>
                </a:rPr>
                <a:t>+</a:t>
              </a:r>
              <a:endParaRPr lang="en-US"/>
            </a:p>
          </p:txBody>
        </p:sp>
        <p:sp>
          <p:nvSpPr>
            <p:cNvPr id="3102" name="Rectangle 36"/>
            <p:cNvSpPr>
              <a:spLocks noChangeArrowheads="1"/>
            </p:cNvSpPr>
            <p:nvPr/>
          </p:nvSpPr>
          <p:spPr bwMode="auto">
            <a:xfrm>
              <a:off x="4243" y="2648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/>
            </a:p>
          </p:txBody>
        </p:sp>
        <p:sp>
          <p:nvSpPr>
            <p:cNvPr id="3103" name="Rectangle 37"/>
            <p:cNvSpPr>
              <a:spLocks noChangeArrowheads="1"/>
            </p:cNvSpPr>
            <p:nvPr/>
          </p:nvSpPr>
          <p:spPr bwMode="auto">
            <a:xfrm>
              <a:off x="4256" y="3027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/>
            </a:p>
          </p:txBody>
        </p:sp>
        <p:sp>
          <p:nvSpPr>
            <p:cNvPr id="3104" name="Rectangle 38"/>
            <p:cNvSpPr>
              <a:spLocks noChangeArrowheads="1"/>
            </p:cNvSpPr>
            <p:nvPr/>
          </p:nvSpPr>
          <p:spPr bwMode="auto">
            <a:xfrm>
              <a:off x="5102" y="3027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/>
            </a:p>
          </p:txBody>
        </p:sp>
        <p:sp>
          <p:nvSpPr>
            <p:cNvPr id="3105" name="Rectangle 39"/>
            <p:cNvSpPr>
              <a:spLocks noChangeArrowheads="1"/>
            </p:cNvSpPr>
            <p:nvPr/>
          </p:nvSpPr>
          <p:spPr bwMode="auto">
            <a:xfrm>
              <a:off x="3233" y="2757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/>
            </a:p>
          </p:txBody>
        </p:sp>
        <p:sp>
          <p:nvSpPr>
            <p:cNvPr id="3106" name="Rectangle 40"/>
            <p:cNvSpPr>
              <a:spLocks noChangeArrowheads="1"/>
            </p:cNvSpPr>
            <p:nvPr/>
          </p:nvSpPr>
          <p:spPr bwMode="auto">
            <a:xfrm>
              <a:off x="3551" y="265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/>
            </a:p>
          </p:txBody>
        </p:sp>
        <p:sp>
          <p:nvSpPr>
            <p:cNvPr id="3107" name="Rectangle 41"/>
            <p:cNvSpPr>
              <a:spLocks noChangeArrowheads="1"/>
            </p:cNvSpPr>
            <p:nvPr/>
          </p:nvSpPr>
          <p:spPr bwMode="auto">
            <a:xfrm>
              <a:off x="4147" y="2649"/>
              <a:ext cx="3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/>
            </a:p>
          </p:txBody>
        </p:sp>
        <p:sp>
          <p:nvSpPr>
            <p:cNvPr id="3108" name="Rectangle 42"/>
            <p:cNvSpPr>
              <a:spLocks noChangeArrowheads="1"/>
            </p:cNvSpPr>
            <p:nvPr/>
          </p:nvSpPr>
          <p:spPr bwMode="auto">
            <a:xfrm>
              <a:off x="4158" y="3028"/>
              <a:ext cx="3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j</a:t>
              </a:r>
              <a:endParaRPr lang="en-US"/>
            </a:p>
          </p:txBody>
        </p:sp>
        <p:sp>
          <p:nvSpPr>
            <p:cNvPr id="3109" name="Rectangle 43"/>
            <p:cNvSpPr>
              <a:spLocks noChangeArrowheads="1"/>
            </p:cNvSpPr>
            <p:nvPr/>
          </p:nvSpPr>
          <p:spPr bwMode="auto">
            <a:xfrm>
              <a:off x="4985" y="2649"/>
              <a:ext cx="5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/>
            </a:p>
          </p:txBody>
        </p:sp>
        <p:sp>
          <p:nvSpPr>
            <p:cNvPr id="3110" name="Rectangle 44"/>
            <p:cNvSpPr>
              <a:spLocks noChangeArrowheads="1"/>
            </p:cNvSpPr>
            <p:nvPr/>
          </p:nvSpPr>
          <p:spPr bwMode="auto">
            <a:xfrm>
              <a:off x="5005" y="3028"/>
              <a:ext cx="3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/>
            </a:p>
          </p:txBody>
        </p:sp>
        <p:sp>
          <p:nvSpPr>
            <p:cNvPr id="3111" name="Rectangle 45"/>
            <p:cNvSpPr>
              <a:spLocks noChangeArrowheads="1"/>
            </p:cNvSpPr>
            <p:nvPr/>
          </p:nvSpPr>
          <p:spPr bwMode="auto">
            <a:xfrm>
              <a:off x="4898" y="3028"/>
              <a:ext cx="3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j</a:t>
              </a:r>
              <a:endParaRPr lang="en-US"/>
            </a:p>
          </p:txBody>
        </p:sp>
        <p:sp>
          <p:nvSpPr>
            <p:cNvPr id="3112" name="Rectangle 46"/>
            <p:cNvSpPr>
              <a:spLocks noChangeArrowheads="1"/>
            </p:cNvSpPr>
            <p:nvPr/>
          </p:nvSpPr>
          <p:spPr bwMode="auto">
            <a:xfrm>
              <a:off x="5421" y="2758"/>
              <a:ext cx="5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/>
            </a:p>
          </p:txBody>
        </p:sp>
        <p:sp>
          <p:nvSpPr>
            <p:cNvPr id="3113" name="Rectangle 47"/>
            <p:cNvSpPr>
              <a:spLocks noChangeArrowheads="1"/>
            </p:cNvSpPr>
            <p:nvPr/>
          </p:nvSpPr>
          <p:spPr bwMode="auto">
            <a:xfrm>
              <a:off x="5431" y="2892"/>
              <a:ext cx="3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j</a:t>
              </a:r>
              <a:endParaRPr lang="en-US"/>
            </a:p>
          </p:txBody>
        </p:sp>
        <p:sp>
          <p:nvSpPr>
            <p:cNvPr id="3114" name="Rectangle 48"/>
            <p:cNvSpPr>
              <a:spLocks noChangeArrowheads="1"/>
            </p:cNvSpPr>
            <p:nvPr/>
          </p:nvSpPr>
          <p:spPr bwMode="auto">
            <a:xfrm>
              <a:off x="5237" y="2892"/>
              <a:ext cx="6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ij</a:t>
              </a:r>
              <a:endParaRPr lang="en-US"/>
            </a:p>
          </p:txBody>
        </p:sp>
        <p:sp>
          <p:nvSpPr>
            <p:cNvPr id="3115" name="Rectangle 49"/>
            <p:cNvSpPr>
              <a:spLocks noChangeArrowheads="1"/>
            </p:cNvSpPr>
            <p:nvPr/>
          </p:nvSpPr>
          <p:spPr bwMode="auto">
            <a:xfrm>
              <a:off x="4627" y="2758"/>
              <a:ext cx="5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/>
            </a:p>
          </p:txBody>
        </p:sp>
        <p:sp>
          <p:nvSpPr>
            <p:cNvPr id="3116" name="Rectangle 50"/>
            <p:cNvSpPr>
              <a:spLocks noChangeArrowheads="1"/>
            </p:cNvSpPr>
            <p:nvPr/>
          </p:nvSpPr>
          <p:spPr bwMode="auto">
            <a:xfrm>
              <a:off x="4637" y="2892"/>
              <a:ext cx="3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j</a:t>
              </a:r>
              <a:endParaRPr lang="en-US"/>
            </a:p>
          </p:txBody>
        </p:sp>
        <p:sp>
          <p:nvSpPr>
            <p:cNvPr id="3117" name="Rectangle 51"/>
            <p:cNvSpPr>
              <a:spLocks noChangeArrowheads="1"/>
            </p:cNvSpPr>
            <p:nvPr/>
          </p:nvSpPr>
          <p:spPr bwMode="auto">
            <a:xfrm>
              <a:off x="4443" y="2892"/>
              <a:ext cx="6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ij</a:t>
              </a:r>
              <a:endParaRPr lang="en-US"/>
            </a:p>
          </p:txBody>
        </p:sp>
        <p:sp>
          <p:nvSpPr>
            <p:cNvPr id="3118" name="Rectangle 52"/>
            <p:cNvSpPr>
              <a:spLocks noChangeArrowheads="1"/>
            </p:cNvSpPr>
            <p:nvPr/>
          </p:nvSpPr>
          <p:spPr bwMode="auto">
            <a:xfrm>
              <a:off x="3894" y="2892"/>
              <a:ext cx="3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/>
            </a:p>
          </p:txBody>
        </p:sp>
        <p:sp>
          <p:nvSpPr>
            <p:cNvPr id="3119" name="Rectangle 53"/>
            <p:cNvSpPr>
              <a:spLocks noChangeArrowheads="1"/>
            </p:cNvSpPr>
            <p:nvPr/>
          </p:nvSpPr>
          <p:spPr bwMode="auto">
            <a:xfrm>
              <a:off x="3605" y="3042"/>
              <a:ext cx="6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ii</a:t>
              </a:r>
              <a:endParaRPr lang="en-US"/>
            </a:p>
          </p:txBody>
        </p:sp>
        <p:sp>
          <p:nvSpPr>
            <p:cNvPr id="3120" name="Rectangle 54"/>
            <p:cNvSpPr>
              <a:spLocks noChangeArrowheads="1"/>
            </p:cNvSpPr>
            <p:nvPr/>
          </p:nvSpPr>
          <p:spPr bwMode="auto">
            <a:xfrm>
              <a:off x="3111" y="2758"/>
              <a:ext cx="5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k</a:t>
              </a:r>
              <a:endParaRPr lang="en-US"/>
            </a:p>
          </p:txBody>
        </p:sp>
        <p:sp>
          <p:nvSpPr>
            <p:cNvPr id="3121" name="Rectangle 55"/>
            <p:cNvSpPr>
              <a:spLocks noChangeArrowheads="1"/>
            </p:cNvSpPr>
            <p:nvPr/>
          </p:nvSpPr>
          <p:spPr bwMode="auto">
            <a:xfrm>
              <a:off x="3097" y="2892"/>
              <a:ext cx="3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  <a:endParaRPr lang="en-US"/>
            </a:p>
          </p:txBody>
        </p:sp>
        <p:sp>
          <p:nvSpPr>
            <p:cNvPr id="3122" name="Rectangle 56"/>
            <p:cNvSpPr>
              <a:spLocks noChangeArrowheads="1"/>
            </p:cNvSpPr>
            <p:nvPr/>
          </p:nvSpPr>
          <p:spPr bwMode="auto">
            <a:xfrm>
              <a:off x="5324" y="2773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endParaRPr lang="en-US"/>
            </a:p>
          </p:txBody>
        </p:sp>
        <p:sp>
          <p:nvSpPr>
            <p:cNvPr id="3123" name="Rectangle 57"/>
            <p:cNvSpPr>
              <a:spLocks noChangeArrowheads="1"/>
            </p:cNvSpPr>
            <p:nvPr/>
          </p:nvSpPr>
          <p:spPr bwMode="auto">
            <a:xfrm>
              <a:off x="5142" y="277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/>
            </a:p>
          </p:txBody>
        </p:sp>
        <p:sp>
          <p:nvSpPr>
            <p:cNvPr id="3124" name="Rectangle 58"/>
            <p:cNvSpPr>
              <a:spLocks noChangeArrowheads="1"/>
            </p:cNvSpPr>
            <p:nvPr/>
          </p:nvSpPr>
          <p:spPr bwMode="auto">
            <a:xfrm>
              <a:off x="4530" y="2773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endParaRPr lang="en-US"/>
            </a:p>
          </p:txBody>
        </p:sp>
        <p:sp>
          <p:nvSpPr>
            <p:cNvPr id="3125" name="Rectangle 59"/>
            <p:cNvSpPr>
              <a:spLocks noChangeArrowheads="1"/>
            </p:cNvSpPr>
            <p:nvPr/>
          </p:nvSpPr>
          <p:spPr bwMode="auto">
            <a:xfrm>
              <a:off x="4348" y="277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/>
            </a:p>
          </p:txBody>
        </p:sp>
        <p:sp>
          <p:nvSpPr>
            <p:cNvPr id="3126" name="Rectangle 60"/>
            <p:cNvSpPr>
              <a:spLocks noChangeArrowheads="1"/>
            </p:cNvSpPr>
            <p:nvPr/>
          </p:nvSpPr>
          <p:spPr bwMode="auto">
            <a:xfrm>
              <a:off x="3808" y="277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/>
            </a:p>
          </p:txBody>
        </p:sp>
        <p:sp>
          <p:nvSpPr>
            <p:cNvPr id="3127" name="Rectangle 61"/>
            <p:cNvSpPr>
              <a:spLocks noChangeArrowheads="1"/>
            </p:cNvSpPr>
            <p:nvPr/>
          </p:nvSpPr>
          <p:spPr bwMode="auto">
            <a:xfrm>
              <a:off x="3510" y="292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/>
            </a:p>
          </p:txBody>
        </p:sp>
        <p:sp>
          <p:nvSpPr>
            <p:cNvPr id="3128" name="Rectangle 62"/>
            <p:cNvSpPr>
              <a:spLocks noChangeArrowheads="1"/>
            </p:cNvSpPr>
            <p:nvPr/>
          </p:nvSpPr>
          <p:spPr bwMode="auto">
            <a:xfrm>
              <a:off x="3014" y="2773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endParaRPr lang="en-US"/>
            </a:p>
          </p:txBody>
        </p:sp>
      </p:grpSp>
      <p:sp>
        <p:nvSpPr>
          <p:cNvPr id="3081" name="Rectangle 7"/>
          <p:cNvSpPr>
            <a:spLocks noChangeArrowheads="1"/>
          </p:cNvSpPr>
          <p:nvPr/>
        </p:nvSpPr>
        <p:spPr bwMode="auto">
          <a:xfrm>
            <a:off x="1905000" y="1905000"/>
            <a:ext cx="381000" cy="457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pt-BR" sz="28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082" name="Rectangle 64"/>
          <p:cNvSpPr>
            <a:spLocks noChangeArrowheads="1"/>
          </p:cNvSpPr>
          <p:nvPr/>
        </p:nvSpPr>
        <p:spPr bwMode="auto">
          <a:xfrm>
            <a:off x="990600" y="1447800"/>
            <a:ext cx="381000" cy="457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pt-BR" sz="28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083" name="Rectangle 65"/>
          <p:cNvSpPr>
            <a:spLocks noChangeArrowheads="1"/>
          </p:cNvSpPr>
          <p:nvPr/>
        </p:nvSpPr>
        <p:spPr bwMode="auto">
          <a:xfrm>
            <a:off x="3429000" y="2895600"/>
            <a:ext cx="457200" cy="457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pt-BR" sz="280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Jacobi com exemplos</a:t>
            </a:r>
          </a:p>
        </p:txBody>
      </p:sp>
      <p:sp>
        <p:nvSpPr>
          <p:cNvPr id="51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295400"/>
            <a:ext cx="4114800" cy="4953000"/>
          </a:xfrm>
        </p:spPr>
        <p:txBody>
          <a:bodyPr/>
          <a:lstStyle/>
          <a:p>
            <a:pPr marL="268288" indent="-268288"/>
            <a:r>
              <a:rPr lang="pt-BR" sz="2000" dirty="0"/>
              <a:t>Considere o sistema dois por </a:t>
            </a:r>
            <a:r>
              <a:rPr lang="pt-BR" sz="2000" dirty="0" smtClean="0"/>
              <a:t>dois</a:t>
            </a:r>
            <a:endParaRPr lang="en-US" altLang="ko-KR" sz="20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0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r>
              <a:rPr lang="en-US" altLang="ko-KR" sz="2000" dirty="0" err="1" smtClean="0">
                <a:solidFill>
                  <a:srgbClr val="000000"/>
                </a:solidFill>
                <a:ea typeface="굴림" pitchFamily="50" charset="-127"/>
              </a:rPr>
              <a:t>estimativas</a:t>
            </a:r>
            <a:r>
              <a:rPr lang="en-US" altLang="ko-KR" sz="2000" dirty="0" smtClean="0">
                <a:solidFill>
                  <a:srgbClr val="000000"/>
                </a:solidFill>
                <a:ea typeface="굴림" pitchFamily="50" charset="-127"/>
              </a:rPr>
              <a:t>               </a:t>
            </a:r>
          </a:p>
          <a:p>
            <a:pPr marL="268288" indent="-268288" eaLnBrk="1" hangingPunct="1"/>
            <a:endParaRPr lang="en-US" altLang="ko-KR" sz="2000" i="1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r>
              <a:rPr lang="en-US" altLang="ko-KR" sz="2000" i="1" dirty="0" smtClean="0">
                <a:solidFill>
                  <a:srgbClr val="000000"/>
                </a:solidFill>
                <a:ea typeface="굴림" pitchFamily="50" charset="-127"/>
              </a:rPr>
              <a:t>Simultaneous updating</a:t>
            </a:r>
          </a:p>
          <a:p>
            <a:r>
              <a:rPr lang="pt-BR" dirty="0"/>
              <a:t>Novos valores das variáveis ​​não são usados ​​até que uma nova etapa de iteração seja iniciada</a:t>
            </a:r>
          </a:p>
        </p:txBody>
      </p:sp>
      <p:graphicFrame>
        <p:nvGraphicFramePr>
          <p:cNvPr id="512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278632144"/>
              </p:ext>
            </p:extLst>
          </p:nvPr>
        </p:nvGraphicFramePr>
        <p:xfrm>
          <a:off x="2399438" y="2441058"/>
          <a:ext cx="169545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8" name="Equation" r:id="rId3" imgW="863280" imgH="215640" progId="Equation.3">
                  <p:embed/>
                </p:oleObj>
              </mc:Choice>
              <mc:Fallback>
                <p:oleObj name="Equation" r:id="rId3" imgW="86328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9438" y="2441058"/>
                        <a:ext cx="169545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5"/>
          <p:cNvGraphicFramePr>
            <a:graphicFrameLocks noChangeAspect="1"/>
          </p:cNvGraphicFramePr>
          <p:nvPr/>
        </p:nvGraphicFramePr>
        <p:xfrm>
          <a:off x="914400" y="4800600"/>
          <a:ext cx="3354388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9" name="Equation" r:id="rId5" imgW="1676160" imgH="672840" progId="Equation.3">
                  <p:embed/>
                </p:oleObj>
              </mc:Choice>
              <mc:Fallback>
                <p:oleObj name="Equation" r:id="rId5" imgW="1676160" imgH="6728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800600"/>
                        <a:ext cx="3354388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32" name="Group 6"/>
          <p:cNvGrpSpPr>
            <a:grpSpLocks/>
          </p:cNvGrpSpPr>
          <p:nvPr/>
        </p:nvGrpSpPr>
        <p:grpSpPr bwMode="auto">
          <a:xfrm>
            <a:off x="4953000" y="1295400"/>
            <a:ext cx="3124200" cy="1219200"/>
            <a:chOff x="937" y="1071"/>
            <a:chExt cx="1945" cy="848"/>
          </a:xfrm>
        </p:grpSpPr>
        <p:graphicFrame>
          <p:nvGraphicFramePr>
            <p:cNvPr id="5128" name="Object 7"/>
            <p:cNvGraphicFramePr>
              <a:graphicFrameLocks noChangeAspect="1"/>
            </p:cNvGraphicFramePr>
            <p:nvPr/>
          </p:nvGraphicFramePr>
          <p:xfrm>
            <a:off x="937" y="1245"/>
            <a:ext cx="718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0" name="Equation" r:id="rId7" imgW="558720" imgH="368280" progId="Equation.3">
                    <p:embed/>
                  </p:oleObj>
                </mc:Choice>
                <mc:Fallback>
                  <p:oleObj name="Equation" r:id="rId7" imgW="558720" imgH="3682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7" y="1245"/>
                          <a:ext cx="718" cy="4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9" name="Object 8"/>
            <p:cNvGraphicFramePr>
              <a:graphicFrameLocks noChangeAspect="1"/>
            </p:cNvGraphicFramePr>
            <p:nvPr/>
          </p:nvGraphicFramePr>
          <p:xfrm>
            <a:off x="2018" y="1071"/>
            <a:ext cx="864" cy="8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1" name="Equation" r:id="rId9" imgW="685800" imgH="672840" progId="Equation.3">
                    <p:embed/>
                  </p:oleObj>
                </mc:Choice>
                <mc:Fallback>
                  <p:oleObj name="Equation" r:id="rId9" imgW="685800" imgH="67284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1071"/>
                          <a:ext cx="864" cy="8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1" name="AutoShape 9"/>
            <p:cNvSpPr>
              <a:spLocks noChangeArrowheads="1"/>
            </p:cNvSpPr>
            <p:nvPr/>
          </p:nvSpPr>
          <p:spPr bwMode="auto">
            <a:xfrm>
              <a:off x="1701" y="1344"/>
              <a:ext cx="272" cy="27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/>
            </a:p>
          </p:txBody>
        </p:sp>
      </p:grpSp>
      <p:grpSp>
        <p:nvGrpSpPr>
          <p:cNvPr id="5133" name="Group 10"/>
          <p:cNvGrpSpPr>
            <a:grpSpLocks/>
          </p:cNvGrpSpPr>
          <p:nvPr/>
        </p:nvGrpSpPr>
        <p:grpSpPr bwMode="auto">
          <a:xfrm>
            <a:off x="4724400" y="2819400"/>
            <a:ext cx="3962400" cy="3352800"/>
            <a:chOff x="2712" y="1480"/>
            <a:chExt cx="2952" cy="2462"/>
          </a:xfrm>
        </p:grpSpPr>
        <p:grpSp>
          <p:nvGrpSpPr>
            <p:cNvPr id="5134" name="Group 11"/>
            <p:cNvGrpSpPr>
              <a:grpSpLocks/>
            </p:cNvGrpSpPr>
            <p:nvPr/>
          </p:nvGrpSpPr>
          <p:grpSpPr bwMode="auto">
            <a:xfrm>
              <a:off x="2880" y="1480"/>
              <a:ext cx="2784" cy="2250"/>
              <a:chOff x="2880" y="1480"/>
              <a:chExt cx="2784" cy="2250"/>
            </a:xfrm>
          </p:grpSpPr>
          <p:pic>
            <p:nvPicPr>
              <p:cNvPr id="5135" name="Picture 12" descr="fi4_1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0" y="1480"/>
                <a:ext cx="2784" cy="2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5136" name="Group 13"/>
              <p:cNvGrpSpPr>
                <a:grpSpLocks/>
              </p:cNvGrpSpPr>
              <p:nvPr/>
            </p:nvGrpSpPr>
            <p:grpSpPr bwMode="auto">
              <a:xfrm>
                <a:off x="2971" y="2659"/>
                <a:ext cx="2404" cy="953"/>
                <a:chOff x="2971" y="2840"/>
                <a:chExt cx="2404" cy="953"/>
              </a:xfrm>
            </p:grpSpPr>
            <p:sp>
              <p:nvSpPr>
                <p:cNvPr id="5137" name="Line 14"/>
                <p:cNvSpPr>
                  <a:spLocks noChangeShapeType="1"/>
                </p:cNvSpPr>
                <p:nvPr/>
              </p:nvSpPr>
              <p:spPr bwMode="auto">
                <a:xfrm>
                  <a:off x="3016" y="3612"/>
                  <a:ext cx="235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138" name="Line 15"/>
                <p:cNvSpPr>
                  <a:spLocks noChangeShapeType="1"/>
                </p:cNvSpPr>
                <p:nvPr/>
              </p:nvSpPr>
              <p:spPr bwMode="auto">
                <a:xfrm>
                  <a:off x="5375" y="3612"/>
                  <a:ext cx="0" cy="1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139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3424" y="2840"/>
                  <a:ext cx="0" cy="95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5140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2971" y="2840"/>
                  <a:ext cx="45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  <p:graphicFrame>
          <p:nvGraphicFramePr>
            <p:cNvPr id="5124" name="Object 18"/>
            <p:cNvGraphicFramePr>
              <a:graphicFrameLocks noChangeAspect="1"/>
            </p:cNvGraphicFramePr>
            <p:nvPr/>
          </p:nvGraphicFramePr>
          <p:xfrm>
            <a:off x="3288" y="3702"/>
            <a:ext cx="27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2" name="Equation" r:id="rId12" imgW="215640" imgH="190440" progId="Equation.3">
                    <p:embed/>
                  </p:oleObj>
                </mc:Choice>
                <mc:Fallback>
                  <p:oleObj name="Equation" r:id="rId12" imgW="215640" imgH="19044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3702"/>
                          <a:ext cx="27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5" name="Object 19"/>
            <p:cNvGraphicFramePr>
              <a:graphicFrameLocks noChangeAspect="1"/>
            </p:cNvGraphicFramePr>
            <p:nvPr/>
          </p:nvGraphicFramePr>
          <p:xfrm>
            <a:off x="2744" y="3340"/>
            <a:ext cx="28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3" name="Equation" r:id="rId14" imgW="228600" imgH="215640" progId="Equation.3">
                    <p:embed/>
                  </p:oleObj>
                </mc:Choice>
                <mc:Fallback>
                  <p:oleObj name="Equation" r:id="rId14" imgW="228600" imgH="21564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4" y="3340"/>
                          <a:ext cx="28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6" name="Object 20"/>
            <p:cNvGraphicFramePr>
              <a:graphicFrameLocks noChangeAspect="1"/>
            </p:cNvGraphicFramePr>
            <p:nvPr/>
          </p:nvGraphicFramePr>
          <p:xfrm>
            <a:off x="2712" y="2659"/>
            <a:ext cx="3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4" name="Equation" r:id="rId16" imgW="241200" imgH="215640" progId="Equation.3">
                    <p:embed/>
                  </p:oleObj>
                </mc:Choice>
                <mc:Fallback>
                  <p:oleObj name="Equation" r:id="rId16" imgW="241200" imgH="21564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2" y="2659"/>
                          <a:ext cx="30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7" name="Object 21"/>
            <p:cNvGraphicFramePr>
              <a:graphicFrameLocks noChangeAspect="1"/>
            </p:cNvGraphicFramePr>
            <p:nvPr/>
          </p:nvGraphicFramePr>
          <p:xfrm>
            <a:off x="5239" y="3657"/>
            <a:ext cx="28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05" name="Equation" r:id="rId18" imgW="228600" imgH="190440" progId="Equation.3">
                    <p:embed/>
                  </p:oleObj>
                </mc:Choice>
                <mc:Fallback>
                  <p:oleObj name="Equation" r:id="rId18" imgW="228600" imgH="19044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9" y="3657"/>
                          <a:ext cx="28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err="1" smtClean="0">
                <a:ea typeface="굴림" pitchFamily="50" charset="-127"/>
              </a:rPr>
              <a:t>Metodo</a:t>
            </a:r>
            <a:r>
              <a:rPr lang="en-US" altLang="ko-KR" dirty="0" smtClean="0">
                <a:ea typeface="굴림" pitchFamily="50" charset="-127"/>
              </a:rPr>
              <a:t> de Jacobi</a:t>
            </a:r>
          </a:p>
        </p:txBody>
      </p:sp>
      <p:sp>
        <p:nvSpPr>
          <p:cNvPr id="61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295400"/>
            <a:ext cx="4037013" cy="4800600"/>
          </a:xfrm>
        </p:spPr>
        <p:txBody>
          <a:bodyPr/>
          <a:lstStyle/>
          <a:p>
            <a:pPr marL="268288" indent="-268288" eaLnBrk="1" hangingPunct="1"/>
            <a:r>
              <a:rPr lang="en-US" altLang="ko-KR" sz="2400" dirty="0" err="1" smtClean="0">
                <a:ea typeface="굴림" pitchFamily="50" charset="-127"/>
              </a:rPr>
              <a:t>continuação</a:t>
            </a:r>
            <a:endParaRPr lang="en-US" altLang="ko-KR" sz="2400" dirty="0" smtClean="0">
              <a:ea typeface="굴림" pitchFamily="50" charset="-127"/>
            </a:endParaRPr>
          </a:p>
          <a:p>
            <a:pPr marL="268288" indent="-268288" eaLnBrk="1" hangingPunct="1"/>
            <a:endParaRPr lang="en-US" altLang="ko-KR" sz="2400" dirty="0" smtClean="0">
              <a:ea typeface="굴림" pitchFamily="50" charset="-127"/>
            </a:endParaRPr>
          </a:p>
        </p:txBody>
      </p:sp>
      <p:graphicFrame>
        <p:nvGraphicFramePr>
          <p:cNvPr id="6146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974725" y="2057400"/>
          <a:ext cx="3536950" cy="143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Equation" r:id="rId3" imgW="1726920" imgH="698400" progId="Equation.3">
                  <p:embed/>
                </p:oleObj>
              </mc:Choice>
              <mc:Fallback>
                <p:oleObj name="Equation" r:id="rId3" imgW="1726920" imgH="698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4725" y="2057400"/>
                        <a:ext cx="3536950" cy="143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49" name="Picture 4" descr="ex4_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762000"/>
            <a:ext cx="3033712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err="1" smtClean="0">
                <a:ea typeface="굴림" pitchFamily="50" charset="-127"/>
              </a:rPr>
              <a:t>Método</a:t>
            </a:r>
            <a:r>
              <a:rPr lang="en-US" altLang="ko-KR" dirty="0" smtClean="0">
                <a:ea typeface="굴림" pitchFamily="50" charset="-127"/>
              </a:rPr>
              <a:t> de Jacobi    </a:t>
            </a:r>
          </a:p>
        </p:txBody>
      </p:sp>
      <p:sp>
        <p:nvSpPr>
          <p:cNvPr id="717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295400"/>
            <a:ext cx="8223250" cy="4800600"/>
          </a:xfrm>
        </p:spPr>
        <p:txBody>
          <a:bodyPr>
            <a:normAutofit fontScale="92500" lnSpcReduction="20000"/>
          </a:bodyPr>
          <a:lstStyle/>
          <a:p>
            <a:pPr marL="268288" indent="-268288" eaLnBrk="1" hangingPunct="1"/>
            <a:r>
              <a:rPr lang="en-US" altLang="ko-KR" sz="2000" dirty="0" err="1" smtClean="0">
                <a:solidFill>
                  <a:srgbClr val="000000"/>
                </a:solidFill>
                <a:ea typeface="굴림" pitchFamily="50" charset="-127"/>
              </a:rPr>
              <a:t>Considere</a:t>
            </a:r>
            <a:r>
              <a:rPr lang="en-US" altLang="ko-KR" sz="2000" dirty="0" smtClean="0">
                <a:solidFill>
                  <a:srgbClr val="000000"/>
                </a:solidFill>
                <a:ea typeface="굴림" pitchFamily="50" charset="-127"/>
              </a:rPr>
              <a:t> o Sistema 3x3</a:t>
            </a:r>
          </a:p>
          <a:p>
            <a:pPr marL="268288" indent="-268288" eaLnBrk="1" hangingPunct="1"/>
            <a:endParaRPr lang="en-US" altLang="ko-KR" sz="20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0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0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0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0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0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0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0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0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>
              <a:buFontTx/>
              <a:buNone/>
            </a:pPr>
            <a:endParaRPr lang="en-US" altLang="ko-KR" sz="20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0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r>
              <a:rPr lang="en-US" altLang="ko-KR" sz="2000" dirty="0" err="1" smtClean="0">
                <a:solidFill>
                  <a:srgbClr val="000000"/>
                </a:solidFill>
                <a:ea typeface="굴림" pitchFamily="50" charset="-127"/>
              </a:rPr>
              <a:t>estimativa</a:t>
            </a:r>
            <a:r>
              <a:rPr lang="en-US" altLang="ko-KR" sz="2000" dirty="0" smtClean="0">
                <a:solidFill>
                  <a:srgbClr val="000000"/>
                </a:solidFill>
                <a:ea typeface="굴림" pitchFamily="50" charset="-127"/>
              </a:rPr>
              <a:t> </a:t>
            </a:r>
          </a:p>
        </p:txBody>
      </p:sp>
      <p:graphicFrame>
        <p:nvGraphicFramePr>
          <p:cNvPr id="717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860550" y="1752600"/>
          <a:ext cx="1878013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name="Equation" r:id="rId3" imgW="952200" imgH="571320" progId="Equation.3">
                  <p:embed/>
                </p:oleObj>
              </mc:Choice>
              <mc:Fallback>
                <p:oleObj name="Equation" r:id="rId3" imgW="952200" imgH="5713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550" y="1752600"/>
                        <a:ext cx="1878013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98500" y="4191000"/>
          <a:ext cx="4946650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name="Equation" r:id="rId5" imgW="2514600" imgH="672840" progId="Equation.3">
                  <p:embed/>
                </p:oleObj>
              </mc:Choice>
              <mc:Fallback>
                <p:oleObj name="Equation" r:id="rId5" imgW="2514600" imgH="6728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" y="4191000"/>
                        <a:ext cx="4946650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7" name="Group 5"/>
          <p:cNvGrpSpPr>
            <a:grpSpLocks/>
          </p:cNvGrpSpPr>
          <p:nvPr/>
        </p:nvGrpSpPr>
        <p:grpSpPr bwMode="auto">
          <a:xfrm>
            <a:off x="1066800" y="2971800"/>
            <a:ext cx="3155950" cy="1079500"/>
            <a:chOff x="3840" y="2410"/>
            <a:chExt cx="1988" cy="680"/>
          </a:xfrm>
        </p:grpSpPr>
        <p:graphicFrame>
          <p:nvGraphicFramePr>
            <p:cNvPr id="7173" name="Object 6"/>
            <p:cNvGraphicFramePr>
              <a:graphicFrameLocks noChangeAspect="1"/>
            </p:cNvGraphicFramePr>
            <p:nvPr/>
          </p:nvGraphicFramePr>
          <p:xfrm>
            <a:off x="3840" y="2410"/>
            <a:ext cx="1210" cy="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6" name="Equation" r:id="rId7" imgW="1015920" imgH="571320" progId="Equation.3">
                    <p:embed/>
                  </p:oleObj>
                </mc:Choice>
                <mc:Fallback>
                  <p:oleObj name="Equation" r:id="rId7" imgW="1015920" imgH="57132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2410"/>
                          <a:ext cx="1210" cy="6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4" name="Object 7"/>
            <p:cNvGraphicFramePr>
              <a:graphicFrameLocks noChangeAspect="1"/>
            </p:cNvGraphicFramePr>
            <p:nvPr/>
          </p:nvGraphicFramePr>
          <p:xfrm>
            <a:off x="4572" y="2417"/>
            <a:ext cx="1256" cy="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7" name="Equation" r:id="rId9" imgW="1054080" imgH="545760" progId="Equation.3">
                    <p:embed/>
                  </p:oleObj>
                </mc:Choice>
                <mc:Fallback>
                  <p:oleObj name="Equation" r:id="rId9" imgW="1054080" imgH="54576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" y="2417"/>
                          <a:ext cx="1256" cy="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7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6949721"/>
              </p:ext>
            </p:extLst>
          </p:nvPr>
        </p:nvGraphicFramePr>
        <p:xfrm>
          <a:off x="2324030" y="5505358"/>
          <a:ext cx="14208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name="Equation" r:id="rId11" imgW="711000" imgH="215640" progId="Equation.3">
                  <p:embed/>
                </p:oleObj>
              </mc:Choice>
              <mc:Fallback>
                <p:oleObj name="Equation" r:id="rId11" imgW="71100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030" y="5505358"/>
                        <a:ext cx="14208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8" name="Picture 10" descr="ex4_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685800"/>
            <a:ext cx="2743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15950" y="1295400"/>
            <a:ext cx="4184650" cy="4800600"/>
          </a:xfrm>
        </p:spPr>
        <p:txBody>
          <a:bodyPr>
            <a:normAutofit/>
          </a:bodyPr>
          <a:lstStyle/>
          <a:p>
            <a:pPr marL="268288" indent="-268288"/>
            <a:r>
              <a:rPr lang="pt-BR" sz="2400" dirty="0"/>
              <a:t>Discussão</a:t>
            </a:r>
          </a:p>
          <a:p>
            <a:pPr marL="268288" indent="-268288" eaLnBrk="1" hangingPunct="1"/>
            <a:endParaRPr lang="en-US" altLang="ko-KR" sz="24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4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4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400" dirty="0" smtClean="0">
              <a:solidFill>
                <a:srgbClr val="000000"/>
              </a:solidFill>
              <a:ea typeface="굴림" pitchFamily="50" charset="-127"/>
            </a:endParaRPr>
          </a:p>
          <a:p>
            <a:r>
              <a:rPr lang="pt-BR" dirty="0"/>
              <a:t>Uma condição necessária e suficiente para a convergência do método de Jacobi</a:t>
            </a:r>
          </a:p>
          <a:p>
            <a:pPr lvl="1"/>
            <a:r>
              <a:rPr lang="pt-BR" dirty="0"/>
              <a:t>A magnitude do maior autovalor da matriz de iteração C seja menor que 1</a:t>
            </a:r>
          </a:p>
        </p:txBody>
      </p:sp>
      <p:grpSp>
        <p:nvGrpSpPr>
          <p:cNvPr id="8202" name="Group 4"/>
          <p:cNvGrpSpPr>
            <a:grpSpLocks/>
          </p:cNvGrpSpPr>
          <p:nvPr/>
        </p:nvGrpSpPr>
        <p:grpSpPr bwMode="auto">
          <a:xfrm>
            <a:off x="1250950" y="1836738"/>
            <a:ext cx="3033713" cy="760412"/>
            <a:chOff x="939" y="1248"/>
            <a:chExt cx="1911" cy="479"/>
          </a:xfrm>
        </p:grpSpPr>
        <p:graphicFrame>
          <p:nvGraphicFramePr>
            <p:cNvPr id="8198" name="Object 5"/>
            <p:cNvGraphicFramePr>
              <a:graphicFrameLocks noChangeAspect="1"/>
            </p:cNvGraphicFramePr>
            <p:nvPr/>
          </p:nvGraphicFramePr>
          <p:xfrm>
            <a:off x="939" y="1248"/>
            <a:ext cx="719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6" name="Equation" r:id="rId3" imgW="558720" imgH="368280" progId="Equation.3">
                    <p:embed/>
                  </p:oleObj>
                </mc:Choice>
                <mc:Fallback>
                  <p:oleObj name="Equation" r:id="rId3" imgW="558720" imgH="36828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9" y="1248"/>
                          <a:ext cx="719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9" name="Object 6"/>
            <p:cNvGraphicFramePr>
              <a:graphicFrameLocks noChangeAspect="1"/>
            </p:cNvGraphicFramePr>
            <p:nvPr/>
          </p:nvGraphicFramePr>
          <p:xfrm>
            <a:off x="2050" y="1263"/>
            <a:ext cx="800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7" name="Equation" r:id="rId5" imgW="634680" imgH="368280" progId="Equation.3">
                    <p:embed/>
                  </p:oleObj>
                </mc:Choice>
                <mc:Fallback>
                  <p:oleObj name="Equation" r:id="rId5" imgW="634680" imgH="36828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0" y="1263"/>
                          <a:ext cx="800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3" name="AutoShape 7"/>
            <p:cNvSpPr>
              <a:spLocks noChangeArrowheads="1"/>
            </p:cNvSpPr>
            <p:nvPr/>
          </p:nvSpPr>
          <p:spPr bwMode="auto">
            <a:xfrm>
              <a:off x="1701" y="1344"/>
              <a:ext cx="272" cy="27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/>
            </a:p>
          </p:txBody>
        </p:sp>
      </p:grpSp>
      <p:grpSp>
        <p:nvGrpSpPr>
          <p:cNvPr id="8203" name="Group 8"/>
          <p:cNvGrpSpPr>
            <a:grpSpLocks/>
          </p:cNvGrpSpPr>
          <p:nvPr/>
        </p:nvGrpSpPr>
        <p:grpSpPr bwMode="auto">
          <a:xfrm>
            <a:off x="5029200" y="1066800"/>
            <a:ext cx="3937000" cy="4114800"/>
            <a:chOff x="2977" y="1298"/>
            <a:chExt cx="2624" cy="2375"/>
          </a:xfrm>
        </p:grpSpPr>
        <p:pic>
          <p:nvPicPr>
            <p:cNvPr id="8204" name="Picture 9" descr="fi4_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7" y="1701"/>
              <a:ext cx="2543" cy="19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5" name="Line 10"/>
            <p:cNvSpPr>
              <a:spLocks noChangeShapeType="1"/>
            </p:cNvSpPr>
            <p:nvPr/>
          </p:nvSpPr>
          <p:spPr bwMode="auto">
            <a:xfrm flipV="1">
              <a:off x="3651" y="1525"/>
              <a:ext cx="0" cy="20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06" name="Text Box 11"/>
            <p:cNvSpPr txBox="1">
              <a:spLocks noChangeArrowheads="1"/>
            </p:cNvSpPr>
            <p:nvPr/>
          </p:nvSpPr>
          <p:spPr bwMode="auto">
            <a:xfrm>
              <a:off x="3514" y="1298"/>
              <a:ext cx="273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latinLnBrk="1" hangingPunct="1">
                <a:spcBef>
                  <a:spcPct val="50000"/>
                </a:spcBef>
              </a:pPr>
              <a:r>
                <a:rPr kumimoji="1" lang="en-US" altLang="ko-KR" sz="2400">
                  <a:latin typeface="Garamond" panose="02020404030301010803" pitchFamily="18" charset="0"/>
                  <a:ea typeface="굴림" pitchFamily="50" charset="-127"/>
                </a:rPr>
                <a:t>y</a:t>
              </a:r>
            </a:p>
          </p:txBody>
        </p:sp>
        <p:sp>
          <p:nvSpPr>
            <p:cNvPr id="8207" name="Line 12"/>
            <p:cNvSpPr>
              <a:spLocks noChangeShapeType="1"/>
            </p:cNvSpPr>
            <p:nvPr/>
          </p:nvSpPr>
          <p:spPr bwMode="auto">
            <a:xfrm flipV="1">
              <a:off x="3833" y="2432"/>
              <a:ext cx="0" cy="6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08" name="Line 13"/>
            <p:cNvSpPr>
              <a:spLocks noChangeShapeType="1"/>
            </p:cNvSpPr>
            <p:nvPr/>
          </p:nvSpPr>
          <p:spPr bwMode="auto">
            <a:xfrm flipH="1">
              <a:off x="3651" y="243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09" name="Line 14"/>
            <p:cNvSpPr>
              <a:spLocks noChangeShapeType="1"/>
            </p:cNvSpPr>
            <p:nvPr/>
          </p:nvSpPr>
          <p:spPr bwMode="auto">
            <a:xfrm>
              <a:off x="3651" y="2976"/>
              <a:ext cx="15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0" name="Line 15"/>
            <p:cNvSpPr>
              <a:spLocks noChangeShapeType="1"/>
            </p:cNvSpPr>
            <p:nvPr/>
          </p:nvSpPr>
          <p:spPr bwMode="auto">
            <a:xfrm>
              <a:off x="5193" y="2976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1" name="Line 16"/>
            <p:cNvSpPr>
              <a:spLocks noChangeShapeType="1"/>
            </p:cNvSpPr>
            <p:nvPr/>
          </p:nvSpPr>
          <p:spPr bwMode="auto">
            <a:xfrm>
              <a:off x="3016" y="3067"/>
              <a:ext cx="24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212" name="Text Box 17"/>
            <p:cNvSpPr txBox="1">
              <a:spLocks noChangeArrowheads="1"/>
            </p:cNvSpPr>
            <p:nvPr/>
          </p:nvSpPr>
          <p:spPr bwMode="auto">
            <a:xfrm>
              <a:off x="5329" y="3022"/>
              <a:ext cx="272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latinLnBrk="1" hangingPunct="1">
                <a:spcBef>
                  <a:spcPct val="50000"/>
                </a:spcBef>
              </a:pPr>
              <a:r>
                <a:rPr kumimoji="1" lang="en-US" altLang="ko-KR" sz="2400">
                  <a:latin typeface="Garamond" panose="02020404030301010803" pitchFamily="18" charset="0"/>
                  <a:ea typeface="굴림" pitchFamily="50" charset="-127"/>
                </a:rPr>
                <a:t>x</a:t>
              </a:r>
            </a:p>
          </p:txBody>
        </p:sp>
        <p:graphicFrame>
          <p:nvGraphicFramePr>
            <p:cNvPr id="8194" name="Object 18"/>
            <p:cNvGraphicFramePr>
              <a:graphicFrameLocks noChangeAspect="1"/>
            </p:cNvGraphicFramePr>
            <p:nvPr/>
          </p:nvGraphicFramePr>
          <p:xfrm>
            <a:off x="3696" y="3067"/>
            <a:ext cx="27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8" name="Equation" r:id="rId8" imgW="215640" imgH="190440" progId="Equation.3">
                    <p:embed/>
                  </p:oleObj>
                </mc:Choice>
                <mc:Fallback>
                  <p:oleObj name="Equation" r:id="rId8" imgW="215640" imgH="19044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067"/>
                          <a:ext cx="27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5" name="Object 19"/>
            <p:cNvGraphicFramePr>
              <a:graphicFrameLocks noChangeAspect="1"/>
            </p:cNvGraphicFramePr>
            <p:nvPr/>
          </p:nvGraphicFramePr>
          <p:xfrm>
            <a:off x="3379" y="2841"/>
            <a:ext cx="28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9" name="Equation" r:id="rId10" imgW="228600" imgH="215640" progId="Equation.3">
                    <p:embed/>
                  </p:oleObj>
                </mc:Choice>
                <mc:Fallback>
                  <p:oleObj name="Equation" r:id="rId10" imgW="228600" imgH="21564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2841"/>
                          <a:ext cx="28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6" name="Object 20"/>
            <p:cNvGraphicFramePr>
              <a:graphicFrameLocks noChangeAspect="1"/>
            </p:cNvGraphicFramePr>
            <p:nvPr/>
          </p:nvGraphicFramePr>
          <p:xfrm>
            <a:off x="3334" y="2296"/>
            <a:ext cx="3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0" name="Equation" r:id="rId12" imgW="241200" imgH="215640" progId="Equation.3">
                    <p:embed/>
                  </p:oleObj>
                </mc:Choice>
                <mc:Fallback>
                  <p:oleObj name="Equation" r:id="rId12" imgW="241200" imgH="21564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4" y="2296"/>
                          <a:ext cx="30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97" name="Object 21"/>
            <p:cNvGraphicFramePr>
              <a:graphicFrameLocks noChangeAspect="1"/>
            </p:cNvGraphicFramePr>
            <p:nvPr/>
          </p:nvGraphicFramePr>
          <p:xfrm>
            <a:off x="5041" y="3067"/>
            <a:ext cx="28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1" name="Equation" r:id="rId14" imgW="228600" imgH="190440" progId="Equation.3">
                    <p:embed/>
                  </p:oleObj>
                </mc:Choice>
                <mc:Fallback>
                  <p:oleObj name="Equation" r:id="rId14" imgW="228600" imgH="19044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1" y="3067"/>
                          <a:ext cx="28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Rectangle 2"/>
          <p:cNvSpPr txBox="1">
            <a:spLocks noChangeArrowheads="1"/>
          </p:cNvSpPr>
          <p:nvPr/>
        </p:nvSpPr>
        <p:spPr>
          <a:xfrm>
            <a:off x="762000" y="457200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ko-KR" smtClean="0">
                <a:ea typeface="굴림" pitchFamily="50" charset="-127"/>
              </a:rPr>
              <a:t>Método de Jacobi    </a:t>
            </a:r>
            <a:endParaRPr lang="en-US" altLang="ko-KR" dirty="0" smtClean="0">
              <a:ea typeface="굴림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Text Box 3"/>
          <p:cNvSpPr txBox="1">
            <a:spLocks noChangeArrowheads="1"/>
          </p:cNvSpPr>
          <p:nvPr/>
        </p:nvSpPr>
        <p:spPr bwMode="auto">
          <a:xfrm>
            <a:off x="609600" y="13716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Consider the following set of equations.</a:t>
            </a:r>
          </a:p>
        </p:txBody>
      </p:sp>
      <p:graphicFrame>
        <p:nvGraphicFramePr>
          <p:cNvPr id="15362" name="Object 4"/>
          <p:cNvGraphicFramePr>
            <a:graphicFrameLocks noChangeAspect="1"/>
          </p:cNvGraphicFramePr>
          <p:nvPr/>
        </p:nvGraphicFramePr>
        <p:xfrm>
          <a:off x="990600" y="1828800"/>
          <a:ext cx="4014788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1" name="Equation" r:id="rId3" imgW="2209680" imgH="914400" progId="Equation.3">
                  <p:embed/>
                </p:oleObj>
              </mc:Choice>
              <mc:Fallback>
                <p:oleObj name="Equation" r:id="rId3" imgW="220968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828800"/>
                        <a:ext cx="4014788" cy="166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6" name="Rectangle 5"/>
          <p:cNvSpPr>
            <a:spLocks noChangeArrowheads="1"/>
          </p:cNvSpPr>
          <p:nvPr/>
        </p:nvSpPr>
        <p:spPr bwMode="auto">
          <a:xfrm>
            <a:off x="533400" y="3505200"/>
            <a:ext cx="678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008000"/>
                </a:solidFill>
              </a:rPr>
              <a:t>Convert the set </a:t>
            </a:r>
            <a:r>
              <a:rPr lang="en-US" b="1">
                <a:solidFill>
                  <a:srgbClr val="FF0000"/>
                </a:solidFill>
              </a:rPr>
              <a:t>Ax = b</a:t>
            </a:r>
            <a:r>
              <a:rPr lang="en-US" b="1">
                <a:solidFill>
                  <a:srgbClr val="008000"/>
                </a:solidFill>
              </a:rPr>
              <a:t> in the form of </a:t>
            </a:r>
            <a:r>
              <a:rPr lang="en-US" b="1">
                <a:solidFill>
                  <a:srgbClr val="FF0000"/>
                </a:solidFill>
              </a:rPr>
              <a:t>x = Tx + c</a:t>
            </a:r>
            <a:r>
              <a:rPr lang="en-US" b="1">
                <a:solidFill>
                  <a:srgbClr val="008000"/>
                </a:solidFill>
              </a:rPr>
              <a:t>.</a:t>
            </a:r>
          </a:p>
        </p:txBody>
      </p:sp>
      <p:graphicFrame>
        <p:nvGraphicFramePr>
          <p:cNvPr id="15363" name="Object 6"/>
          <p:cNvGraphicFramePr>
            <a:graphicFrameLocks noChangeAspect="1"/>
          </p:cNvGraphicFramePr>
          <p:nvPr/>
        </p:nvGraphicFramePr>
        <p:xfrm>
          <a:off x="609600" y="3962400"/>
          <a:ext cx="51054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name="Equation" r:id="rId5" imgW="3340080" imgH="1473120" progId="Equation.3">
                  <p:embed/>
                </p:oleObj>
              </mc:Choice>
              <mc:Fallback>
                <p:oleObj name="Equation" r:id="rId5" imgW="3340080" imgH="14731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962400"/>
                        <a:ext cx="51054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371600" y="609600"/>
            <a:ext cx="8229600" cy="8382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ko-KR" dirty="0" err="1" smtClean="0">
                <a:ea typeface="굴림" pitchFamily="50" charset="-127"/>
              </a:rPr>
              <a:t>Metodo</a:t>
            </a:r>
            <a:r>
              <a:rPr lang="en-US" altLang="ko-KR" dirty="0" smtClean="0">
                <a:ea typeface="굴림" pitchFamily="50" charset="-127"/>
              </a:rPr>
              <a:t> de Jacobi: </a:t>
            </a:r>
            <a:r>
              <a:rPr lang="en-US" altLang="ko-KR" dirty="0" err="1" smtClean="0">
                <a:ea typeface="굴림" pitchFamily="50" charset="-127"/>
              </a:rPr>
              <a:t>exemplo</a:t>
            </a:r>
            <a:endParaRPr lang="en-US" altLang="ko-KR" dirty="0" smtClean="0"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838200" y="1371600"/>
          <a:ext cx="51816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9" name="Equation" r:id="rId3" imgW="3517560" imgH="1473120" progId="Equation.3">
                  <p:embed/>
                </p:oleObj>
              </mc:Choice>
              <mc:Fallback>
                <p:oleObj name="Equation" r:id="rId3" imgW="3517560" imgH="14731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371600"/>
                        <a:ext cx="5181600" cy="19050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4"/>
          <p:cNvGraphicFramePr>
            <a:graphicFrameLocks noChangeAspect="1"/>
          </p:cNvGraphicFramePr>
          <p:nvPr/>
        </p:nvGraphicFramePr>
        <p:xfrm>
          <a:off x="609600" y="3429000"/>
          <a:ext cx="41910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0" name="Equation" r:id="rId5" imgW="2425680" imgH="253800" progId="Equation.3">
                  <p:embed/>
                </p:oleObj>
              </mc:Choice>
              <mc:Fallback>
                <p:oleObj name="Equation" r:id="rId5" imgW="2425680" imgH="253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429000"/>
                        <a:ext cx="419100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5"/>
          <p:cNvGraphicFramePr>
            <a:graphicFrameLocks noChangeAspect="1"/>
          </p:cNvGraphicFramePr>
          <p:nvPr/>
        </p:nvGraphicFramePr>
        <p:xfrm>
          <a:off x="914400" y="4038600"/>
          <a:ext cx="5334000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name="Equation" r:id="rId7" imgW="3213000" imgH="1473120" progId="Equation.3">
                  <p:embed/>
                </p:oleObj>
              </mc:Choice>
              <mc:Fallback>
                <p:oleObj name="Equation" r:id="rId7" imgW="3213000" imgH="14731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038600"/>
                        <a:ext cx="5334000" cy="19240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6"/>
          <p:cNvGraphicFramePr>
            <a:graphicFrameLocks noChangeAspect="1"/>
          </p:cNvGraphicFramePr>
          <p:nvPr/>
        </p:nvGraphicFramePr>
        <p:xfrm>
          <a:off x="6553200" y="4267200"/>
          <a:ext cx="2062163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2" name="Equation" r:id="rId9" imgW="977760" imgH="1041120" progId="Equation.3">
                  <p:embed/>
                </p:oleObj>
              </mc:Choice>
              <mc:Fallback>
                <p:oleObj name="Equation" r:id="rId9" imgW="977760" imgH="10411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267200"/>
                        <a:ext cx="2062163" cy="1987550"/>
                      </a:xfrm>
                      <a:prstGeom prst="rect">
                        <a:avLst/>
                      </a:prstGeom>
                      <a:solidFill>
                        <a:srgbClr val="CC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371600" y="609600"/>
            <a:ext cx="8229600" cy="8382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ko-KR" dirty="0" err="1" smtClean="0">
                <a:ea typeface="굴림" pitchFamily="50" charset="-127"/>
              </a:rPr>
              <a:t>Metodo</a:t>
            </a:r>
            <a:r>
              <a:rPr lang="en-US" altLang="ko-KR" dirty="0" smtClean="0">
                <a:ea typeface="굴림" pitchFamily="50" charset="-127"/>
              </a:rPr>
              <a:t> de Jacobi: </a:t>
            </a:r>
            <a:r>
              <a:rPr lang="en-US" altLang="ko-KR" dirty="0" err="1" smtClean="0">
                <a:ea typeface="굴림" pitchFamily="50" charset="-127"/>
              </a:rPr>
              <a:t>exemplo</a:t>
            </a:r>
            <a:endParaRPr lang="en-US" altLang="ko-KR" dirty="0" smtClean="0"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4"/>
          <p:cNvGraphicFramePr>
            <a:graphicFrameLocks noChangeAspect="1"/>
          </p:cNvGraphicFramePr>
          <p:nvPr/>
        </p:nvGraphicFramePr>
        <p:xfrm>
          <a:off x="609600" y="1371600"/>
          <a:ext cx="5486400" cy="210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Equation" r:id="rId3" imgW="3479760" imgH="1473120" progId="Equation.3">
                  <p:embed/>
                </p:oleObj>
              </mc:Choice>
              <mc:Fallback>
                <p:oleObj name="Equation" r:id="rId3" imgW="3479760" imgH="14731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371600"/>
                        <a:ext cx="5486400" cy="21097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5"/>
          <p:cNvGraphicFramePr>
            <a:graphicFrameLocks noChangeAspect="1"/>
          </p:cNvGraphicFramePr>
          <p:nvPr/>
        </p:nvGraphicFramePr>
        <p:xfrm>
          <a:off x="609600" y="4038600"/>
          <a:ext cx="5500688" cy="207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Equation" r:id="rId5" imgW="3898800" imgH="1473120" progId="Equation.3">
                  <p:embed/>
                </p:oleObj>
              </mc:Choice>
              <mc:Fallback>
                <p:oleObj name="Equation" r:id="rId5" imgW="3898800" imgH="147312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038600"/>
                        <a:ext cx="5500688" cy="207803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371600" y="609600"/>
            <a:ext cx="8229600" cy="8382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ko-KR" dirty="0" err="1" smtClean="0">
                <a:ea typeface="굴림" pitchFamily="50" charset="-127"/>
              </a:rPr>
              <a:t>Metodo</a:t>
            </a:r>
            <a:r>
              <a:rPr lang="en-US" altLang="ko-KR" dirty="0" smtClean="0">
                <a:ea typeface="굴림" pitchFamily="50" charset="-127"/>
              </a:rPr>
              <a:t> de Jacobi: </a:t>
            </a:r>
            <a:r>
              <a:rPr lang="en-US" altLang="ko-KR" dirty="0" err="1" smtClean="0">
                <a:ea typeface="굴림" pitchFamily="50" charset="-127"/>
              </a:rPr>
              <a:t>exemplo</a:t>
            </a:r>
            <a:endParaRPr lang="en-US" altLang="ko-KR" dirty="0" smtClean="0"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30" name="Group 50"/>
          <p:cNvGraphicFramePr>
            <a:graphicFrameLocks noGrp="1"/>
          </p:cNvGraphicFramePr>
          <p:nvPr/>
        </p:nvGraphicFramePr>
        <p:xfrm>
          <a:off x="762000" y="1828800"/>
          <a:ext cx="7620000" cy="4191000"/>
        </p:xfrm>
        <a:graphic>
          <a:graphicData uri="http://schemas.openxmlformats.org/drawingml/2006/table">
            <a:tbl>
              <a:tblPr/>
              <a:tblGrid>
                <a:gridCol w="1371600"/>
                <a:gridCol w="1676400"/>
                <a:gridCol w="1447800"/>
                <a:gridCol w="1524000"/>
                <a:gridCol w="16002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iteration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endParaRPr kumimoji="0" lang="en-CA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0.6000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1.0473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0.9326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endParaRPr kumimoji="0" lang="en-CA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2.2727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1.7159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2.0530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endParaRPr kumimoji="0" lang="en-CA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-1.1000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-0.8052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-1.0493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endParaRPr kumimoji="0" lang="en-CA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0.0000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1.8750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0.8852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 1.1309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434" name="Object 40"/>
          <p:cNvGraphicFramePr>
            <a:graphicFrameLocks noChangeAspect="1"/>
          </p:cNvGraphicFramePr>
          <p:nvPr/>
        </p:nvGraphicFramePr>
        <p:xfrm>
          <a:off x="914400" y="2362200"/>
          <a:ext cx="10668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6" name="Equation" r:id="rId3" imgW="304560" imgH="241200" progId="Equation.3">
                  <p:embed/>
                </p:oleObj>
              </mc:Choice>
              <mc:Fallback>
                <p:oleObj name="Equation" r:id="rId3" imgW="304560" imgH="24120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362200"/>
                        <a:ext cx="106680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41"/>
          <p:cNvGraphicFramePr>
            <a:graphicFrameLocks noChangeAspect="1"/>
          </p:cNvGraphicFramePr>
          <p:nvPr/>
        </p:nvGraphicFramePr>
        <p:xfrm>
          <a:off x="914400" y="3276600"/>
          <a:ext cx="11430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7" name="Equation" r:id="rId5" imgW="330120" imgH="241200" progId="Equation.3">
                  <p:embed/>
                </p:oleObj>
              </mc:Choice>
              <mc:Fallback>
                <p:oleObj name="Equation" r:id="rId5" imgW="330120" imgH="2412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276600"/>
                        <a:ext cx="114300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2"/>
          <p:cNvGraphicFramePr>
            <a:graphicFrameLocks noChangeAspect="1"/>
          </p:cNvGraphicFramePr>
          <p:nvPr/>
        </p:nvGraphicFramePr>
        <p:xfrm>
          <a:off x="914400" y="4191000"/>
          <a:ext cx="1143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8" name="Equation" r:id="rId7" imgW="317160" imgH="253800" progId="Equation.3">
                  <p:embed/>
                </p:oleObj>
              </mc:Choice>
              <mc:Fallback>
                <p:oleObj name="Equation" r:id="rId7" imgW="317160" imgH="2538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191000"/>
                        <a:ext cx="1143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43"/>
          <p:cNvGraphicFramePr>
            <a:graphicFrameLocks noChangeAspect="1"/>
          </p:cNvGraphicFramePr>
          <p:nvPr/>
        </p:nvGraphicFramePr>
        <p:xfrm>
          <a:off x="914400" y="5105400"/>
          <a:ext cx="11430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9" name="Equation" r:id="rId9" imgW="330120" imgH="241200" progId="Equation.3">
                  <p:embed/>
                </p:oleObj>
              </mc:Choice>
              <mc:Fallback>
                <p:oleObj name="Equation" r:id="rId9" imgW="330120" imgH="2412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105400"/>
                        <a:ext cx="114300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6" name="Text Box 44"/>
          <p:cNvSpPr txBox="1">
            <a:spLocks noChangeArrowheads="1"/>
          </p:cNvSpPr>
          <p:nvPr/>
        </p:nvSpPr>
        <p:spPr bwMode="auto">
          <a:xfrm>
            <a:off x="609600" y="1295400"/>
            <a:ext cx="746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>
                <a:solidFill>
                  <a:srgbClr val="000000"/>
                </a:solidFill>
                <a:latin typeface="Tahoma" panose="020B0604030504040204" pitchFamily="34" charset="0"/>
              </a:rPr>
              <a:t>Results:   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371600" y="609600"/>
            <a:ext cx="8229600" cy="8382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ko-KR" dirty="0" err="1" smtClean="0">
                <a:ea typeface="굴림" pitchFamily="50" charset="-127"/>
              </a:rPr>
              <a:t>Metodo</a:t>
            </a:r>
            <a:r>
              <a:rPr lang="en-US" altLang="ko-KR" dirty="0" smtClean="0">
                <a:ea typeface="굴림" pitchFamily="50" charset="-127"/>
              </a:rPr>
              <a:t> de Jacobi: </a:t>
            </a:r>
            <a:r>
              <a:rPr lang="en-US" altLang="ko-KR" dirty="0" err="1" smtClean="0">
                <a:ea typeface="굴림" pitchFamily="50" charset="-127"/>
              </a:rPr>
              <a:t>exemplo</a:t>
            </a:r>
            <a:endParaRPr lang="en-US" altLang="ko-KR" dirty="0" smtClean="0"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Método </a:t>
            </a:r>
            <a:r>
              <a:rPr lang="pt-BR" dirty="0" smtClean="0"/>
              <a:t>de </a:t>
            </a:r>
            <a:r>
              <a:rPr lang="pt-BR" dirty="0" err="1" smtClean="0"/>
              <a:t>gauss</a:t>
            </a:r>
            <a:r>
              <a:rPr lang="pt-BR" dirty="0" smtClean="0"/>
              <a:t> </a:t>
            </a:r>
            <a:r>
              <a:rPr lang="pt-BR" dirty="0" err="1" smtClean="0"/>
              <a:t>seidel</a:t>
            </a:r>
            <a:r>
              <a:rPr lang="pt-BR" dirty="0" smtClean="0"/>
              <a:t> com </a:t>
            </a:r>
            <a:r>
              <a:rPr lang="pt-BR" dirty="0"/>
              <a:t>exemplos</a:t>
            </a:r>
          </a:p>
        </p:txBody>
      </p:sp>
      <p:sp>
        <p:nvSpPr>
          <p:cNvPr id="513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295400"/>
            <a:ext cx="4876800" cy="4953000"/>
          </a:xfrm>
        </p:spPr>
        <p:txBody>
          <a:bodyPr/>
          <a:lstStyle/>
          <a:p>
            <a:pPr marL="268288" indent="-268288"/>
            <a:r>
              <a:rPr lang="pt-BR" sz="2000" dirty="0"/>
              <a:t>Considere o sistema dois por </a:t>
            </a:r>
            <a:r>
              <a:rPr lang="pt-BR" sz="2000" dirty="0" smtClean="0"/>
              <a:t>dois</a:t>
            </a:r>
            <a:endParaRPr lang="en-US" altLang="ko-KR" sz="20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000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r>
              <a:rPr lang="en-US" altLang="ko-KR" sz="2000" dirty="0" err="1" smtClean="0">
                <a:solidFill>
                  <a:srgbClr val="000000"/>
                </a:solidFill>
                <a:ea typeface="굴림" pitchFamily="50" charset="-127"/>
              </a:rPr>
              <a:t>estimativas</a:t>
            </a:r>
            <a:r>
              <a:rPr lang="en-US" altLang="ko-KR" sz="2000" dirty="0" smtClean="0">
                <a:solidFill>
                  <a:srgbClr val="000000"/>
                </a:solidFill>
                <a:ea typeface="굴림" pitchFamily="50" charset="-127"/>
              </a:rPr>
              <a:t>               </a:t>
            </a:r>
          </a:p>
          <a:p>
            <a:pPr marL="268288" indent="-268288" eaLnBrk="1" hangingPunct="1"/>
            <a:endParaRPr lang="en-US" altLang="ko-KR" sz="2000" i="1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endParaRPr lang="en-US" altLang="ko-KR" sz="2000" i="1" dirty="0" smtClean="0">
              <a:solidFill>
                <a:srgbClr val="000000"/>
              </a:solidFill>
              <a:ea typeface="굴림" pitchFamily="50" charset="-127"/>
            </a:endParaRPr>
          </a:p>
          <a:p>
            <a:pPr marL="268288" indent="-268288" eaLnBrk="1" hangingPunct="1"/>
            <a:r>
              <a:rPr lang="en-US" altLang="ko-KR" sz="2000" i="1" dirty="0" smtClean="0">
                <a:solidFill>
                  <a:srgbClr val="000000"/>
                </a:solidFill>
                <a:ea typeface="굴림" pitchFamily="50" charset="-127"/>
              </a:rPr>
              <a:t>Update de </a:t>
            </a:r>
            <a:r>
              <a:rPr lang="en-US" altLang="ko-KR" sz="2000" i="1" dirty="0" err="1" smtClean="0">
                <a:solidFill>
                  <a:srgbClr val="000000"/>
                </a:solidFill>
                <a:ea typeface="굴림" pitchFamily="50" charset="-127"/>
              </a:rPr>
              <a:t>valores</a:t>
            </a:r>
            <a:r>
              <a:rPr lang="en-US" altLang="ko-KR" sz="2000" i="1" dirty="0" smtClean="0">
                <a:solidFill>
                  <a:srgbClr val="000000"/>
                </a:solidFill>
                <a:ea typeface="굴림" pitchFamily="50" charset="-127"/>
              </a:rPr>
              <a:t> </a:t>
            </a:r>
            <a:r>
              <a:rPr lang="en-US" altLang="ko-KR" sz="2000" i="1" dirty="0" err="1" smtClean="0">
                <a:solidFill>
                  <a:srgbClr val="000000"/>
                </a:solidFill>
                <a:ea typeface="굴림" pitchFamily="50" charset="-127"/>
              </a:rPr>
              <a:t>sao</a:t>
            </a:r>
            <a:r>
              <a:rPr lang="en-US" altLang="ko-KR" sz="2000" i="1" dirty="0" smtClean="0">
                <a:solidFill>
                  <a:srgbClr val="000000"/>
                </a:solidFill>
                <a:ea typeface="굴림" pitchFamily="50" charset="-127"/>
              </a:rPr>
              <a:t> </a:t>
            </a:r>
            <a:r>
              <a:rPr lang="en-US" altLang="ko-KR" sz="2000" i="1" dirty="0" err="1" smtClean="0">
                <a:solidFill>
                  <a:srgbClr val="000000"/>
                </a:solidFill>
                <a:ea typeface="굴림" pitchFamily="50" charset="-127"/>
              </a:rPr>
              <a:t>simultaneos</a:t>
            </a:r>
            <a:endParaRPr lang="en-US" altLang="ko-KR" sz="2000" i="1" dirty="0" smtClean="0">
              <a:solidFill>
                <a:srgbClr val="000000"/>
              </a:solidFill>
              <a:ea typeface="굴림" pitchFamily="50" charset="-127"/>
            </a:endParaRPr>
          </a:p>
          <a:p>
            <a:r>
              <a:rPr lang="pt-BR" dirty="0"/>
              <a:t>Novos valores das variáveis </a:t>
            </a:r>
            <a:r>
              <a:rPr lang="pt-BR" dirty="0" smtClean="0"/>
              <a:t>​​são </a:t>
            </a:r>
            <a:r>
              <a:rPr lang="pt-BR" dirty="0"/>
              <a:t>usados </a:t>
            </a:r>
            <a:r>
              <a:rPr lang="pt-BR" dirty="0" smtClean="0"/>
              <a:t>​​na iteração atual </a:t>
            </a:r>
            <a:endParaRPr lang="pt-BR" dirty="0"/>
          </a:p>
        </p:txBody>
      </p:sp>
      <p:graphicFrame>
        <p:nvGraphicFramePr>
          <p:cNvPr id="512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475336394"/>
              </p:ext>
            </p:extLst>
          </p:nvPr>
        </p:nvGraphicFramePr>
        <p:xfrm>
          <a:off x="2523472" y="2563812"/>
          <a:ext cx="768350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9" name="Equação" r:id="rId3" imgW="609480" imgH="203040" progId="Equation.3">
                  <p:embed/>
                </p:oleObj>
              </mc:Choice>
              <mc:Fallback>
                <p:oleObj name="Equação" r:id="rId3" imgW="6094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3472" y="2563812"/>
                        <a:ext cx="768350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040235"/>
              </p:ext>
            </p:extLst>
          </p:nvPr>
        </p:nvGraphicFramePr>
        <p:xfrm>
          <a:off x="1361222" y="4800600"/>
          <a:ext cx="3861200" cy="1222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0" name="Equação" r:id="rId5" imgW="2565360" imgH="812520" progId="Equation.3">
                  <p:embed/>
                </p:oleObj>
              </mc:Choice>
              <mc:Fallback>
                <p:oleObj name="Equação" r:id="rId5" imgW="256536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1222" y="4800600"/>
                        <a:ext cx="3861200" cy="12225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32" name="Group 6"/>
          <p:cNvGrpSpPr>
            <a:grpSpLocks/>
          </p:cNvGrpSpPr>
          <p:nvPr/>
        </p:nvGrpSpPr>
        <p:grpSpPr bwMode="auto">
          <a:xfrm>
            <a:off x="4953000" y="1168879"/>
            <a:ext cx="3239852" cy="1473679"/>
            <a:chOff x="937" y="983"/>
            <a:chExt cx="2017" cy="1025"/>
          </a:xfrm>
        </p:grpSpPr>
        <p:graphicFrame>
          <p:nvGraphicFramePr>
            <p:cNvPr id="5128" name="Object 7"/>
            <p:cNvGraphicFramePr>
              <a:graphicFrameLocks noChangeAspect="1"/>
            </p:cNvGraphicFramePr>
            <p:nvPr/>
          </p:nvGraphicFramePr>
          <p:xfrm>
            <a:off x="937" y="1245"/>
            <a:ext cx="718" cy="4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81" name="Equation" r:id="rId7" imgW="558720" imgH="368280" progId="Equation.3">
                    <p:embed/>
                  </p:oleObj>
                </mc:Choice>
                <mc:Fallback>
                  <p:oleObj name="Equation" r:id="rId7" imgW="55872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7" y="1245"/>
                          <a:ext cx="718" cy="4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1744460"/>
                </p:ext>
              </p:extLst>
            </p:nvPr>
          </p:nvGraphicFramePr>
          <p:xfrm>
            <a:off x="1946" y="983"/>
            <a:ext cx="1008" cy="1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82" name="Equação" r:id="rId9" imgW="799920" imgH="812520" progId="Equation.3">
                    <p:embed/>
                  </p:oleObj>
                </mc:Choice>
                <mc:Fallback>
                  <p:oleObj name="Equação" r:id="rId9" imgW="799920" imgH="8125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6" y="983"/>
                          <a:ext cx="1008" cy="1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41" name="AutoShape 9"/>
            <p:cNvSpPr>
              <a:spLocks noChangeArrowheads="1"/>
            </p:cNvSpPr>
            <p:nvPr/>
          </p:nvSpPr>
          <p:spPr bwMode="auto">
            <a:xfrm>
              <a:off x="1701" y="1344"/>
              <a:ext cx="272" cy="27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pt-BR"/>
            </a:p>
          </p:txBody>
        </p:sp>
      </p:grpSp>
      <p:graphicFrame>
        <p:nvGraphicFramePr>
          <p:cNvPr id="2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485057309"/>
              </p:ext>
            </p:extLst>
          </p:nvPr>
        </p:nvGraphicFramePr>
        <p:xfrm>
          <a:off x="2523472" y="2945581"/>
          <a:ext cx="2200528" cy="304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3" name="Equação" r:id="rId11" imgW="1663560" imgH="228600" progId="Equation.3">
                  <p:embed/>
                </p:oleObj>
              </mc:Choice>
              <mc:Fallback>
                <p:oleObj name="Equação" r:id="rId11" imgW="16635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3472" y="2945581"/>
                        <a:ext cx="2200528" cy="3046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1295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rules </a:t>
            </a:r>
          </a:p>
        </p:txBody>
      </p:sp>
      <p:sp>
        <p:nvSpPr>
          <p:cNvPr id="2253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295400"/>
            <a:ext cx="7772400" cy="4800600"/>
          </a:xfrm>
        </p:spPr>
        <p:txBody>
          <a:bodyPr>
            <a:normAutofit lnSpcReduction="10000"/>
          </a:bodyPr>
          <a:lstStyle/>
          <a:p>
            <a:r>
              <a:rPr lang="pt-BR" sz="2000" dirty="0" smtClean="0"/>
              <a:t>Mostramos a </a:t>
            </a:r>
            <a:r>
              <a:rPr lang="pt-BR" sz="2000" dirty="0"/>
              <a:t>iteração Jacobi, mas não fizemos a pergunta "quando a iteração Jacobi convergirá e com que rapidez?"</a:t>
            </a:r>
          </a:p>
          <a:p>
            <a:r>
              <a:rPr lang="pt-BR" sz="2000" u="sng" dirty="0"/>
              <a:t>Definição:</a:t>
            </a:r>
            <a:endParaRPr lang="pt-BR" sz="2000" dirty="0"/>
          </a:p>
          <a:p>
            <a:r>
              <a:rPr lang="pt-BR" sz="2000" dirty="0"/>
              <a:t>Uma matriz </a:t>
            </a:r>
            <a:r>
              <a:rPr lang="pt-BR" sz="2000" b="1" dirty="0"/>
              <a:t>A</a:t>
            </a:r>
            <a:r>
              <a:rPr lang="pt-BR" sz="2000" dirty="0"/>
              <a:t> é diagonalmente dominante se</a:t>
            </a:r>
          </a:p>
          <a:p>
            <a:r>
              <a:rPr lang="pt-BR" sz="2000" u="sng" dirty="0"/>
              <a:t>Teorema:</a:t>
            </a:r>
            <a:endParaRPr lang="pt-BR" sz="2000" dirty="0"/>
          </a:p>
          <a:p>
            <a:r>
              <a:rPr lang="pt-BR" sz="2000" dirty="0"/>
              <a:t>Se a matriz </a:t>
            </a:r>
            <a:r>
              <a:rPr lang="pt-BR" sz="2000" b="1" dirty="0"/>
              <a:t>A</a:t>
            </a:r>
            <a:r>
              <a:rPr lang="pt-BR" sz="2000" dirty="0"/>
              <a:t> é dominante em diagonal, </a:t>
            </a:r>
            <a:r>
              <a:rPr lang="pt-BR" sz="2000" dirty="0" smtClean="0"/>
              <a:t>no </a:t>
            </a:r>
            <a:r>
              <a:rPr lang="pt-BR" sz="2000" dirty="0" err="1" smtClean="0"/>
              <a:t>sismeta</a:t>
            </a:r>
            <a:r>
              <a:rPr lang="pt-BR" sz="2000" dirty="0" smtClean="0"/>
              <a:t>,</a:t>
            </a:r>
            <a:r>
              <a:rPr lang="pt-BR" sz="2000" dirty="0"/>
              <a:t> </a:t>
            </a:r>
            <a:r>
              <a:rPr lang="pt-BR" sz="2000" b="1" dirty="0" err="1"/>
              <a:t>Ax</a:t>
            </a:r>
            <a:r>
              <a:rPr lang="pt-BR" sz="2000" b="1" dirty="0"/>
              <a:t> = b</a:t>
            </a:r>
            <a:r>
              <a:rPr lang="pt-BR" sz="2000" dirty="0"/>
              <a:t> tem uma única solução </a:t>
            </a:r>
            <a:r>
              <a:rPr lang="pt-BR" sz="2000" b="1" dirty="0"/>
              <a:t>x</a:t>
            </a:r>
            <a:r>
              <a:rPr lang="pt-BR" sz="2000" dirty="0"/>
              <a:t> e o Jacobi iteração produz uma sequência que converge para </a:t>
            </a:r>
            <a:r>
              <a:rPr lang="pt-BR" sz="2000" b="1" dirty="0"/>
              <a:t>X</a:t>
            </a:r>
            <a:r>
              <a:rPr lang="pt-BR" sz="2000" dirty="0"/>
              <a:t> para qualquer estimativa inicial</a:t>
            </a:r>
          </a:p>
          <a:p>
            <a:r>
              <a:rPr lang="pt-BR" sz="2000" u="sng" dirty="0"/>
              <a:t>Informalmente:</a:t>
            </a:r>
            <a:endParaRPr lang="pt-BR" sz="2000" dirty="0"/>
          </a:p>
          <a:p>
            <a:r>
              <a:rPr lang="pt-BR" sz="2000" dirty="0"/>
              <a:t>Quanto </a:t>
            </a:r>
            <a:r>
              <a:rPr lang="pt-BR" sz="2000" b="1" i="1" u="sng" dirty="0"/>
              <a:t>mais</a:t>
            </a:r>
            <a:r>
              <a:rPr lang="pt-BR" sz="2000" dirty="0"/>
              <a:t> “ </a:t>
            </a:r>
            <a:r>
              <a:rPr lang="pt-BR" sz="2000" b="1" i="1" u="sng" dirty="0"/>
              <a:t>diagonalmente dominante</a:t>
            </a:r>
            <a:r>
              <a:rPr lang="pt-BR" sz="2000" dirty="0"/>
              <a:t> ” for uma matriz, mais rápido ela irá convergir ... isso dura parte do tempo.</a:t>
            </a:r>
          </a:p>
        </p:txBody>
      </p:sp>
      <p:graphicFrame>
        <p:nvGraphicFramePr>
          <p:cNvPr id="22530" name="Object 7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37679279"/>
              </p:ext>
            </p:extLst>
          </p:nvPr>
        </p:nvGraphicFramePr>
        <p:xfrm>
          <a:off x="6629400" y="2438400"/>
          <a:ext cx="160020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" name="Equation" r:id="rId3" imgW="838080" imgH="457200" progId="Equation.3">
                  <p:embed/>
                </p:oleObj>
              </mc:Choice>
              <mc:Fallback>
                <p:oleObj name="Equation" r:id="rId3" imgW="83808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2438400"/>
                        <a:ext cx="160020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2046</TotalTime>
  <Words>437</Words>
  <Application>Microsoft Office PowerPoint</Application>
  <PresentationFormat>Apresentação na tela (4:3)</PresentationFormat>
  <Paragraphs>154</Paragraphs>
  <Slides>17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17</vt:i4>
      </vt:variant>
    </vt:vector>
  </HeadingPairs>
  <TitlesOfParts>
    <vt:vector size="29" baseType="lpstr">
      <vt:lpstr>Arial</vt:lpstr>
      <vt:lpstr>Century Gothic</vt:lpstr>
      <vt:lpstr>Garamond</vt:lpstr>
      <vt:lpstr>굴림</vt:lpstr>
      <vt:lpstr>Symbol</vt:lpstr>
      <vt:lpstr>Tahoma</vt:lpstr>
      <vt:lpstr>Times New Roman</vt:lpstr>
      <vt:lpstr>Wingdings 3</vt:lpstr>
      <vt:lpstr>Cacho</vt:lpstr>
      <vt:lpstr>Equation</vt:lpstr>
      <vt:lpstr>Microsoft Equation 3.0</vt:lpstr>
      <vt:lpstr>Equação</vt:lpstr>
      <vt:lpstr>Resolução de sistemas lineares </vt:lpstr>
      <vt:lpstr>Introdução</vt:lpstr>
      <vt:lpstr>Introdução</vt:lpstr>
      <vt:lpstr>Procedimento de solução iterativa</vt:lpstr>
      <vt:lpstr>Convergência </vt:lpstr>
      <vt:lpstr>Ideia Básica do Método Jacobi</vt:lpstr>
      <vt:lpstr>Método de iteração Jacobi</vt:lpstr>
      <vt:lpstr>Método Jacobi com exemplos</vt:lpstr>
      <vt:lpstr>Metodo de Jacobi</vt:lpstr>
      <vt:lpstr>Método de Jacobi   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Método de gauss seidel com exemplos</vt:lpstr>
      <vt:lpstr>The rules 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nasir</dc:creator>
  <cp:lastModifiedBy>antonio tavernard</cp:lastModifiedBy>
  <cp:revision>148</cp:revision>
  <dcterms:created xsi:type="dcterms:W3CDTF">2008-08-30T12:04:16Z</dcterms:created>
  <dcterms:modified xsi:type="dcterms:W3CDTF">2021-04-30T19:25:01Z</dcterms:modified>
</cp:coreProperties>
</file>