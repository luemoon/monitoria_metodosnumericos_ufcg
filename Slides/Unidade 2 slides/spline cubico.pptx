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notesMasterIdLst>
    <p:notesMasterId r:id="rId27"/>
  </p:notesMasterIdLst>
  <p:handoutMasterIdLst>
    <p:handoutMasterId r:id="rId28"/>
  </p:handoutMasterIdLst>
  <p:sldIdLst>
    <p:sldId id="256" r:id="rId2"/>
    <p:sldId id="513" r:id="rId3"/>
    <p:sldId id="514" r:id="rId4"/>
    <p:sldId id="515" r:id="rId5"/>
    <p:sldId id="475" r:id="rId6"/>
    <p:sldId id="476" r:id="rId7"/>
    <p:sldId id="483" r:id="rId8"/>
    <p:sldId id="487" r:id="rId9"/>
    <p:sldId id="484" r:id="rId10"/>
    <p:sldId id="485" r:id="rId11"/>
    <p:sldId id="492" r:id="rId12"/>
    <p:sldId id="486" r:id="rId13"/>
    <p:sldId id="488" r:id="rId14"/>
    <p:sldId id="489" r:id="rId15"/>
    <p:sldId id="490" r:id="rId16"/>
    <p:sldId id="491" r:id="rId17"/>
    <p:sldId id="495" r:id="rId18"/>
    <p:sldId id="496" r:id="rId19"/>
    <p:sldId id="497" r:id="rId20"/>
    <p:sldId id="498" r:id="rId21"/>
    <p:sldId id="499" r:id="rId22"/>
    <p:sldId id="500" r:id="rId23"/>
    <p:sldId id="501" r:id="rId24"/>
    <p:sldId id="505" r:id="rId25"/>
    <p:sldId id="516" r:id="rId26"/>
  </p:sldIdLst>
  <p:sldSz cx="9144000" cy="6858000" type="screen4x3"/>
  <p:notesSz cx="10234613" cy="70993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0B033B"/>
    <a:srgbClr val="CC0000"/>
    <a:srgbClr val="1B0793"/>
    <a:srgbClr val="FF0066"/>
    <a:srgbClr val="FF66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3" autoAdjust="0"/>
    <p:restoredTop sz="94660" autoAdjust="0"/>
  </p:normalViewPr>
  <p:slideViewPr>
    <p:cSldViewPr>
      <p:cViewPr varScale="1">
        <p:scale>
          <a:sx n="107" d="100"/>
          <a:sy n="107" d="100"/>
        </p:scale>
        <p:origin x="78" y="2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image" Target="../media/image12.wmf"/><Relationship Id="rId7" Type="http://schemas.openxmlformats.org/officeDocument/2006/relationships/image" Target="../media/image16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6" Type="http://schemas.openxmlformats.org/officeDocument/2006/relationships/image" Target="../media/image31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4" Type="http://schemas.openxmlformats.org/officeDocument/2006/relationships/image" Target="../media/image41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5" Type="http://schemas.openxmlformats.org/officeDocument/2006/relationships/image" Target="../media/image46.wmf"/><Relationship Id="rId4" Type="http://schemas.openxmlformats.org/officeDocument/2006/relationships/image" Target="../media/image45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7" Type="http://schemas.openxmlformats.org/officeDocument/2006/relationships/image" Target="../media/image54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Relationship Id="rId6" Type="http://schemas.openxmlformats.org/officeDocument/2006/relationships/image" Target="../media/image53.wmf"/><Relationship Id="rId5" Type="http://schemas.openxmlformats.org/officeDocument/2006/relationships/image" Target="../media/image52.wmf"/><Relationship Id="rId4" Type="http://schemas.openxmlformats.org/officeDocument/2006/relationships/image" Target="../media/image51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53" tIns="48177" rIns="96353" bIns="48177" numCol="1" anchor="t" anchorCtr="0" compatLnSpc="1">
            <a:prstTxWarp prst="textNoShape">
              <a:avLst/>
            </a:prstTxWarp>
          </a:bodyPr>
          <a:lstStyle>
            <a:lvl1pPr defTabSz="963613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9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799138" y="0"/>
            <a:ext cx="4435475" cy="35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53" tIns="48177" rIns="96353" bIns="48177" numCol="1" anchor="t" anchorCtr="0" compatLnSpc="1">
            <a:prstTxWarp prst="textNoShape">
              <a:avLst/>
            </a:prstTxWarp>
          </a:bodyPr>
          <a:lstStyle>
            <a:lvl1pPr algn="r" defTabSz="963613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9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718300"/>
            <a:ext cx="4435475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53" tIns="48177" rIns="96353" bIns="48177" numCol="1" anchor="b" anchorCtr="0" compatLnSpc="1">
            <a:prstTxWarp prst="textNoShape">
              <a:avLst/>
            </a:prstTxWarp>
          </a:bodyPr>
          <a:lstStyle>
            <a:lvl1pPr defTabSz="963613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9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799138" y="6718300"/>
            <a:ext cx="4435475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53" tIns="48177" rIns="96353" bIns="48177" numCol="1" anchor="b" anchorCtr="0" compatLnSpc="1">
            <a:prstTxWarp prst="textNoShape">
              <a:avLst/>
            </a:prstTxWarp>
          </a:bodyPr>
          <a:lstStyle>
            <a:lvl1pPr algn="r" defTabSz="963613">
              <a:defRPr sz="1200"/>
            </a:lvl1pPr>
          </a:lstStyle>
          <a:p>
            <a:fld id="{371D873B-3615-499E-BDFD-2440DAD9C312}" type="slidenum">
              <a:rPr lang="ar-SA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7546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5475" cy="355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97550" y="0"/>
            <a:ext cx="4435475" cy="355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1A899B2F-27A5-41F7-8C5F-DA6C633BBA58}" type="datetimeFigureOut">
              <a:rPr lang="en-US"/>
              <a:pPr>
                <a:defRPr/>
              </a:pPr>
              <a:t>10/14/2020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43275" y="531813"/>
            <a:ext cx="3549650" cy="26622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3938" y="3371850"/>
            <a:ext cx="8186737" cy="3195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43700"/>
            <a:ext cx="4435475" cy="3540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97550" y="6743700"/>
            <a:ext cx="4435475" cy="35401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C4D9B2A-5F5F-4CB8-A2A3-ACE46D40C71A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0740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CC29FC5-86E5-4A1D-8871-DBA4D10AE17F}" type="slidenum">
              <a:rPr lang="en-US" sz="1200"/>
              <a:pPr eaLnBrk="1" hangingPunct="1"/>
              <a:t>3</a:t>
            </a:fld>
            <a:endParaRPr lang="en-US" sz="1200"/>
          </a:p>
        </p:txBody>
      </p:sp>
      <p:sp>
        <p:nvSpPr>
          <p:cNvPr id="59395" name="Rectangle 2"/>
          <p:cNvSpPr>
            <a:spLocks noChangeArrowheads="1" noTextEdit="1"/>
          </p:cNvSpPr>
          <p:nvPr>
            <p:ph type="sldImg"/>
          </p:nvPr>
        </p:nvSpPr>
        <p:spPr bwMode="auto">
          <a:xfrm>
            <a:off x="3314700" y="506413"/>
            <a:ext cx="3608388" cy="2705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85888" y="3381375"/>
            <a:ext cx="7462837" cy="32115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1455409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61045444-080B-4D98-A8B0-F20DFF9275FB}" type="slidenum">
              <a:rPr lang="ar-SA" altLang="en-US" smtClean="0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8922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45444-080B-4D98-A8B0-F20DFF9275FB}" type="slidenum">
              <a:rPr lang="ar-SA" altLang="en-US" smtClean="0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5070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61045444-080B-4D98-A8B0-F20DFF9275FB}" type="slidenum">
              <a:rPr lang="ar-SA" altLang="en-US" smtClean="0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0820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61045444-080B-4D98-A8B0-F20DFF9275FB}" type="slidenum">
              <a:rPr lang="ar-SA" altLang="en-US" smtClean="0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1896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61045444-080B-4D98-A8B0-F20DFF9275FB}" type="slidenum">
              <a:rPr lang="ar-SA" altLang="en-US" smtClean="0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1106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45444-080B-4D98-A8B0-F20DFF9275FB}" type="slidenum">
              <a:rPr lang="ar-SA" altLang="en-US" smtClean="0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8586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45444-080B-4D98-A8B0-F20DFF9275FB}" type="slidenum">
              <a:rPr lang="ar-SA" altLang="en-US" smtClean="0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0190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45444-080B-4D98-A8B0-F20DFF9275FB}" type="slidenum">
              <a:rPr lang="ar-SA" altLang="en-US" smtClean="0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7741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61045444-080B-4D98-A8B0-F20DFF9275FB}" type="slidenum">
              <a:rPr lang="ar-SA" altLang="en-US" smtClean="0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4403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61045444-080B-4D98-A8B0-F20DFF9275FB}" type="slidenum">
              <a:rPr lang="ar-SA" altLang="en-US" smtClean="0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2382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61045444-080B-4D98-A8B0-F20DFF9275FB}" type="slidenum">
              <a:rPr lang="ar-SA" altLang="en-US" smtClean="0"/>
              <a:pPr/>
              <a:t>‹nº›</a:t>
            </a:fld>
            <a:endParaRPr lang="en-US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785778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61045444-080B-4D98-A8B0-F20DFF9275FB}" type="slidenum">
              <a:rPr lang="ar-SA" altLang="en-US" smtClean="0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6104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61045444-080B-4D98-A8B0-F20DFF9275FB}" type="slidenum">
              <a:rPr lang="ar-SA" altLang="en-US" smtClean="0"/>
              <a:pPr/>
              <a:t>‹nº›</a:t>
            </a:fld>
            <a:endParaRPr lang="en-US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05819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61045444-080B-4D98-A8B0-F20DFF9275FB}" type="slidenum">
              <a:rPr lang="ar-SA" altLang="en-US" smtClean="0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67798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45444-080B-4D98-A8B0-F20DFF9275FB}" type="slidenum">
              <a:rPr lang="ar-SA" altLang="en-US" smtClean="0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06489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45444-080B-4D98-A8B0-F20DFF9275FB}" type="slidenum">
              <a:rPr lang="ar-SA" altLang="en-US" smtClean="0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22514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752600"/>
            <a:ext cx="3810000" cy="4267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752600"/>
            <a:ext cx="3810000" cy="4267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0C6E30B2-6433-4773-B99B-351F6FB9348A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684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D6092028-A48D-49B5-B0EF-AD33B18ECEDE}" type="slidenum">
              <a:rPr lang="ar-SA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11323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719263"/>
            <a:ext cx="4038600" cy="21288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21304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E208CD34-EFFD-4F14-B4AE-99537DA6B2A9}" type="slidenum">
              <a:rPr lang="ar-SA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432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1045444-080B-4D98-A8B0-F20DFF9275FB}" type="slidenum">
              <a:rPr lang="ar-SA" altLang="en-US" smtClean="0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1250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  <p:sldLayoutId id="2147483780" r:id="rId18"/>
    <p:sldLayoutId id="2147483781" r:id="rId19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png"/><Relationship Id="rId4" Type="http://schemas.openxmlformats.org/officeDocument/2006/relationships/image" Target="../media/image1.png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5" Type="http://schemas.openxmlformats.org/officeDocument/2006/relationships/image" Target="../media/image5.emf"/><Relationship Id="rId4" Type="http://schemas.openxmlformats.org/officeDocument/2006/relationships/oleObject" Target="../embeddings/oleObject5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7.bin"/><Relationship Id="rId10" Type="http://schemas.openxmlformats.org/officeDocument/2006/relationships/image" Target="../media/image4.png"/><Relationship Id="rId4" Type="http://schemas.openxmlformats.org/officeDocument/2006/relationships/image" Target="../media/image1.png"/><Relationship Id="rId9" Type="http://schemas.openxmlformats.org/officeDocument/2006/relationships/oleObject" Target="../embeddings/oleObject9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oleObject" Target="../embeddings/oleObject15.bin"/><Relationship Id="rId18" Type="http://schemas.openxmlformats.org/officeDocument/2006/relationships/image" Target="../media/image17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14.wmf"/><Relationship Id="rId17" Type="http://schemas.openxmlformats.org/officeDocument/2006/relationships/oleObject" Target="../embeddings/oleObject17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6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6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15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7" Type="http://schemas.openxmlformats.org/officeDocument/2006/relationships/image" Target="../media/image9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18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1.png"/><Relationship Id="rId4" Type="http://schemas.openxmlformats.org/officeDocument/2006/relationships/image" Target="../media/image20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2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4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oleObject" Target="../embeddings/oleObject30.bin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30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29.wmf"/><Relationship Id="rId4" Type="http://schemas.openxmlformats.org/officeDocument/2006/relationships/image" Target="../media/image26.w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31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36.bin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36.wmf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35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37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38.bin"/><Relationship Id="rId10" Type="http://schemas.openxmlformats.org/officeDocument/2006/relationships/image" Target="../media/image41.w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40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46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0" Type="http://schemas.openxmlformats.org/officeDocument/2006/relationships/image" Target="../media/image45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44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47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13" Type="http://schemas.openxmlformats.org/officeDocument/2006/relationships/oleObject" Target="../embeddings/oleObject52.bin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52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4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9.wmf"/><Relationship Id="rId11" Type="http://schemas.openxmlformats.org/officeDocument/2006/relationships/oleObject" Target="../embeddings/oleObject51.bin"/><Relationship Id="rId5" Type="http://schemas.openxmlformats.org/officeDocument/2006/relationships/oleObject" Target="../embeddings/oleObject48.bin"/><Relationship Id="rId15" Type="http://schemas.openxmlformats.org/officeDocument/2006/relationships/oleObject" Target="../embeddings/oleObject53.bin"/><Relationship Id="rId10" Type="http://schemas.openxmlformats.org/officeDocument/2006/relationships/image" Target="../media/image51.wmf"/><Relationship Id="rId4" Type="http://schemas.openxmlformats.org/officeDocument/2006/relationships/image" Target="../media/image48.wmf"/><Relationship Id="rId9" Type="http://schemas.openxmlformats.org/officeDocument/2006/relationships/oleObject" Target="../embeddings/oleObject50.bin"/><Relationship Id="rId14" Type="http://schemas.openxmlformats.org/officeDocument/2006/relationships/image" Target="../media/image53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55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2"/>
          <p:cNvSpPr>
            <a:spLocks noChangeArrowheads="1"/>
          </p:cNvSpPr>
          <p:nvPr/>
        </p:nvSpPr>
        <p:spPr bwMode="auto">
          <a:xfrm>
            <a:off x="914400" y="277813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3400" b="1">
                <a:solidFill>
                  <a:srgbClr val="CC3300"/>
                </a:solidFill>
              </a:rPr>
              <a:t/>
            </a:r>
            <a:br>
              <a:rPr lang="en-US" sz="3400" b="1">
                <a:solidFill>
                  <a:srgbClr val="CC3300"/>
                </a:solidFill>
              </a:rPr>
            </a:br>
            <a:r>
              <a:rPr lang="en-US" sz="3400" b="1">
                <a:solidFill>
                  <a:srgbClr val="CC3300"/>
                </a:solidFill>
              </a:rPr>
              <a:t/>
            </a:r>
            <a:br>
              <a:rPr lang="en-US" sz="3400" b="1">
                <a:solidFill>
                  <a:srgbClr val="CC3300"/>
                </a:solidFill>
              </a:rPr>
            </a:br>
            <a:endParaRPr lang="en-US" sz="3400" b="1">
              <a:solidFill>
                <a:srgbClr val="CC3300"/>
              </a:solidFill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2367887" y="1752600"/>
            <a:ext cx="4865434" cy="16778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lnSpc>
                <a:spcPct val="120000"/>
              </a:lnSpc>
            </a:pPr>
            <a:r>
              <a:rPr lang="en-US" sz="4500" b="1" dirty="0" err="1" smtClean="0">
                <a:cs typeface="Tahoma" panose="020B0604030504040204" pitchFamily="34" charset="0"/>
              </a:rPr>
              <a:t>Interpolaçao</a:t>
            </a:r>
            <a:r>
              <a:rPr lang="en-US" sz="4500" b="1" dirty="0" smtClean="0">
                <a:cs typeface="Tahoma" panose="020B0604030504040204" pitchFamily="34" charset="0"/>
              </a:rPr>
              <a:t> </a:t>
            </a:r>
            <a:r>
              <a:rPr lang="en-US" sz="4500" b="1" dirty="0" err="1" smtClean="0">
                <a:cs typeface="Tahoma" panose="020B0604030504040204" pitchFamily="34" charset="0"/>
              </a:rPr>
              <a:t>por</a:t>
            </a:r>
            <a:r>
              <a:rPr lang="en-US" sz="4500" b="1" smtClean="0">
                <a:cs typeface="Tahoma" panose="020B0604030504040204" pitchFamily="34" charset="0"/>
              </a:rPr>
              <a:t> </a:t>
            </a:r>
          </a:p>
          <a:p>
            <a:pPr algn="ctr" eaLnBrk="1" hangingPunct="1">
              <a:lnSpc>
                <a:spcPct val="120000"/>
              </a:lnSpc>
            </a:pPr>
            <a:r>
              <a:rPr lang="en-US" sz="4500" b="1" smtClean="0">
                <a:cs typeface="Tahoma" panose="020B0604030504040204" pitchFamily="34" charset="0"/>
              </a:rPr>
              <a:t>Splines</a:t>
            </a:r>
            <a:endParaRPr lang="en-US" sz="4500" dirty="0"/>
          </a:p>
        </p:txBody>
      </p:sp>
      <p:sp>
        <p:nvSpPr>
          <p:cNvPr id="7" name="Subtítulo 3"/>
          <p:cNvSpPr>
            <a:spLocks noGrp="1"/>
          </p:cNvSpPr>
          <p:nvPr>
            <p:ph type="subTitle" idx="1"/>
          </p:nvPr>
        </p:nvSpPr>
        <p:spPr>
          <a:xfrm>
            <a:off x="1619672" y="4509120"/>
            <a:ext cx="6600451" cy="1126283"/>
          </a:xfrm>
        </p:spPr>
        <p:txBody>
          <a:bodyPr/>
          <a:lstStyle/>
          <a:p>
            <a:r>
              <a:rPr lang="pt-BR" dirty="0" smtClean="0"/>
              <a:t>Prof. Antonio Tavernard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1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681038"/>
            <a:ext cx="8153400" cy="1143000"/>
          </a:xfrm>
        </p:spPr>
        <p:txBody>
          <a:bodyPr/>
          <a:lstStyle/>
          <a:p>
            <a:pPr eaLnBrk="1" hangingPunct="1"/>
            <a:r>
              <a:rPr lang="pt-BR" sz="3000" dirty="0"/>
              <a:t>Por que a interpolação </a:t>
            </a:r>
            <a:r>
              <a:rPr lang="pt-BR" sz="3000" dirty="0" err="1" smtClean="0"/>
              <a:t>Spline</a:t>
            </a:r>
            <a:r>
              <a:rPr lang="en-US" sz="3000" dirty="0" smtClean="0"/>
              <a:t>?</a:t>
            </a:r>
            <a:endParaRPr lang="en-US" sz="3000" dirty="0" smtClean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F362831-8A1F-4D8B-B402-95CE39C9264A}" type="slidenum">
              <a:rPr lang="en-US" sz="1200">
                <a:solidFill>
                  <a:srgbClr val="898989"/>
                </a:solidFill>
              </a:rPr>
              <a:pPr eaLnBrk="1" hangingPunct="1"/>
              <a:t>2</a:t>
            </a:fld>
            <a:endParaRPr lang="en-US" sz="1200">
              <a:solidFill>
                <a:srgbClr val="898989"/>
              </a:solidFill>
            </a:endParaRPr>
          </a:p>
        </p:txBody>
      </p:sp>
      <p:graphicFrame>
        <p:nvGraphicFramePr>
          <p:cNvPr id="11266" name="Object 2"/>
          <p:cNvGraphicFramePr>
            <a:graphicFrameLocks noChangeAspect="1"/>
          </p:cNvGraphicFramePr>
          <p:nvPr/>
        </p:nvGraphicFramePr>
        <p:xfrm>
          <a:off x="990600" y="1828800"/>
          <a:ext cx="2790825" cy="151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9" name="Bitmap Image" r:id="rId3" imgW="2790476" imgH="1590897" progId="Paint.Picture">
                  <p:embed/>
                </p:oleObj>
              </mc:Choice>
              <mc:Fallback>
                <p:oleObj name="Bitmap Image" r:id="rId3" imgW="2790476" imgH="1590897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828800"/>
                        <a:ext cx="2790825" cy="151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3"/>
          <p:cNvGraphicFramePr>
            <a:graphicFrameLocks noChangeAspect="1"/>
          </p:cNvGraphicFramePr>
          <p:nvPr/>
        </p:nvGraphicFramePr>
        <p:xfrm>
          <a:off x="4953000" y="1828800"/>
          <a:ext cx="2771775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0" name="Bitmap Image" r:id="rId5" imgW="2771429" imgH="1467055" progId="Paint.Picture">
                  <p:embed/>
                </p:oleObj>
              </mc:Choice>
              <mc:Fallback>
                <p:oleObj name="Bitmap Image" r:id="rId5" imgW="2771429" imgH="1467055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828800"/>
                        <a:ext cx="2771775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4"/>
          <p:cNvGraphicFramePr>
            <a:graphicFrameLocks noChangeAspect="1"/>
          </p:cNvGraphicFramePr>
          <p:nvPr/>
        </p:nvGraphicFramePr>
        <p:xfrm>
          <a:off x="990600" y="3352800"/>
          <a:ext cx="2819400" cy="172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1" name="Bitmap Image" r:id="rId7" imgW="2723810" imgH="1724266" progId="Paint.Picture">
                  <p:embed/>
                </p:oleObj>
              </mc:Choice>
              <mc:Fallback>
                <p:oleObj name="Bitmap Image" r:id="rId7" imgW="2723810" imgH="1724266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352800"/>
                        <a:ext cx="2819400" cy="172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5"/>
          <p:cNvGraphicFramePr>
            <a:graphicFrameLocks noChangeAspect="1"/>
          </p:cNvGraphicFramePr>
          <p:nvPr/>
        </p:nvGraphicFramePr>
        <p:xfrm>
          <a:off x="4953000" y="3352800"/>
          <a:ext cx="2771775" cy="169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2" name="Bitmap Image" r:id="rId9" imgW="2771429" imgH="1542857" progId="Paint.Picture">
                  <p:embed/>
                </p:oleObj>
              </mc:Choice>
              <mc:Fallback>
                <p:oleObj name="Bitmap Image" r:id="rId9" imgW="2771429" imgH="1542857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352800"/>
                        <a:ext cx="2771775" cy="169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2" name="Text Box 7"/>
          <p:cNvSpPr txBox="1">
            <a:spLocks noChangeArrowheads="1"/>
          </p:cNvSpPr>
          <p:nvPr/>
        </p:nvSpPr>
        <p:spPr bwMode="auto">
          <a:xfrm>
            <a:off x="609600" y="5105400"/>
            <a:ext cx="8229600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dirty="0"/>
              <a:t>Aplique polinômios de ordem inferior a subconjuntos de pontos de dados. </a:t>
            </a:r>
            <a:r>
              <a:rPr lang="pt-BR" dirty="0" err="1"/>
              <a:t>Spline</a:t>
            </a:r>
            <a:r>
              <a:rPr lang="pt-BR" dirty="0"/>
              <a:t> fornece uma aproximação superior do comportamento de funções que possuem mudanças locais abruptas.</a:t>
            </a:r>
          </a:p>
          <a:p>
            <a:r>
              <a:rPr lang="pt-BR" dirty="0" smtClean="0"/>
              <a:t/>
            </a:r>
            <a:br>
              <a:rPr lang="pt-BR" dirty="0" smtClean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Por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Splines </a:t>
            </a:r>
            <a:r>
              <a:rPr lang="en-US" dirty="0" smtClean="0"/>
              <a:t>?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25062F3-1498-4079-B5D2-FCB6FCD660A3}" type="slidenum">
              <a:rPr lang="en-US" sz="1200">
                <a:solidFill>
                  <a:srgbClr val="898989"/>
                </a:solidFill>
              </a:rPr>
              <a:pPr eaLnBrk="1" hangingPunct="1"/>
              <a:t>3</a:t>
            </a:fld>
            <a:endParaRPr lang="en-US" sz="1200">
              <a:solidFill>
                <a:srgbClr val="898989"/>
              </a:solidFill>
            </a:endParaRPr>
          </a:p>
        </p:txBody>
      </p:sp>
      <p:graphicFrame>
        <p:nvGraphicFramePr>
          <p:cNvPr id="12290" name="Object 2"/>
          <p:cNvGraphicFramePr>
            <a:graphicFrameLocks noChangeAspect="1"/>
          </p:cNvGraphicFramePr>
          <p:nvPr/>
        </p:nvGraphicFramePr>
        <p:xfrm>
          <a:off x="2819400" y="1752600"/>
          <a:ext cx="2209800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" name="Equation" r:id="rId4" imgW="1019442" imgH="393649" progId="Equation.3">
                  <p:embed/>
                </p:oleObj>
              </mc:Choice>
              <mc:Fallback>
                <p:oleObj name="Equation" r:id="rId4" imgW="1019442" imgH="39364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752600"/>
                        <a:ext cx="2209800" cy="85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293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767012"/>
            <a:ext cx="8077200" cy="370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Por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Splines </a:t>
            </a:r>
            <a:r>
              <a:rPr lang="en-US" dirty="0" smtClean="0"/>
              <a:t>?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AB109FC-989C-4319-8ACB-EA25653F4116}" type="slidenum">
              <a:rPr lang="en-US" sz="1200">
                <a:solidFill>
                  <a:srgbClr val="898989"/>
                </a:solidFill>
              </a:rPr>
              <a:pPr eaLnBrk="1" hangingPunct="1"/>
              <a:t>4</a:t>
            </a:fld>
            <a:endParaRPr lang="en-US" sz="1200">
              <a:solidFill>
                <a:srgbClr val="898989"/>
              </a:solidFill>
            </a:endParaRPr>
          </a:p>
        </p:txBody>
      </p:sp>
      <p:sp>
        <p:nvSpPr>
          <p:cNvPr id="49156" name="Rectangle 3"/>
          <p:cNvSpPr>
            <a:spLocks noChangeArrowheads="1"/>
          </p:cNvSpPr>
          <p:nvPr/>
        </p:nvSpPr>
        <p:spPr bwMode="auto">
          <a:xfrm>
            <a:off x="497087" y="6170583"/>
            <a:ext cx="82974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b="1" dirty="0">
                <a:cs typeface="Times New Roman" panose="02020603050405020304" pitchFamily="18" charset="0"/>
              </a:rPr>
              <a:t>Figure : </a:t>
            </a:r>
            <a:r>
              <a:rPr lang="pt-BR" b="1" dirty="0"/>
              <a:t>interpolação polinomial de ordem superior é uma má ideia</a:t>
            </a:r>
            <a:endParaRPr lang="en-US" b="1" dirty="0">
              <a:cs typeface="Times New Roman" panose="02020603050405020304" pitchFamily="18" charset="0"/>
            </a:endParaRPr>
          </a:p>
        </p:txBody>
      </p:sp>
      <p:pic>
        <p:nvPicPr>
          <p:cNvPr id="49157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905000"/>
            <a:ext cx="7391400" cy="422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b="1" dirty="0"/>
              <a:t>Interpolação </a:t>
            </a:r>
            <a:r>
              <a:rPr lang="pt-BR" sz="4000" b="1" dirty="0" err="1"/>
              <a:t>Spline</a:t>
            </a:r>
            <a:endParaRPr lang="pt-BR" sz="4000" b="1" dirty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19263"/>
            <a:ext cx="8305800" cy="4411662"/>
          </a:xfrm>
        </p:spPr>
        <p:txBody>
          <a:bodyPr>
            <a:normAutofit lnSpcReduction="10000"/>
          </a:bodyPr>
          <a:lstStyle/>
          <a:p>
            <a:r>
              <a:rPr lang="pt-BR" sz="2800" dirty="0"/>
              <a:t>Polinômios são a escolha mais comum de </a:t>
            </a:r>
            <a:r>
              <a:rPr lang="pt-BR" sz="2800" dirty="0" err="1" smtClean="0"/>
              <a:t>interpolandores</a:t>
            </a:r>
            <a:r>
              <a:rPr lang="pt-BR" sz="2800" dirty="0" smtClean="0"/>
              <a:t>.</a:t>
            </a:r>
            <a:endParaRPr lang="pt-BR" sz="2800" dirty="0"/>
          </a:p>
          <a:p>
            <a:r>
              <a:rPr lang="pt-BR" sz="2800" dirty="0"/>
              <a:t>Há casos em que polinômios podem levar a resultados errôneos devido a erros de </a:t>
            </a:r>
            <a:r>
              <a:rPr lang="pt-BR" sz="2800" dirty="0" smtClean="0"/>
              <a:t>arredondamento.</a:t>
            </a:r>
            <a:endParaRPr lang="pt-BR" sz="2800" dirty="0"/>
          </a:p>
          <a:p>
            <a:r>
              <a:rPr lang="pt-BR" sz="2800" dirty="0"/>
              <a:t>Uma abordagem alternativa é aplicar </a:t>
            </a:r>
            <a:r>
              <a:rPr lang="pt-BR" sz="2800" b="1" dirty="0"/>
              <a:t>polinômios de ordem inferior</a:t>
            </a:r>
            <a:r>
              <a:rPr lang="pt-BR" sz="2800" dirty="0"/>
              <a:t> a subconjuntos de pontos de dados. Esses polinômios de conexão são chamados de </a:t>
            </a:r>
            <a:r>
              <a:rPr lang="pt-BR" sz="2800" b="1" dirty="0"/>
              <a:t>funções </a:t>
            </a:r>
            <a:r>
              <a:rPr lang="pt-BR" sz="2800" b="1" dirty="0" err="1"/>
              <a:t>spline</a:t>
            </a:r>
            <a:r>
              <a:rPr lang="pt-BR" sz="2800" b="1" dirty="0"/>
              <a:t>.</a:t>
            </a:r>
            <a:endParaRPr lang="pt-BR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4"/>
          <p:cNvGraphicFramePr>
            <a:graphicFrameLocks noChangeAspect="1"/>
          </p:cNvGraphicFramePr>
          <p:nvPr/>
        </p:nvGraphicFramePr>
        <p:xfrm>
          <a:off x="381000" y="533400"/>
          <a:ext cx="4038600" cy="219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5" name="Bitmap Image" r:id="rId3" imgW="2790476" imgH="1590897" progId="Paint.Picture">
                  <p:embed/>
                </p:oleObj>
              </mc:Choice>
              <mc:Fallback>
                <p:oleObj name="Bitmap Image" r:id="rId3" imgW="2790476" imgH="1590897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33400"/>
                        <a:ext cx="4038600" cy="219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5"/>
          <p:cNvGraphicFramePr>
            <a:graphicFrameLocks noChangeAspect="1"/>
          </p:cNvGraphicFramePr>
          <p:nvPr/>
        </p:nvGraphicFramePr>
        <p:xfrm>
          <a:off x="4648200" y="533400"/>
          <a:ext cx="4114800" cy="226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6" name="Bitmap Image" r:id="rId5" imgW="2771429" imgH="1467055" progId="Paint.Picture">
                  <p:embed/>
                </p:oleObj>
              </mc:Choice>
              <mc:Fallback>
                <p:oleObj name="Bitmap Image" r:id="rId5" imgW="2771429" imgH="1467055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533400"/>
                        <a:ext cx="4114800" cy="226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6"/>
          <p:cNvGraphicFramePr>
            <a:graphicFrameLocks noChangeAspect="1"/>
          </p:cNvGraphicFramePr>
          <p:nvPr/>
        </p:nvGraphicFramePr>
        <p:xfrm>
          <a:off x="381000" y="3048000"/>
          <a:ext cx="4038600" cy="247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7" name="Bitmap Image" r:id="rId7" imgW="2723810" imgH="1724266" progId="Paint.Picture">
                  <p:embed/>
                </p:oleObj>
              </mc:Choice>
              <mc:Fallback>
                <p:oleObj name="Bitmap Image" r:id="rId7" imgW="2723810" imgH="1724266" progId="Paint.Picture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048000"/>
                        <a:ext cx="4038600" cy="247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7"/>
          <p:cNvGraphicFramePr>
            <a:graphicFrameLocks noGrp="1" noChangeAspect="1"/>
          </p:cNvGraphicFramePr>
          <p:nvPr>
            <p:ph idx="1"/>
          </p:nvPr>
        </p:nvGraphicFramePr>
        <p:xfrm>
          <a:off x="3852863" y="3251200"/>
          <a:ext cx="2771775" cy="154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8" name="Bitmap Image" r:id="rId9" imgW="2771429" imgH="1542857" progId="Paint.Picture">
                  <p:embed/>
                </p:oleObj>
              </mc:Choice>
              <mc:Fallback>
                <p:oleObj name="Bitmap Image" r:id="rId9" imgW="2771429" imgH="1542857" progId="Paint.Picture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408"/>
                      <a:stretch>
                        <a:fillRect/>
                      </a:stretch>
                    </p:blipFill>
                    <p:spPr bwMode="auto">
                      <a:xfrm>
                        <a:off x="3852863" y="3251200"/>
                        <a:ext cx="2771775" cy="154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8" name="Rectangle 10"/>
          <p:cNvSpPr>
            <a:spLocks noChangeArrowheads="1"/>
          </p:cNvSpPr>
          <p:nvPr/>
        </p:nvSpPr>
        <p:spPr bwMode="auto">
          <a:xfrm>
            <a:off x="381000" y="5629701"/>
            <a:ext cx="8534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sz="2400" dirty="0" err="1"/>
              <a:t>Spline</a:t>
            </a:r>
            <a:r>
              <a:rPr lang="pt-BR" sz="2400" dirty="0"/>
              <a:t> fornece uma aproximação superior do comportamento de funções que têm mudanças locais abruptas (d).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92162"/>
          </a:xfrm>
        </p:spPr>
        <p:txBody>
          <a:bodyPr/>
          <a:lstStyle/>
          <a:p>
            <a:pPr eaLnBrk="1" hangingPunct="1"/>
            <a:r>
              <a:rPr lang="en-US" sz="3800" b="1" dirty="0" smtClean="0">
                <a:solidFill>
                  <a:srgbClr val="0000CC"/>
                </a:solidFill>
              </a:rPr>
              <a:t>Spline Interpolation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>
          <a:xfrm>
            <a:off x="494930" y="1371600"/>
            <a:ext cx="8763000" cy="14478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2800" dirty="0" smtClean="0"/>
              <a:t>O </a:t>
            </a:r>
            <a:r>
              <a:rPr lang="pt-BR" sz="2800" dirty="0"/>
              <a:t>conceito de </a:t>
            </a:r>
            <a:r>
              <a:rPr lang="pt-BR" sz="2800" dirty="0" err="1"/>
              <a:t>spline</a:t>
            </a:r>
            <a:r>
              <a:rPr lang="pt-BR" sz="2800" dirty="0"/>
              <a:t> é usar uma faixa fina e flexível (chamada de </a:t>
            </a:r>
            <a:r>
              <a:rPr lang="pt-BR" sz="2800" dirty="0" err="1"/>
              <a:t>spline</a:t>
            </a:r>
            <a:r>
              <a:rPr lang="pt-BR" sz="2800" dirty="0"/>
              <a:t>) para desenhar curvas suaves através de um conjunto de pontos…. </a:t>
            </a:r>
            <a:r>
              <a:rPr lang="pt-BR" sz="2800" b="1" dirty="0" err="1"/>
              <a:t>spline</a:t>
            </a:r>
            <a:r>
              <a:rPr lang="pt-BR" sz="2800" b="1" dirty="0"/>
              <a:t> natural (cúbico</a:t>
            </a:r>
            <a:r>
              <a:rPr lang="pt-BR" sz="2800" dirty="0"/>
              <a:t> )</a:t>
            </a:r>
          </a:p>
        </p:txBody>
      </p:sp>
      <p:pic>
        <p:nvPicPr>
          <p:cNvPr id="52228" name="Picture 4" descr="Fig18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971800"/>
            <a:ext cx="5867400" cy="3697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4" descr="Fig18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4" r="4245" b="66197"/>
          <a:stretch>
            <a:fillRect/>
          </a:stretch>
        </p:blipFill>
        <p:spPr bwMode="auto">
          <a:xfrm>
            <a:off x="304800" y="762000"/>
            <a:ext cx="4114800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Picture 5" descr="Fig18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7" t="66197" r="4245"/>
          <a:stretch>
            <a:fillRect/>
          </a:stretch>
        </p:blipFill>
        <p:spPr bwMode="auto">
          <a:xfrm>
            <a:off x="1981200" y="3200400"/>
            <a:ext cx="52578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Picture 6" descr="Fig18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4" t="33803" r="4245" b="33803"/>
          <a:stretch>
            <a:fillRect/>
          </a:stretch>
        </p:blipFill>
        <p:spPr bwMode="auto">
          <a:xfrm>
            <a:off x="4630075" y="814387"/>
            <a:ext cx="4191000" cy="214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8438"/>
            <a:ext cx="7543800" cy="1173162"/>
          </a:xfrm>
        </p:spPr>
        <p:txBody>
          <a:bodyPr/>
          <a:lstStyle/>
          <a:p>
            <a:pPr eaLnBrk="1" hangingPunct="1"/>
            <a:r>
              <a:rPr lang="en-US" sz="3800" b="1" smtClean="0">
                <a:solidFill>
                  <a:srgbClr val="0000CC"/>
                </a:solidFill>
              </a:rPr>
              <a:t>Linear Spline</a:t>
            </a:r>
          </a:p>
        </p:txBody>
      </p:sp>
      <p:sp>
        <p:nvSpPr>
          <p:cNvPr id="143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295400"/>
            <a:ext cx="8534400" cy="1219200"/>
          </a:xfrm>
        </p:spPr>
        <p:txBody>
          <a:bodyPr>
            <a:normAutofit/>
          </a:bodyPr>
          <a:lstStyle/>
          <a:p>
            <a:r>
              <a:rPr lang="pt-BR" sz="2400" dirty="0"/>
              <a:t>As </a:t>
            </a:r>
            <a:r>
              <a:rPr lang="pt-BR" sz="2400" dirty="0" err="1"/>
              <a:t>splines</a:t>
            </a:r>
            <a:r>
              <a:rPr lang="pt-BR" sz="2400" dirty="0"/>
              <a:t> de primeira ordem para um </a:t>
            </a:r>
            <a:r>
              <a:rPr lang="pt-BR" sz="2400" dirty="0" smtClean="0"/>
              <a:t>conjunto de </a:t>
            </a:r>
            <a:r>
              <a:rPr lang="pt-BR" sz="2400" dirty="0"/>
              <a:t>pontos </a:t>
            </a:r>
            <a:r>
              <a:rPr lang="pt-BR" sz="2400" dirty="0" smtClean="0"/>
              <a:t>ordenados </a:t>
            </a:r>
            <a:r>
              <a:rPr lang="pt-BR" sz="2400" dirty="0"/>
              <a:t>podem ser definidas como um conjunto de funções lineares:</a:t>
            </a:r>
          </a:p>
        </p:txBody>
      </p:sp>
      <p:graphicFrame>
        <p:nvGraphicFramePr>
          <p:cNvPr id="14338" name="Object 12"/>
          <p:cNvGraphicFramePr>
            <a:graphicFrameLocks noGrp="1" noChangeAspect="1"/>
          </p:cNvGraphicFramePr>
          <p:nvPr>
            <p:ph sz="half" idx="2"/>
          </p:nvPr>
        </p:nvGraphicFramePr>
        <p:xfrm>
          <a:off x="2362200" y="5257800"/>
          <a:ext cx="3429000" cy="117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8" name="Equation" r:id="rId3" imgW="1257120" imgH="431640" progId="Equation.3">
                  <p:embed/>
                </p:oleObj>
              </mc:Choice>
              <mc:Fallback>
                <p:oleObj name="Equation" r:id="rId3" imgW="1257120" imgH="4316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5257800"/>
                        <a:ext cx="3429000" cy="11779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Object 4"/>
          <p:cNvGraphicFramePr>
            <a:graphicFrameLocks noChangeAspect="1"/>
          </p:cNvGraphicFramePr>
          <p:nvPr/>
        </p:nvGraphicFramePr>
        <p:xfrm>
          <a:off x="685800" y="2667000"/>
          <a:ext cx="38862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9" name="Equation" r:id="rId5" imgW="1600200" imgH="228600" progId="Equation.3">
                  <p:embed/>
                </p:oleObj>
              </mc:Choice>
              <mc:Fallback>
                <p:oleObj name="Equation" r:id="rId5" imgW="16002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667000"/>
                        <a:ext cx="38862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Object 5"/>
          <p:cNvGraphicFramePr>
            <a:graphicFrameLocks noChangeAspect="1"/>
          </p:cNvGraphicFramePr>
          <p:nvPr/>
        </p:nvGraphicFramePr>
        <p:xfrm>
          <a:off x="5562600" y="2743200"/>
          <a:ext cx="182880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0" name="Equation" r:id="rId7" imgW="672840" imgH="228600" progId="Equation.3">
                  <p:embed/>
                </p:oleObj>
              </mc:Choice>
              <mc:Fallback>
                <p:oleObj name="Equation" r:id="rId7" imgW="67284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2743200"/>
                        <a:ext cx="1828800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Object 6"/>
          <p:cNvGraphicFramePr>
            <a:graphicFrameLocks noChangeAspect="1"/>
          </p:cNvGraphicFramePr>
          <p:nvPr/>
        </p:nvGraphicFramePr>
        <p:xfrm>
          <a:off x="609600" y="3352800"/>
          <a:ext cx="373380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1" name="Equation" r:id="rId9" imgW="1562040" imgH="215640" progId="Equation.3">
                  <p:embed/>
                </p:oleObj>
              </mc:Choice>
              <mc:Fallback>
                <p:oleObj name="Equation" r:id="rId9" imgW="1562040" imgH="215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352800"/>
                        <a:ext cx="3733800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Object 7"/>
          <p:cNvGraphicFramePr>
            <a:graphicFrameLocks noChangeAspect="1"/>
          </p:cNvGraphicFramePr>
          <p:nvPr/>
        </p:nvGraphicFramePr>
        <p:xfrm>
          <a:off x="5486400" y="3352800"/>
          <a:ext cx="1828800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2" name="Equation" r:id="rId11" imgW="672840" imgH="215640" progId="Equation.3">
                  <p:embed/>
                </p:oleObj>
              </mc:Choice>
              <mc:Fallback>
                <p:oleObj name="Equation" r:id="rId11" imgW="672840" imgH="2156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3352800"/>
                        <a:ext cx="1828800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Object 8"/>
          <p:cNvGraphicFramePr>
            <a:graphicFrameLocks noChangeAspect="1"/>
          </p:cNvGraphicFramePr>
          <p:nvPr/>
        </p:nvGraphicFramePr>
        <p:xfrm>
          <a:off x="533400" y="4343400"/>
          <a:ext cx="4648200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3" name="Equation" r:id="rId13" imgW="1866600" imgH="228600" progId="Equation.3">
                  <p:embed/>
                </p:oleObj>
              </mc:Choice>
              <mc:Fallback>
                <p:oleObj name="Equation" r:id="rId13" imgW="18666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343400"/>
                        <a:ext cx="4648200" cy="65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4" name="Object 9"/>
          <p:cNvGraphicFramePr>
            <a:graphicFrameLocks noChangeAspect="1"/>
          </p:cNvGraphicFramePr>
          <p:nvPr/>
        </p:nvGraphicFramePr>
        <p:xfrm>
          <a:off x="5410200" y="4267200"/>
          <a:ext cx="213360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4" name="Equation" r:id="rId15" imgW="774360" imgH="228600" progId="Equation.3">
                  <p:embed/>
                </p:oleObj>
              </mc:Choice>
              <mc:Fallback>
                <p:oleObj name="Equation" r:id="rId15" imgW="77436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267200"/>
                        <a:ext cx="2133600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5" name="Object 10"/>
          <p:cNvGraphicFramePr>
            <a:graphicFrameLocks noChangeAspect="1"/>
          </p:cNvGraphicFramePr>
          <p:nvPr/>
        </p:nvGraphicFramePr>
        <p:xfrm>
          <a:off x="1600200" y="3962400"/>
          <a:ext cx="2428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5" name="Equation" r:id="rId17" imgW="75960" imgH="164880" progId="Equation.3">
                  <p:embed/>
                </p:oleObj>
              </mc:Choice>
              <mc:Fallback>
                <p:oleObj name="Equation" r:id="rId17" imgW="75960" imgH="1648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962400"/>
                        <a:ext cx="24288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5"/>
          <p:cNvSpPr>
            <a:spLocks noGrp="1" noChangeArrowheads="1"/>
          </p:cNvSpPr>
          <p:nvPr>
            <p:ph type="title"/>
          </p:nvPr>
        </p:nvSpPr>
        <p:spPr>
          <a:xfrm>
            <a:off x="1356901" y="635910"/>
            <a:ext cx="7543800" cy="715962"/>
          </a:xfrm>
        </p:spPr>
        <p:txBody>
          <a:bodyPr/>
          <a:lstStyle/>
          <a:p>
            <a:pPr eaLnBrk="1" hangingPunct="1"/>
            <a:r>
              <a:rPr lang="en-US" sz="3800" b="1" dirty="0" smtClean="0">
                <a:solidFill>
                  <a:srgbClr val="0000CC"/>
                </a:solidFill>
              </a:rPr>
              <a:t>Linear spline - </a:t>
            </a:r>
            <a:r>
              <a:rPr lang="en-US" sz="3800" b="1" dirty="0" err="1" smtClean="0">
                <a:solidFill>
                  <a:srgbClr val="0000CC"/>
                </a:solidFill>
              </a:rPr>
              <a:t>exemplo</a:t>
            </a:r>
            <a:endParaRPr lang="en-US" sz="3800" b="1" dirty="0" smtClean="0">
              <a:solidFill>
                <a:srgbClr val="0000CC"/>
              </a:solidFill>
            </a:endParaRPr>
          </a:p>
        </p:txBody>
      </p:sp>
      <p:sp>
        <p:nvSpPr>
          <p:cNvPr id="15365" name="Rectangle 7"/>
          <p:cNvSpPr>
            <a:spLocks noGrp="1" noChangeArrowheads="1"/>
          </p:cNvSpPr>
          <p:nvPr>
            <p:ph idx="1"/>
          </p:nvPr>
        </p:nvSpPr>
        <p:spPr>
          <a:xfrm>
            <a:off x="381000" y="1371600"/>
            <a:ext cx="8229600" cy="5064125"/>
          </a:xfrm>
        </p:spPr>
        <p:txBody>
          <a:bodyPr/>
          <a:lstStyle/>
          <a:p>
            <a:r>
              <a:rPr lang="pt-BR" dirty="0"/>
              <a:t>Ajuste os seguintes dados com </a:t>
            </a:r>
            <a:r>
              <a:rPr lang="pt-BR" b="1" dirty="0" err="1"/>
              <a:t>splines</a:t>
            </a:r>
            <a:r>
              <a:rPr lang="pt-BR" b="1" dirty="0"/>
              <a:t> de primeira ordem</a:t>
            </a:r>
            <a:r>
              <a:rPr lang="pt-BR" dirty="0"/>
              <a:t> . Avalie a função em x = 5.</a:t>
            </a:r>
          </a:p>
          <a:p>
            <a:pPr eaLnBrk="1" hangingPunct="1"/>
            <a:endParaRPr lang="en-US" dirty="0" smtClean="0"/>
          </a:p>
        </p:txBody>
      </p:sp>
      <p:grpSp>
        <p:nvGrpSpPr>
          <p:cNvPr id="15366" name="Group 8"/>
          <p:cNvGrpSpPr>
            <a:grpSpLocks/>
          </p:cNvGrpSpPr>
          <p:nvPr/>
        </p:nvGrpSpPr>
        <p:grpSpPr bwMode="auto">
          <a:xfrm>
            <a:off x="609600" y="2514600"/>
            <a:ext cx="1752600" cy="2354263"/>
            <a:chOff x="1084" y="2016"/>
            <a:chExt cx="788" cy="1582"/>
          </a:xfrm>
        </p:grpSpPr>
        <p:sp>
          <p:nvSpPr>
            <p:cNvPr id="15369" name="Text Box 9"/>
            <p:cNvSpPr txBox="1">
              <a:spLocks noChangeArrowheads="1"/>
            </p:cNvSpPr>
            <p:nvPr/>
          </p:nvSpPr>
          <p:spPr bwMode="auto">
            <a:xfrm>
              <a:off x="1084" y="2064"/>
              <a:ext cx="788" cy="15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2400" b="1" i="1">
                  <a:latin typeface="Times New Roman" panose="02020603050405020304" pitchFamily="18" charset="0"/>
                </a:rPr>
                <a:t> x          f(x)</a:t>
              </a:r>
            </a:p>
            <a:p>
              <a:pPr eaLnBrk="1" hangingPunct="1"/>
              <a:endParaRPr lang="en-US" sz="2400" b="1" i="1"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en-US" sz="2400">
                  <a:latin typeface="Times New Roman" panose="02020603050405020304" pitchFamily="18" charset="0"/>
                </a:rPr>
                <a:t> 3.0       2.5</a:t>
              </a:r>
            </a:p>
            <a:p>
              <a:pPr eaLnBrk="1" hangingPunct="1"/>
              <a:r>
                <a:rPr lang="en-US" sz="2400">
                  <a:latin typeface="Times New Roman" panose="02020603050405020304" pitchFamily="18" charset="0"/>
                </a:rPr>
                <a:t> </a:t>
              </a:r>
              <a:r>
                <a:rPr lang="en-US" sz="24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4.5       1.0</a:t>
              </a:r>
            </a:p>
            <a:p>
              <a:pPr eaLnBrk="1" hangingPunct="1"/>
              <a:r>
                <a:rPr lang="en-US" sz="24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 7.0       2.5</a:t>
              </a:r>
            </a:p>
            <a:p>
              <a:pPr eaLnBrk="1" hangingPunct="1"/>
              <a:r>
                <a:rPr lang="en-US" sz="2400">
                  <a:latin typeface="Times New Roman" panose="02020603050405020304" pitchFamily="18" charset="0"/>
                </a:rPr>
                <a:t> 9.0       0.5</a:t>
              </a:r>
            </a:p>
          </p:txBody>
        </p:sp>
        <p:sp>
          <p:nvSpPr>
            <p:cNvPr id="15370" name="Line 10"/>
            <p:cNvSpPr>
              <a:spLocks noChangeShapeType="1"/>
            </p:cNvSpPr>
            <p:nvPr/>
          </p:nvSpPr>
          <p:spPr bwMode="auto">
            <a:xfrm>
              <a:off x="1132" y="2448"/>
              <a:ext cx="672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5371" name="Line 11"/>
            <p:cNvSpPr>
              <a:spLocks noChangeShapeType="1"/>
            </p:cNvSpPr>
            <p:nvPr/>
          </p:nvSpPr>
          <p:spPr bwMode="auto">
            <a:xfrm>
              <a:off x="1084" y="3552"/>
              <a:ext cx="672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5372" name="Line 12"/>
            <p:cNvSpPr>
              <a:spLocks noChangeShapeType="1"/>
            </p:cNvSpPr>
            <p:nvPr/>
          </p:nvSpPr>
          <p:spPr bwMode="auto">
            <a:xfrm>
              <a:off x="1132" y="2016"/>
              <a:ext cx="672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grpSp>
        <p:nvGrpSpPr>
          <p:cNvPr id="15367" name="Group 13"/>
          <p:cNvGrpSpPr>
            <a:grpSpLocks/>
          </p:cNvGrpSpPr>
          <p:nvPr/>
        </p:nvGrpSpPr>
        <p:grpSpPr bwMode="auto">
          <a:xfrm>
            <a:off x="2514600" y="2286000"/>
            <a:ext cx="3708400" cy="2414588"/>
            <a:chOff x="2464" y="1791"/>
            <a:chExt cx="2868" cy="1888"/>
          </a:xfrm>
        </p:grpSpPr>
        <p:graphicFrame>
          <p:nvGraphicFramePr>
            <p:cNvPr id="15362" name="Object 14"/>
            <p:cNvGraphicFramePr>
              <a:graphicFrameLocks noChangeAspect="1"/>
            </p:cNvGraphicFramePr>
            <p:nvPr/>
          </p:nvGraphicFramePr>
          <p:xfrm>
            <a:off x="2554" y="1791"/>
            <a:ext cx="1905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83" name="Equation" r:id="rId3" imgW="1079280" imgH="393480" progId="Equation.3">
                    <p:embed/>
                  </p:oleObj>
                </mc:Choice>
                <mc:Fallback>
                  <p:oleObj name="Equation" r:id="rId3" imgW="1079280" imgH="39348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4" y="1791"/>
                          <a:ext cx="1905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3" name="Object 15"/>
            <p:cNvGraphicFramePr>
              <a:graphicFrameLocks noChangeAspect="1"/>
            </p:cNvGraphicFramePr>
            <p:nvPr/>
          </p:nvGraphicFramePr>
          <p:xfrm>
            <a:off x="2464" y="2562"/>
            <a:ext cx="2868" cy="1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84" name="Equation" r:id="rId5" imgW="1625400" imgH="634680" progId="Equation.3">
                    <p:embed/>
                  </p:oleObj>
                </mc:Choice>
                <mc:Fallback>
                  <p:oleObj name="Equation" r:id="rId5" imgW="1625400" imgH="63468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4" y="2562"/>
                          <a:ext cx="2868" cy="11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5368" name="Picture 16" descr="Fig181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4" r="4245" b="66197"/>
          <a:stretch>
            <a:fillRect/>
          </a:stretch>
        </p:blipFill>
        <p:spPr bwMode="auto">
          <a:xfrm>
            <a:off x="4495800" y="4343400"/>
            <a:ext cx="4114800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96962"/>
          </a:xfrm>
        </p:spPr>
        <p:txBody>
          <a:bodyPr/>
          <a:lstStyle/>
          <a:p>
            <a:pPr eaLnBrk="1" hangingPunct="1"/>
            <a:r>
              <a:rPr lang="en-US" sz="3800" b="1" smtClean="0">
                <a:solidFill>
                  <a:srgbClr val="0000CC"/>
                </a:solidFill>
              </a:rPr>
              <a:t>Linear Spline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295400"/>
            <a:ext cx="8610600" cy="4835525"/>
          </a:xfrm>
        </p:spPr>
        <p:txBody>
          <a:bodyPr/>
          <a:lstStyle/>
          <a:p>
            <a:r>
              <a:rPr lang="pt-BR" sz="2800" dirty="0"/>
              <a:t>A principal </a:t>
            </a:r>
            <a:r>
              <a:rPr lang="pt-BR" sz="2800" b="1" dirty="0"/>
              <a:t>desvantagem</a:t>
            </a:r>
            <a:r>
              <a:rPr lang="pt-BR" sz="2800" dirty="0"/>
              <a:t> do </a:t>
            </a:r>
            <a:r>
              <a:rPr lang="pt-BR" sz="2800" b="1" dirty="0" err="1"/>
              <a:t>spline</a:t>
            </a:r>
            <a:r>
              <a:rPr lang="pt-BR" sz="2800" b="1" dirty="0"/>
              <a:t> linear</a:t>
            </a:r>
            <a:r>
              <a:rPr lang="pt-BR" sz="2800" dirty="0"/>
              <a:t> é que eles não são suaves. Os pontos de dados onde 2 </a:t>
            </a:r>
            <a:r>
              <a:rPr lang="pt-BR" sz="2800" dirty="0" err="1"/>
              <a:t>splines</a:t>
            </a:r>
            <a:r>
              <a:rPr lang="pt-BR" sz="2800" dirty="0"/>
              <a:t> se encontram são chamados (um nó), as mudanças abruptamente.</a:t>
            </a:r>
          </a:p>
          <a:p>
            <a:r>
              <a:rPr lang="pt-BR" sz="2800" dirty="0"/>
              <a:t>A primeira derivada da função é descontínua nesses pontos.</a:t>
            </a:r>
          </a:p>
          <a:p>
            <a:r>
              <a:rPr lang="pt-BR" sz="2800" dirty="0"/>
              <a:t>O uso de </a:t>
            </a:r>
            <a:r>
              <a:rPr lang="pt-BR" sz="2800" b="1" dirty="0" err="1"/>
              <a:t>splines</a:t>
            </a:r>
            <a:r>
              <a:rPr lang="pt-BR" sz="2800" b="1" dirty="0"/>
              <a:t> polinomiais de ordem superior</a:t>
            </a:r>
            <a:r>
              <a:rPr lang="pt-BR" sz="2800" dirty="0"/>
              <a:t> garante suavidade nos nós ao equacionar as derivadas nesses pontos.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1030"/>
          <p:cNvSpPr>
            <a:spLocks noChangeArrowheads="1"/>
          </p:cNvSpPr>
          <p:nvPr/>
        </p:nvSpPr>
        <p:spPr bwMode="auto">
          <a:xfrm>
            <a:off x="304800" y="1066800"/>
            <a:ext cx="82296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sz="2400" b="1" dirty="0"/>
              <a:t> </a:t>
            </a:r>
            <a:r>
              <a:rPr lang="pt-BR" sz="2400" b="1" dirty="0"/>
              <a:t>Objetivo:</a:t>
            </a:r>
            <a:r>
              <a:rPr lang="pt-BR" sz="2400" dirty="0"/>
              <a:t> derivar um polinômio de segunda ordem para cada intervalo entre pontos de dados.</a:t>
            </a:r>
          </a:p>
          <a:p>
            <a:r>
              <a:rPr lang="pt-BR" sz="2400" b="1" dirty="0"/>
              <a:t>Termos: </a:t>
            </a:r>
            <a:r>
              <a:rPr lang="pt-BR" sz="2400" u="sng" dirty="0"/>
              <a:t>nós internos</a:t>
            </a:r>
            <a:r>
              <a:rPr lang="pt-BR" sz="2400" dirty="0"/>
              <a:t> e </a:t>
            </a:r>
            <a:r>
              <a:rPr lang="pt-BR" sz="2400" u="sng" dirty="0"/>
              <a:t>pontos finais</a:t>
            </a:r>
            <a:endParaRPr lang="pt-BR" sz="2400" dirty="0"/>
          </a:p>
        </p:txBody>
      </p:sp>
      <p:sp>
        <p:nvSpPr>
          <p:cNvPr id="16387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868362"/>
          </a:xfrm>
        </p:spPr>
        <p:txBody>
          <a:bodyPr/>
          <a:lstStyle/>
          <a:p>
            <a:pPr eaLnBrk="1" hangingPunct="1"/>
            <a:r>
              <a:rPr lang="en-US" sz="3800" b="1" smtClean="0">
                <a:solidFill>
                  <a:srgbClr val="0000CC"/>
                </a:solidFill>
              </a:rPr>
              <a:t>Quadric Splines</a:t>
            </a:r>
          </a:p>
        </p:txBody>
      </p:sp>
      <p:graphicFrame>
        <p:nvGraphicFramePr>
          <p:cNvPr id="16386" name="Object 1028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523877"/>
              </p:ext>
            </p:extLst>
          </p:nvPr>
        </p:nvGraphicFramePr>
        <p:xfrm>
          <a:off x="5561120" y="1442332"/>
          <a:ext cx="243522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8" name="Equation" r:id="rId3" imgW="1307880" imgH="241200" progId="Equation.3">
                  <p:embed/>
                </p:oleObj>
              </mc:Choice>
              <mc:Fallback>
                <p:oleObj name="Equation" r:id="rId3" imgW="1307880" imgH="241200" progId="Equation.3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1120" y="1442332"/>
                        <a:ext cx="2435225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389" name="Picture 103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72"/>
          <a:stretch>
            <a:fillRect/>
          </a:stretch>
        </p:blipFill>
        <p:spPr bwMode="auto">
          <a:xfrm>
            <a:off x="152400" y="2438400"/>
            <a:ext cx="6096000" cy="411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0" name="Rectangle 1032"/>
          <p:cNvSpPr>
            <a:spLocks noChangeArrowheads="1"/>
          </p:cNvSpPr>
          <p:nvPr/>
        </p:nvSpPr>
        <p:spPr bwMode="auto">
          <a:xfrm>
            <a:off x="1066800" y="6248400"/>
            <a:ext cx="4495800" cy="304800"/>
          </a:xfrm>
          <a:prstGeom prst="rect">
            <a:avLst/>
          </a:prstGeom>
          <a:noFill/>
          <a:ln w="3175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16391" name="Line 1034"/>
          <p:cNvSpPr>
            <a:spLocks noChangeShapeType="1"/>
          </p:cNvSpPr>
          <p:nvPr/>
        </p:nvSpPr>
        <p:spPr bwMode="auto">
          <a:xfrm flipH="1">
            <a:off x="5562600" y="5410200"/>
            <a:ext cx="838200" cy="990600"/>
          </a:xfrm>
          <a:prstGeom prst="line">
            <a:avLst/>
          </a:prstGeom>
          <a:noFill/>
          <a:ln w="317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6392" name="Rectangle 1035"/>
          <p:cNvSpPr>
            <a:spLocks noChangeArrowheads="1"/>
          </p:cNvSpPr>
          <p:nvPr/>
        </p:nvSpPr>
        <p:spPr bwMode="auto">
          <a:xfrm>
            <a:off x="6324600" y="3429000"/>
            <a:ext cx="2819400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b="1" u="sng" dirty="0"/>
              <a:t>Para </a:t>
            </a:r>
            <a:r>
              <a:rPr lang="pt-BR" b="1" i="1" u="sng" dirty="0"/>
              <a:t>n</a:t>
            </a:r>
            <a:r>
              <a:rPr lang="pt-BR" b="1" u="sng" dirty="0"/>
              <a:t> +1 pontos de dados:</a:t>
            </a:r>
            <a:endParaRPr lang="pt-BR" dirty="0"/>
          </a:p>
          <a:p>
            <a:r>
              <a:rPr lang="pt-BR" i="1" dirty="0"/>
              <a:t>i</a:t>
            </a:r>
            <a:r>
              <a:rPr lang="pt-BR" dirty="0"/>
              <a:t> = (0, 1, 2, ... </a:t>
            </a:r>
            <a:r>
              <a:rPr lang="pt-BR" i="1" dirty="0"/>
              <a:t>n),</a:t>
            </a:r>
            <a:endParaRPr lang="pt-BR" dirty="0"/>
          </a:p>
          <a:p>
            <a:r>
              <a:rPr lang="pt-BR" b="1" i="1" dirty="0"/>
              <a:t>n</a:t>
            </a:r>
            <a:r>
              <a:rPr lang="pt-BR" i="1" dirty="0"/>
              <a:t> intervalos,</a:t>
            </a:r>
            <a:endParaRPr lang="pt-BR" dirty="0"/>
          </a:p>
          <a:p>
            <a:r>
              <a:rPr lang="pt-BR" b="1" i="1" dirty="0"/>
              <a:t>3n</a:t>
            </a:r>
            <a:r>
              <a:rPr lang="pt-BR" i="1" dirty="0"/>
              <a:t> constantes desconhecidas (</a:t>
            </a:r>
            <a:r>
              <a:rPr lang="pt-BR" i="1" dirty="0" err="1"/>
              <a:t>a's</a:t>
            </a:r>
            <a:r>
              <a:rPr lang="pt-BR" i="1" dirty="0"/>
              <a:t>, </a:t>
            </a:r>
            <a:r>
              <a:rPr lang="pt-BR" i="1" dirty="0" err="1"/>
              <a:t>b's</a:t>
            </a:r>
            <a:r>
              <a:rPr lang="pt-BR" i="1" dirty="0"/>
              <a:t> e </a:t>
            </a:r>
            <a:r>
              <a:rPr lang="pt-BR" i="1" dirty="0" err="1"/>
              <a:t>c's</a:t>
            </a:r>
            <a:r>
              <a:rPr lang="pt-BR" i="1" dirty="0"/>
              <a:t>)</a:t>
            </a:r>
            <a:endParaRPr lang="pt-B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8438"/>
            <a:ext cx="7543800" cy="944562"/>
          </a:xfrm>
        </p:spPr>
        <p:txBody>
          <a:bodyPr/>
          <a:lstStyle/>
          <a:p>
            <a:pPr eaLnBrk="1" hangingPunct="1"/>
            <a:r>
              <a:rPr lang="en-US" sz="3800" b="1" smtClean="0">
                <a:solidFill>
                  <a:srgbClr val="0000CC"/>
                </a:solidFill>
              </a:rPr>
              <a:t>Quadric Splines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295400"/>
            <a:ext cx="8458200" cy="4835525"/>
          </a:xfrm>
        </p:spPr>
        <p:txBody>
          <a:bodyPr/>
          <a:lstStyle/>
          <a:p>
            <a:r>
              <a:rPr lang="pt-BR" dirty="0"/>
              <a:t>Os valores da função do polinômio adjacente devem ser iguais nos nós internos </a:t>
            </a:r>
            <a:r>
              <a:rPr lang="pt-BR" b="1" dirty="0"/>
              <a:t>2 (n-1</a:t>
            </a:r>
            <a:r>
              <a:rPr lang="pt-BR" dirty="0"/>
              <a:t> </a:t>
            </a:r>
            <a:r>
              <a:rPr lang="pt-BR" dirty="0" smtClean="0"/>
              <a:t>).</a:t>
            </a:r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A primeira e a última função devem passar pelos pontos finais ( </a:t>
            </a:r>
            <a:r>
              <a:rPr lang="pt-BR" b="1" dirty="0"/>
              <a:t>2</a:t>
            </a:r>
            <a:r>
              <a:rPr lang="pt-BR" dirty="0"/>
              <a:t> ).</a:t>
            </a:r>
          </a:p>
          <a:p>
            <a:pPr eaLnBrk="1" hangingPunct="1"/>
            <a:endParaRPr lang="en-US" dirty="0" smtClean="0"/>
          </a:p>
          <a:p>
            <a:pPr eaLnBrk="1" hangingPunct="1"/>
            <a:endParaRPr lang="en-US" sz="2600" dirty="0" smtClean="0"/>
          </a:p>
          <a:p>
            <a:pPr eaLnBrk="1" hangingPunct="1"/>
            <a:endParaRPr lang="en-US" sz="2600" dirty="0" smtClean="0"/>
          </a:p>
        </p:txBody>
      </p:sp>
      <p:graphicFrame>
        <p:nvGraphicFramePr>
          <p:cNvPr id="17410" name="Object 10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839788" y="2286000"/>
          <a:ext cx="6931025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4" name="Equation" r:id="rId3" imgW="2933640" imgH="507960" progId="Equation.3">
                  <p:embed/>
                </p:oleObj>
              </mc:Choice>
              <mc:Fallback>
                <p:oleObj name="Equation" r:id="rId3" imgW="2933640" imgH="50796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788" y="2286000"/>
                        <a:ext cx="6931025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12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990600" y="4724400"/>
          <a:ext cx="4343400" cy="1306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5" name="Equation" r:id="rId5" imgW="1688760" imgH="507960" progId="Equation.3">
                  <p:embed/>
                </p:oleObj>
              </mc:Choice>
              <mc:Fallback>
                <p:oleObj name="Equation" r:id="rId5" imgW="1688760" imgH="50796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724400"/>
                        <a:ext cx="4343400" cy="1306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7543800" cy="838200"/>
          </a:xfrm>
        </p:spPr>
        <p:txBody>
          <a:bodyPr/>
          <a:lstStyle/>
          <a:p>
            <a:pPr eaLnBrk="1" hangingPunct="1"/>
            <a:r>
              <a:rPr lang="en-US" sz="3800" b="1" smtClean="0">
                <a:solidFill>
                  <a:srgbClr val="0000CC"/>
                </a:solidFill>
              </a:rPr>
              <a:t>Quadric Splines</a:t>
            </a:r>
          </a:p>
        </p:txBody>
      </p:sp>
      <p:sp>
        <p:nvSpPr>
          <p:cNvPr id="6840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371600"/>
            <a:ext cx="8001000" cy="4759325"/>
          </a:xfrm>
        </p:spPr>
        <p:txBody>
          <a:bodyPr rtlCol="0">
            <a:normAutofit/>
          </a:bodyPr>
          <a:lstStyle/>
          <a:p>
            <a:r>
              <a:rPr lang="pt-BR" dirty="0"/>
              <a:t>As primeiras derivadas nos nós internos devem ser iguais ( </a:t>
            </a:r>
            <a:r>
              <a:rPr lang="pt-BR" b="1" dirty="0"/>
              <a:t>n-1</a:t>
            </a:r>
            <a:r>
              <a:rPr lang="pt-BR" dirty="0"/>
              <a:t> </a:t>
            </a:r>
            <a:r>
              <a:rPr lang="pt-BR" dirty="0" smtClean="0"/>
              <a:t>).</a:t>
            </a:r>
            <a:endParaRPr lang="pt-BR" dirty="0"/>
          </a:p>
          <a:p>
            <a:r>
              <a:rPr lang="pt-BR" dirty="0"/>
              <a:t>Suponha que a segunda derivada seja zero no primeiro ponto ( </a:t>
            </a:r>
            <a:r>
              <a:rPr lang="pt-BR" b="1" dirty="0"/>
              <a:t>1</a:t>
            </a:r>
            <a:r>
              <a:rPr lang="pt-BR" dirty="0"/>
              <a:t> </a:t>
            </a:r>
            <a:r>
              <a:rPr lang="pt-BR" dirty="0" smtClean="0"/>
              <a:t>)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r>
              <a:rPr lang="pt-BR" dirty="0"/>
              <a:t>(Os primeiros dois pontos serão conectados por uma linha reta)</a:t>
            </a:r>
          </a:p>
        </p:txBody>
      </p:sp>
      <p:graphicFrame>
        <p:nvGraphicFramePr>
          <p:cNvPr id="18434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838200" y="2362200"/>
          <a:ext cx="41910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8" name="Equation" r:id="rId3" imgW="1625400" imgH="482400" progId="Equation.3">
                  <p:embed/>
                </p:oleObj>
              </mc:Choice>
              <mc:Fallback>
                <p:oleObj name="Equation" r:id="rId3" imgW="1625400" imgH="482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362200"/>
                        <a:ext cx="41910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990600" y="4876800"/>
          <a:ext cx="1141413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9" name="Equation" r:id="rId5" imgW="330120" imgH="152280" progId="Equation.3">
                  <p:embed/>
                </p:oleObj>
              </mc:Choice>
              <mc:Fallback>
                <p:oleObj name="Equation" r:id="rId5" imgW="330120" imgH="1522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876800"/>
                        <a:ext cx="1141413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944562"/>
          </a:xfrm>
        </p:spPr>
        <p:txBody>
          <a:bodyPr/>
          <a:lstStyle/>
          <a:p>
            <a:pPr eaLnBrk="1" hangingPunct="1"/>
            <a:r>
              <a:rPr lang="en-US" sz="3800" b="1" smtClean="0">
                <a:solidFill>
                  <a:srgbClr val="0000CC"/>
                </a:solidFill>
              </a:rPr>
              <a:t>Quadric Splines - Example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371600"/>
            <a:ext cx="8458200" cy="4606925"/>
          </a:xfrm>
        </p:spPr>
        <p:txBody>
          <a:bodyPr/>
          <a:lstStyle/>
          <a:p>
            <a:r>
              <a:rPr lang="en-US" dirty="0" smtClean="0"/>
              <a:t>   </a:t>
            </a:r>
            <a:r>
              <a:rPr lang="pt-BR" dirty="0"/>
              <a:t>Ajuste os seguintes dados com </a:t>
            </a:r>
            <a:r>
              <a:rPr lang="pt-BR" b="1" u="sng" dirty="0" err="1"/>
              <a:t>splines</a:t>
            </a:r>
            <a:r>
              <a:rPr lang="pt-BR" b="1" u="sng" dirty="0"/>
              <a:t> quadráticos</a:t>
            </a:r>
            <a:r>
              <a:rPr lang="pt-BR" b="1" dirty="0"/>
              <a:t> . </a:t>
            </a:r>
            <a:r>
              <a:rPr lang="pt-BR" dirty="0"/>
              <a:t>Estime o valor em x = 5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r>
              <a:rPr lang="pt-BR" b="1" dirty="0"/>
              <a:t>Soluções:</a:t>
            </a:r>
            <a:endParaRPr lang="pt-BR" dirty="0"/>
          </a:p>
          <a:p>
            <a:r>
              <a:rPr lang="pt-BR" dirty="0"/>
              <a:t>Existem </a:t>
            </a:r>
            <a:r>
              <a:rPr lang="pt-BR" b="1" dirty="0"/>
              <a:t>3</a:t>
            </a:r>
            <a:r>
              <a:rPr lang="pt-BR" dirty="0"/>
              <a:t> intervalos (n = 3), </a:t>
            </a:r>
            <a:r>
              <a:rPr lang="pt-BR" b="1" dirty="0"/>
              <a:t>9</a:t>
            </a:r>
            <a:r>
              <a:rPr lang="pt-BR" dirty="0"/>
              <a:t> incógnitas.</a:t>
            </a:r>
          </a:p>
        </p:txBody>
      </p:sp>
      <p:graphicFrame>
        <p:nvGraphicFramePr>
          <p:cNvPr id="685086" name="Group 30"/>
          <p:cNvGraphicFramePr>
            <a:graphicFrameLocks noGrp="1"/>
          </p:cNvGraphicFramePr>
          <p:nvPr>
            <p:ph sz="half" idx="2"/>
          </p:nvPr>
        </p:nvGraphicFramePr>
        <p:xfrm>
          <a:off x="1447800" y="2590800"/>
          <a:ext cx="5181600" cy="1036638"/>
        </p:xfrm>
        <a:graphic>
          <a:graphicData uri="http://schemas.openxmlformats.org/drawingml/2006/table">
            <a:tbl>
              <a:tblPr/>
              <a:tblGrid>
                <a:gridCol w="1035050"/>
                <a:gridCol w="1036638"/>
                <a:gridCol w="1038225"/>
                <a:gridCol w="1036637"/>
                <a:gridCol w="1035050"/>
              </a:tblGrid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3.0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4.5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7.0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9.0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f(x)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2.5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2.5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0.5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944562"/>
          </a:xfrm>
        </p:spPr>
        <p:txBody>
          <a:bodyPr/>
          <a:lstStyle/>
          <a:p>
            <a:pPr eaLnBrk="1" hangingPunct="1"/>
            <a:r>
              <a:rPr lang="en-US" sz="3800" b="1" dirty="0" smtClean="0">
                <a:solidFill>
                  <a:srgbClr val="0000CC"/>
                </a:solidFill>
              </a:rPr>
              <a:t>Quadric Splines - Example</a:t>
            </a:r>
          </a:p>
        </p:txBody>
      </p:sp>
      <p:sp>
        <p:nvSpPr>
          <p:cNvPr id="1946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219200"/>
            <a:ext cx="8305800" cy="4911725"/>
          </a:xfrm>
        </p:spPr>
        <p:txBody>
          <a:bodyPr/>
          <a:lstStyle/>
          <a:p>
            <a:r>
              <a:rPr lang="pt-BR" sz="2800" b="1" u="sng" dirty="0"/>
              <a:t>Pontos internos iguais:</a:t>
            </a:r>
            <a:endParaRPr lang="pt-BR" sz="2800" dirty="0"/>
          </a:p>
          <a:p>
            <a:r>
              <a:rPr lang="pt-BR" sz="2800" b="1" dirty="0"/>
              <a:t>Para o primeiro ponto interno (4,5, 1,0)</a:t>
            </a:r>
            <a:endParaRPr lang="pt-BR" sz="2800" dirty="0"/>
          </a:p>
          <a:p>
            <a:r>
              <a:rPr lang="pt-BR" sz="2800" b="1" dirty="0"/>
              <a:t>A 1ª equação</a:t>
            </a:r>
            <a:r>
              <a:rPr lang="pt-BR" sz="2800" b="1" dirty="0" smtClean="0"/>
              <a:t>:</a:t>
            </a:r>
          </a:p>
          <a:p>
            <a:endParaRPr lang="pt-BR" sz="2800" b="1" dirty="0"/>
          </a:p>
          <a:p>
            <a:endParaRPr lang="pt-BR" sz="2800" b="1" dirty="0" smtClean="0"/>
          </a:p>
          <a:p>
            <a:endParaRPr lang="pt-BR" sz="2800" dirty="0"/>
          </a:p>
          <a:p>
            <a:r>
              <a:rPr lang="pt-BR" sz="2800" b="1" dirty="0"/>
              <a:t>A 2ª equação:</a:t>
            </a:r>
            <a:endParaRPr lang="pt-BR" sz="2800" dirty="0"/>
          </a:p>
          <a:p>
            <a:pPr marL="571500" indent="-571500" eaLnBrk="1" hangingPunct="1">
              <a:spcBef>
                <a:spcPct val="50000"/>
              </a:spcBef>
              <a:buSzPct val="75000"/>
              <a:buFont typeface="Wingdings" panose="05000000000000000000" pitchFamily="2" charset="2"/>
              <a:buChar char="Ø"/>
            </a:pPr>
            <a:endParaRPr lang="en-US" sz="3300" dirty="0" smtClean="0"/>
          </a:p>
          <a:p>
            <a:pPr marL="571500" indent="-571500" eaLnBrk="1" hangingPunct="1">
              <a:buFont typeface="Wingdings" panose="05000000000000000000" pitchFamily="2" charset="2"/>
              <a:buAutoNum type="arabicPeriod"/>
            </a:pPr>
            <a:endParaRPr lang="en-US" sz="3300" u="sng" dirty="0" smtClean="0"/>
          </a:p>
        </p:txBody>
      </p:sp>
      <p:graphicFrame>
        <p:nvGraphicFramePr>
          <p:cNvPr id="19458" name="Object 8"/>
          <p:cNvGraphicFramePr>
            <a:graphicFrameLocks noGrp="1" noChangeAspect="1"/>
          </p:cNvGraphicFramePr>
          <p:nvPr>
            <p:ph sz="half" idx="2"/>
          </p:nvPr>
        </p:nvGraphicFramePr>
        <p:xfrm>
          <a:off x="533400" y="5029200"/>
          <a:ext cx="34290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2" name="Equation" r:id="rId3" imgW="2501640" imgH="393480" progId="Equation.3">
                  <p:embed/>
                </p:oleObj>
              </mc:Choice>
              <mc:Fallback>
                <p:oleObj name="Equation" r:id="rId3" imgW="2501640" imgH="393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029200"/>
                        <a:ext cx="34290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4"/>
          <p:cNvGraphicFramePr>
            <a:graphicFrameLocks noChangeAspect="1"/>
          </p:cNvGraphicFramePr>
          <p:nvPr/>
        </p:nvGraphicFramePr>
        <p:xfrm>
          <a:off x="5105400" y="3886200"/>
          <a:ext cx="3221038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3" name="Equation" r:id="rId5" imgW="1562040" imgH="215640" progId="Equation.3">
                  <p:embed/>
                </p:oleObj>
              </mc:Choice>
              <mc:Fallback>
                <p:oleObj name="Equation" r:id="rId5" imgW="1562040" imgH="215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3886200"/>
                        <a:ext cx="3221038" cy="45085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5"/>
          <p:cNvGraphicFramePr>
            <a:graphicFrameLocks noChangeAspect="1"/>
          </p:cNvGraphicFramePr>
          <p:nvPr/>
        </p:nvGraphicFramePr>
        <p:xfrm>
          <a:off x="609600" y="3124200"/>
          <a:ext cx="281940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4" name="Equation" r:id="rId7" imgW="2387520" imgH="393480" progId="Equation.3">
                  <p:embed/>
                </p:oleObj>
              </mc:Choice>
              <mc:Fallback>
                <p:oleObj name="Equation" r:id="rId7" imgW="2387520" imgH="3934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124200"/>
                        <a:ext cx="2819400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6"/>
          <p:cNvGraphicFramePr>
            <a:graphicFrameLocks noChangeAspect="1"/>
          </p:cNvGraphicFramePr>
          <p:nvPr/>
        </p:nvGraphicFramePr>
        <p:xfrm>
          <a:off x="609600" y="3810000"/>
          <a:ext cx="37338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5" name="Equation" r:id="rId9" imgW="2984400" imgH="393480" progId="Equation.3">
                  <p:embed/>
                </p:oleObj>
              </mc:Choice>
              <mc:Fallback>
                <p:oleObj name="Equation" r:id="rId9" imgW="2984400" imgH="3934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810000"/>
                        <a:ext cx="373380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6" name="Line 7"/>
          <p:cNvSpPr>
            <a:spLocks noChangeShapeType="1"/>
          </p:cNvSpPr>
          <p:nvPr/>
        </p:nvSpPr>
        <p:spPr bwMode="auto">
          <a:xfrm>
            <a:off x="4876800" y="6019800"/>
            <a:ext cx="381000" cy="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graphicFrame>
        <p:nvGraphicFramePr>
          <p:cNvPr id="19462" name="Object 10"/>
          <p:cNvGraphicFramePr>
            <a:graphicFrameLocks noChangeAspect="1"/>
          </p:cNvGraphicFramePr>
          <p:nvPr/>
        </p:nvGraphicFramePr>
        <p:xfrm>
          <a:off x="5334000" y="5791200"/>
          <a:ext cx="3505200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6" name="Equation" r:id="rId11" imgW="2666880" imgH="317160" progId="Equation.3">
                  <p:embed/>
                </p:oleObj>
              </mc:Choice>
              <mc:Fallback>
                <p:oleObj name="Equation" r:id="rId11" imgW="2666880" imgH="31716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5791200"/>
                        <a:ext cx="3505200" cy="420688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11"/>
          <p:cNvGraphicFramePr>
            <a:graphicFrameLocks noChangeAspect="1"/>
          </p:cNvGraphicFramePr>
          <p:nvPr/>
        </p:nvGraphicFramePr>
        <p:xfrm>
          <a:off x="457200" y="5715000"/>
          <a:ext cx="4191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7" name="Equation" r:id="rId13" imgW="3098520" imgH="393480" progId="Equation.3">
                  <p:embed/>
                </p:oleObj>
              </mc:Choice>
              <mc:Fallback>
                <p:oleObj name="Equation" r:id="rId13" imgW="3098520" imgH="3934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715000"/>
                        <a:ext cx="41910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7" name="Line 12"/>
          <p:cNvSpPr>
            <a:spLocks noChangeShapeType="1"/>
          </p:cNvSpPr>
          <p:nvPr/>
        </p:nvSpPr>
        <p:spPr bwMode="auto">
          <a:xfrm>
            <a:off x="4495800" y="4114800"/>
            <a:ext cx="381000" cy="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pPr eaLnBrk="1" hangingPunct="1"/>
            <a:r>
              <a:rPr lang="en-US" sz="3800" b="1" smtClean="0">
                <a:solidFill>
                  <a:srgbClr val="0000CC"/>
                </a:solidFill>
              </a:rPr>
              <a:t>Quadric Splines - Example</a:t>
            </a:r>
          </a:p>
        </p:txBody>
      </p:sp>
      <p:sp>
        <p:nvSpPr>
          <p:cNvPr id="2048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524000"/>
            <a:ext cx="7620000" cy="4606925"/>
          </a:xfrm>
        </p:spPr>
        <p:txBody>
          <a:bodyPr/>
          <a:lstStyle/>
          <a:p>
            <a:r>
              <a:rPr lang="pt-BR" sz="2800" b="1" dirty="0"/>
              <a:t>Para o segundo ponto interno (7.0, 2.5)</a:t>
            </a:r>
            <a:endParaRPr lang="pt-BR" sz="2800" dirty="0"/>
          </a:p>
          <a:p>
            <a:r>
              <a:rPr lang="pt-BR" sz="2800" b="1" dirty="0"/>
              <a:t>A 3ª equação</a:t>
            </a:r>
            <a:r>
              <a:rPr lang="pt-BR" sz="2800" b="1" dirty="0" smtClean="0"/>
              <a:t>:</a:t>
            </a:r>
          </a:p>
          <a:p>
            <a:endParaRPr lang="pt-BR" sz="2800" b="1" dirty="0"/>
          </a:p>
          <a:p>
            <a:endParaRPr lang="pt-BR" sz="2800" b="1" dirty="0" smtClean="0"/>
          </a:p>
          <a:p>
            <a:endParaRPr lang="pt-BR" sz="2800" dirty="0"/>
          </a:p>
          <a:p>
            <a:r>
              <a:rPr lang="pt-BR" sz="2800" b="1" dirty="0"/>
              <a:t>A 4ª equação:</a:t>
            </a:r>
            <a:endParaRPr lang="pt-BR" sz="2800" dirty="0"/>
          </a:p>
          <a:p>
            <a:pPr eaLnBrk="1" hangingPunct="1">
              <a:spcBef>
                <a:spcPct val="50000"/>
              </a:spcBef>
              <a:buSzPct val="75000"/>
              <a:buFont typeface="Wingdings" panose="05000000000000000000" pitchFamily="2" charset="2"/>
              <a:buChar char="Ø"/>
            </a:pPr>
            <a:endParaRPr lang="en-US" sz="2800" dirty="0" smtClean="0"/>
          </a:p>
          <a:p>
            <a:pPr eaLnBrk="1" hangingPunct="1">
              <a:spcBef>
                <a:spcPct val="50000"/>
              </a:spcBef>
              <a:buSzPct val="75000"/>
              <a:buFont typeface="Wingdings" panose="05000000000000000000" pitchFamily="2" charset="2"/>
              <a:buChar char="Ø"/>
            </a:pPr>
            <a:endParaRPr lang="en-US" sz="3300" dirty="0" smtClean="0"/>
          </a:p>
          <a:p>
            <a:pPr eaLnBrk="1" hangingPunct="1"/>
            <a:endParaRPr lang="en-US" sz="2600" dirty="0" smtClean="0"/>
          </a:p>
        </p:txBody>
      </p:sp>
      <p:graphicFrame>
        <p:nvGraphicFramePr>
          <p:cNvPr id="20482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876800" y="3281363"/>
          <a:ext cx="3048000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6" name="Equation" r:id="rId3" imgW="2590560" imgH="368280" progId="Equation.3">
                  <p:embed/>
                </p:oleObj>
              </mc:Choice>
              <mc:Fallback>
                <p:oleObj name="Equation" r:id="rId3" imgW="2590560" imgH="3682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281363"/>
                        <a:ext cx="3048000" cy="433387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954588" y="5562600"/>
          <a:ext cx="281463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7" name="Equation" r:id="rId5" imgW="2539800" imgH="380880" progId="Equation.3">
                  <p:embed/>
                </p:oleObj>
              </mc:Choice>
              <mc:Fallback>
                <p:oleObj name="Equation" r:id="rId5" imgW="2539800" imgH="3808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4588" y="5562600"/>
                        <a:ext cx="2814637" cy="422275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8"/>
          <p:cNvGraphicFramePr>
            <a:graphicFrameLocks noChangeAspect="1"/>
          </p:cNvGraphicFramePr>
          <p:nvPr/>
        </p:nvGraphicFramePr>
        <p:xfrm>
          <a:off x="609600" y="2743200"/>
          <a:ext cx="304958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8" name="Equation" r:id="rId7" imgW="1485720" imgH="228600" progId="Equation.3">
                  <p:embed/>
                </p:oleObj>
              </mc:Choice>
              <mc:Fallback>
                <p:oleObj name="Equation" r:id="rId7" imgW="148572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743200"/>
                        <a:ext cx="3049588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9"/>
          <p:cNvGraphicFramePr>
            <a:graphicFrameLocks noChangeAspect="1"/>
          </p:cNvGraphicFramePr>
          <p:nvPr/>
        </p:nvGraphicFramePr>
        <p:xfrm>
          <a:off x="609600" y="3276600"/>
          <a:ext cx="32766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9" name="Equation" r:id="rId9" imgW="1485720" imgH="228600" progId="Equation.3">
                  <p:embed/>
                </p:oleObj>
              </mc:Choice>
              <mc:Fallback>
                <p:oleObj name="Equation" r:id="rId9" imgW="148572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276600"/>
                        <a:ext cx="3276600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10"/>
          <p:cNvGraphicFramePr>
            <a:graphicFrameLocks noChangeAspect="1"/>
          </p:cNvGraphicFramePr>
          <p:nvPr/>
        </p:nvGraphicFramePr>
        <p:xfrm>
          <a:off x="685800" y="4724400"/>
          <a:ext cx="35052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0" name="Equation" r:id="rId11" imgW="1460160" imgH="241200" progId="Equation.3">
                  <p:embed/>
                </p:oleObj>
              </mc:Choice>
              <mc:Fallback>
                <p:oleObj name="Equation" r:id="rId11" imgW="1460160" imgH="241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724400"/>
                        <a:ext cx="3505200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Object 11"/>
          <p:cNvGraphicFramePr>
            <a:graphicFrameLocks noChangeAspect="1"/>
          </p:cNvGraphicFramePr>
          <p:nvPr/>
        </p:nvGraphicFramePr>
        <p:xfrm>
          <a:off x="685800" y="5562600"/>
          <a:ext cx="35052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1" name="Equation" r:id="rId13" imgW="1473120" imgH="241200" progId="Equation.3">
                  <p:embed/>
                </p:oleObj>
              </mc:Choice>
              <mc:Fallback>
                <p:oleObj name="Equation" r:id="rId13" imgW="1473120" imgH="2412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562600"/>
                        <a:ext cx="350520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0" name="Line 12"/>
          <p:cNvSpPr>
            <a:spLocks noChangeShapeType="1"/>
          </p:cNvSpPr>
          <p:nvPr/>
        </p:nvSpPr>
        <p:spPr bwMode="auto">
          <a:xfrm>
            <a:off x="4191000" y="3505200"/>
            <a:ext cx="381000" cy="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0491" name="Line 13"/>
          <p:cNvSpPr>
            <a:spLocks noChangeShapeType="1"/>
          </p:cNvSpPr>
          <p:nvPr/>
        </p:nvSpPr>
        <p:spPr bwMode="auto">
          <a:xfrm>
            <a:off x="4343400" y="5867400"/>
            <a:ext cx="381000" cy="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944562"/>
          </a:xfrm>
        </p:spPr>
        <p:txBody>
          <a:bodyPr/>
          <a:lstStyle/>
          <a:p>
            <a:pPr eaLnBrk="1" hangingPunct="1"/>
            <a:r>
              <a:rPr lang="en-US" sz="3800" b="1" smtClean="0">
                <a:solidFill>
                  <a:srgbClr val="0000CC"/>
                </a:solidFill>
              </a:rPr>
              <a:t>Quadric Splines - Example</a:t>
            </a:r>
          </a:p>
        </p:txBody>
      </p:sp>
      <p:sp>
        <p:nvSpPr>
          <p:cNvPr id="215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8001000" cy="4683125"/>
          </a:xfrm>
        </p:spPr>
        <p:txBody>
          <a:bodyPr/>
          <a:lstStyle/>
          <a:p>
            <a:r>
              <a:rPr lang="en-US" sz="2600" dirty="0" smtClean="0"/>
              <a:t> </a:t>
            </a:r>
            <a:r>
              <a:rPr lang="pt-BR" dirty="0"/>
              <a:t>A primeira e a última função passam pelos pontos finais</a:t>
            </a:r>
          </a:p>
          <a:p>
            <a:r>
              <a:rPr lang="pt-BR" dirty="0"/>
              <a:t>Para o ponto inicial </a:t>
            </a:r>
            <a:r>
              <a:rPr lang="pt-BR" b="1" dirty="0"/>
              <a:t>(3.0, 2.5</a:t>
            </a:r>
            <a:r>
              <a:rPr lang="pt-BR" b="1" dirty="0" smtClean="0"/>
              <a:t>)</a:t>
            </a:r>
          </a:p>
          <a:p>
            <a:endParaRPr lang="pt-BR" b="1" dirty="0"/>
          </a:p>
          <a:p>
            <a:endParaRPr lang="pt-BR" b="1" dirty="0" smtClean="0"/>
          </a:p>
          <a:p>
            <a:endParaRPr lang="pt-BR" b="1" dirty="0"/>
          </a:p>
          <a:p>
            <a:endParaRPr lang="pt-BR" dirty="0"/>
          </a:p>
          <a:p>
            <a:r>
              <a:rPr lang="pt-BR" dirty="0"/>
              <a:t>Para o ponto final </a:t>
            </a:r>
            <a:r>
              <a:rPr lang="pt-BR" b="1" dirty="0"/>
              <a:t>(9, 0,5)</a:t>
            </a:r>
            <a:endParaRPr lang="pt-BR" dirty="0"/>
          </a:p>
        </p:txBody>
      </p:sp>
      <p:graphicFrame>
        <p:nvGraphicFramePr>
          <p:cNvPr id="21506" name="Object 8"/>
          <p:cNvGraphicFramePr>
            <a:graphicFrameLocks noGrp="1" noChangeAspect="1"/>
          </p:cNvGraphicFramePr>
          <p:nvPr>
            <p:ph sz="half" idx="2"/>
          </p:nvPr>
        </p:nvGraphicFramePr>
        <p:xfrm>
          <a:off x="5105400" y="2971800"/>
          <a:ext cx="281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1" name="Equation" r:id="rId3" imgW="2273040" imgH="368280" progId="Equation.3">
                  <p:embed/>
                </p:oleObj>
              </mc:Choice>
              <mc:Fallback>
                <p:oleObj name="Equation" r:id="rId3" imgW="2273040" imgH="3682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2971800"/>
                        <a:ext cx="2819400" cy="4572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4"/>
          <p:cNvGraphicFramePr>
            <a:graphicFrameLocks noChangeAspect="1"/>
          </p:cNvGraphicFramePr>
          <p:nvPr/>
        </p:nvGraphicFramePr>
        <p:xfrm>
          <a:off x="5257800" y="5181600"/>
          <a:ext cx="28956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2" name="Equation" r:id="rId5" imgW="2489040" imgH="380880" progId="Equation.3">
                  <p:embed/>
                </p:oleObj>
              </mc:Choice>
              <mc:Fallback>
                <p:oleObj name="Equation" r:id="rId5" imgW="2489040" imgH="3808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5181600"/>
                        <a:ext cx="2895600" cy="442913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2" name="Rectangle 5"/>
          <p:cNvSpPr>
            <a:spLocks noChangeArrowheads="1"/>
          </p:cNvSpPr>
          <p:nvPr/>
        </p:nvSpPr>
        <p:spPr bwMode="auto">
          <a:xfrm>
            <a:off x="533400" y="3124200"/>
            <a:ext cx="46482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pt-BR"/>
          </a:p>
        </p:txBody>
      </p:sp>
      <p:graphicFrame>
        <p:nvGraphicFramePr>
          <p:cNvPr id="21508" name="Object 6"/>
          <p:cNvGraphicFramePr>
            <a:graphicFrameLocks noChangeAspect="1"/>
          </p:cNvGraphicFramePr>
          <p:nvPr/>
        </p:nvGraphicFramePr>
        <p:xfrm>
          <a:off x="685800" y="2895600"/>
          <a:ext cx="3733800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3" name="Equation" r:id="rId7" imgW="1485720" imgH="241200" progId="Equation.3">
                  <p:embed/>
                </p:oleObj>
              </mc:Choice>
              <mc:Fallback>
                <p:oleObj name="Equation" r:id="rId7" imgW="1485720" imgH="241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895600"/>
                        <a:ext cx="3733800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7"/>
          <p:cNvGraphicFramePr>
            <a:graphicFrameLocks noChangeAspect="1"/>
          </p:cNvGraphicFramePr>
          <p:nvPr/>
        </p:nvGraphicFramePr>
        <p:xfrm>
          <a:off x="533400" y="4953000"/>
          <a:ext cx="3844925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4" name="Equation" r:id="rId9" imgW="1447560" imgH="241200" progId="Equation.3">
                  <p:embed/>
                </p:oleObj>
              </mc:Choice>
              <mc:Fallback>
                <p:oleObj name="Equation" r:id="rId9" imgW="1447560" imgH="241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953000"/>
                        <a:ext cx="3844925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3" name="Line 10"/>
          <p:cNvSpPr>
            <a:spLocks noChangeShapeType="1"/>
          </p:cNvSpPr>
          <p:nvPr/>
        </p:nvSpPr>
        <p:spPr bwMode="auto">
          <a:xfrm>
            <a:off x="4572000" y="3276600"/>
            <a:ext cx="381000" cy="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1514" name="Line 11"/>
          <p:cNvSpPr>
            <a:spLocks noChangeShapeType="1"/>
          </p:cNvSpPr>
          <p:nvPr/>
        </p:nvSpPr>
        <p:spPr bwMode="auto">
          <a:xfrm>
            <a:off x="4648200" y="5410200"/>
            <a:ext cx="381000" cy="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944562"/>
          </a:xfrm>
        </p:spPr>
        <p:txBody>
          <a:bodyPr/>
          <a:lstStyle/>
          <a:p>
            <a:pPr eaLnBrk="1" hangingPunct="1"/>
            <a:r>
              <a:rPr lang="en-US" sz="3800" b="1" smtClean="0">
                <a:solidFill>
                  <a:srgbClr val="0000CC"/>
                </a:solidFill>
              </a:rPr>
              <a:t>Quadric Splines - Example</a:t>
            </a:r>
          </a:p>
        </p:txBody>
      </p:sp>
      <p:sp>
        <p:nvSpPr>
          <p:cNvPr id="2253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143000"/>
            <a:ext cx="8077200" cy="4987925"/>
          </a:xfrm>
        </p:spPr>
        <p:txBody>
          <a:bodyPr/>
          <a:lstStyle/>
          <a:p>
            <a:r>
              <a:rPr lang="pt-BR" dirty="0"/>
              <a:t>Derivadas iguais nos nós internos.</a:t>
            </a:r>
          </a:p>
          <a:p>
            <a:r>
              <a:rPr lang="pt-BR" dirty="0"/>
              <a:t>Para o primeiro ponto interno </a:t>
            </a:r>
            <a:r>
              <a:rPr lang="pt-BR" b="1" dirty="0"/>
              <a:t>(4,5, 1,0</a:t>
            </a:r>
            <a:r>
              <a:rPr lang="pt-BR" b="1" dirty="0" smtClean="0"/>
              <a:t>)</a:t>
            </a:r>
          </a:p>
          <a:p>
            <a:endParaRPr lang="pt-BR" b="1" dirty="0"/>
          </a:p>
          <a:p>
            <a:endParaRPr lang="pt-BR" b="1" dirty="0" smtClean="0"/>
          </a:p>
          <a:p>
            <a:endParaRPr lang="pt-BR" dirty="0"/>
          </a:p>
          <a:p>
            <a:r>
              <a:rPr lang="pt-BR" dirty="0"/>
              <a:t>Para o segundo ponto interno </a:t>
            </a:r>
            <a:r>
              <a:rPr lang="pt-BR" b="1" dirty="0"/>
              <a:t>(7.0, 2.5</a:t>
            </a:r>
            <a:r>
              <a:rPr lang="pt-BR" b="1" dirty="0" smtClean="0"/>
              <a:t>)</a:t>
            </a:r>
          </a:p>
          <a:p>
            <a:endParaRPr lang="pt-BR" b="1" dirty="0"/>
          </a:p>
          <a:p>
            <a:endParaRPr lang="pt-BR" b="1" dirty="0" smtClean="0"/>
          </a:p>
          <a:p>
            <a:endParaRPr lang="pt-BR" dirty="0"/>
          </a:p>
          <a:p>
            <a:r>
              <a:rPr lang="pt-BR" dirty="0"/>
              <a:t>A segunda derivada no primeiro ponto é 0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2600" dirty="0" smtClean="0"/>
          </a:p>
          <a:p>
            <a:pPr eaLnBrk="1" hangingPunct="1"/>
            <a:endParaRPr lang="en-US" sz="2600" dirty="0" smtClean="0"/>
          </a:p>
        </p:txBody>
      </p:sp>
      <p:graphicFrame>
        <p:nvGraphicFramePr>
          <p:cNvPr id="22530" name="Object 8"/>
          <p:cNvGraphicFramePr>
            <a:graphicFrameLocks noGrp="1" noChangeAspect="1"/>
          </p:cNvGraphicFramePr>
          <p:nvPr>
            <p:ph sz="half" idx="2"/>
          </p:nvPr>
        </p:nvGraphicFramePr>
        <p:xfrm>
          <a:off x="2743200" y="5410200"/>
          <a:ext cx="22844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9" name="Equation" r:id="rId3" imgW="1638000" imgH="419040" progId="Equation.3">
                  <p:embed/>
                </p:oleObj>
              </mc:Choice>
              <mc:Fallback>
                <p:oleObj name="Equation" r:id="rId3" imgW="1638000" imgH="4190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5410200"/>
                        <a:ext cx="2284413" cy="5842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Object 4"/>
          <p:cNvGraphicFramePr>
            <a:graphicFrameLocks noChangeAspect="1"/>
          </p:cNvGraphicFramePr>
          <p:nvPr/>
        </p:nvGraphicFramePr>
        <p:xfrm>
          <a:off x="4648200" y="2514600"/>
          <a:ext cx="274320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0" name="Equation" r:id="rId5" imgW="2222280" imgH="368280" progId="Equation.3">
                  <p:embed/>
                </p:oleObj>
              </mc:Choice>
              <mc:Fallback>
                <p:oleObj name="Equation" r:id="rId5" imgW="2222280" imgH="3682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2514600"/>
                        <a:ext cx="2743200" cy="461963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5"/>
          <p:cNvGraphicFramePr>
            <a:graphicFrameLocks noChangeAspect="1"/>
          </p:cNvGraphicFramePr>
          <p:nvPr/>
        </p:nvGraphicFramePr>
        <p:xfrm>
          <a:off x="609600" y="2362200"/>
          <a:ext cx="335280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1" name="Equation" r:id="rId7" imgW="2387520" imgH="419040" progId="Equation.3">
                  <p:embed/>
                </p:oleObj>
              </mc:Choice>
              <mc:Fallback>
                <p:oleObj name="Equation" r:id="rId7" imgW="2387520" imgH="4190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362200"/>
                        <a:ext cx="3352800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Object 6"/>
          <p:cNvGraphicFramePr>
            <a:graphicFrameLocks noChangeAspect="1"/>
          </p:cNvGraphicFramePr>
          <p:nvPr/>
        </p:nvGraphicFramePr>
        <p:xfrm>
          <a:off x="5029200" y="3962400"/>
          <a:ext cx="350520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2" name="Equation" r:id="rId9" imgW="2539800" imgH="380880" progId="Equation.3">
                  <p:embed/>
                </p:oleObj>
              </mc:Choice>
              <mc:Fallback>
                <p:oleObj name="Equation" r:id="rId9" imgW="2539800" imgH="3808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3962400"/>
                        <a:ext cx="3505200" cy="525463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Object 7"/>
          <p:cNvGraphicFramePr>
            <a:graphicFrameLocks noChangeAspect="1"/>
          </p:cNvGraphicFramePr>
          <p:nvPr/>
        </p:nvGraphicFramePr>
        <p:xfrm>
          <a:off x="533400" y="3810000"/>
          <a:ext cx="3810000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3" name="Equation" r:id="rId11" imgW="2438280" imgH="431640" progId="Equation.3">
                  <p:embed/>
                </p:oleObj>
              </mc:Choice>
              <mc:Fallback>
                <p:oleObj name="Equation" r:id="rId11" imgW="2438280" imgH="4316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810000"/>
                        <a:ext cx="3810000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7" name="Line 10"/>
          <p:cNvSpPr>
            <a:spLocks noChangeShapeType="1"/>
          </p:cNvSpPr>
          <p:nvPr/>
        </p:nvSpPr>
        <p:spPr bwMode="auto">
          <a:xfrm>
            <a:off x="4038600" y="2743200"/>
            <a:ext cx="381000" cy="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2538" name="Line 11"/>
          <p:cNvSpPr>
            <a:spLocks noChangeShapeType="1"/>
          </p:cNvSpPr>
          <p:nvPr/>
        </p:nvSpPr>
        <p:spPr bwMode="auto">
          <a:xfrm>
            <a:off x="4495800" y="4267200"/>
            <a:ext cx="381000" cy="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800" b="1" smtClean="0">
                <a:solidFill>
                  <a:srgbClr val="0000CC"/>
                </a:solidFill>
              </a:rPr>
              <a:t>Quadric Splines - Example</a:t>
            </a:r>
          </a:p>
        </p:txBody>
      </p:sp>
      <p:graphicFrame>
        <p:nvGraphicFramePr>
          <p:cNvPr id="23554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762000" y="1773238"/>
          <a:ext cx="7466013" cy="432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0" name="Equation" r:id="rId3" imgW="3200400" imgH="1854000" progId="Equation.3">
                  <p:embed/>
                </p:oleObj>
              </mc:Choice>
              <mc:Fallback>
                <p:oleObj name="Equation" r:id="rId3" imgW="3200400" imgH="1854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773238"/>
                        <a:ext cx="7466013" cy="432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944562"/>
          </a:xfrm>
        </p:spPr>
        <p:txBody>
          <a:bodyPr/>
          <a:lstStyle/>
          <a:p>
            <a:pPr eaLnBrk="1" hangingPunct="1"/>
            <a:r>
              <a:rPr lang="en-US" sz="3800" b="1" smtClean="0">
                <a:solidFill>
                  <a:srgbClr val="0000CC"/>
                </a:solidFill>
              </a:rPr>
              <a:t>Quadric Splines - Example</a:t>
            </a:r>
          </a:p>
        </p:txBody>
      </p:sp>
      <p:sp>
        <p:nvSpPr>
          <p:cNvPr id="2458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r>
              <a:rPr lang="pt-BR" dirty="0"/>
              <a:t>Resolvendo essas 8 equações com 8 incógnitas</a:t>
            </a:r>
          </a:p>
        </p:txBody>
      </p:sp>
      <p:graphicFrame>
        <p:nvGraphicFramePr>
          <p:cNvPr id="24578" name="Object 7"/>
          <p:cNvGraphicFramePr>
            <a:graphicFrameLocks noChangeAspect="1"/>
          </p:cNvGraphicFramePr>
          <p:nvPr/>
        </p:nvGraphicFramePr>
        <p:xfrm>
          <a:off x="838200" y="2127250"/>
          <a:ext cx="4419600" cy="151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5" name="Equation" r:id="rId3" imgW="2031840" imgH="685800" progId="Equation.3">
                  <p:embed/>
                </p:oleObj>
              </mc:Choice>
              <mc:Fallback>
                <p:oleObj name="Equation" r:id="rId3" imgW="2031840" imgH="685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127250"/>
                        <a:ext cx="4419600" cy="1514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9" name="Object 13"/>
          <p:cNvGraphicFramePr>
            <a:graphicFrameLocks noChangeAspect="1"/>
          </p:cNvGraphicFramePr>
          <p:nvPr/>
        </p:nvGraphicFramePr>
        <p:xfrm>
          <a:off x="838200" y="4038600"/>
          <a:ext cx="25908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6" name="Equation" r:id="rId5" imgW="2019240" imgH="368280" progId="Equation.3">
                  <p:embed/>
                </p:oleObj>
              </mc:Choice>
              <mc:Fallback>
                <p:oleObj name="Equation" r:id="rId5" imgW="2019240" imgH="3682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038600"/>
                        <a:ext cx="2590800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0" name="Object 15"/>
          <p:cNvGraphicFramePr>
            <a:graphicFrameLocks noChangeAspect="1"/>
          </p:cNvGraphicFramePr>
          <p:nvPr/>
        </p:nvGraphicFramePr>
        <p:xfrm>
          <a:off x="5638800" y="4114800"/>
          <a:ext cx="190500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7" name="Equation" r:id="rId7" imgW="1536480" imgH="279360" progId="Equation.3">
                  <p:embed/>
                </p:oleObj>
              </mc:Choice>
              <mc:Fallback>
                <p:oleObj name="Equation" r:id="rId7" imgW="1536480" imgH="27936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4114800"/>
                        <a:ext cx="1905000" cy="349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1" name="Object 17"/>
          <p:cNvGraphicFramePr>
            <a:graphicFrameLocks noChangeAspect="1"/>
          </p:cNvGraphicFramePr>
          <p:nvPr/>
        </p:nvGraphicFramePr>
        <p:xfrm>
          <a:off x="762000" y="4713288"/>
          <a:ext cx="457200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8" name="Equation" r:id="rId9" imgW="3822480" imgH="444240" progId="Equation.3">
                  <p:embed/>
                </p:oleObj>
              </mc:Choice>
              <mc:Fallback>
                <p:oleObj name="Equation" r:id="rId9" imgW="3822480" imgH="44424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713288"/>
                        <a:ext cx="4572000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2" name="Object 19"/>
          <p:cNvGraphicFramePr>
            <a:graphicFrameLocks noChangeAspect="1"/>
          </p:cNvGraphicFramePr>
          <p:nvPr/>
        </p:nvGraphicFramePr>
        <p:xfrm>
          <a:off x="5715000" y="4876800"/>
          <a:ext cx="1676400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9" name="Equation" r:id="rId11" imgW="1549080" imgH="279360" progId="Equation.3">
                  <p:embed/>
                </p:oleObj>
              </mc:Choice>
              <mc:Fallback>
                <p:oleObj name="Equation" r:id="rId11" imgW="1549080" imgH="27936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4876800"/>
                        <a:ext cx="1676400" cy="307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3" name="Object 21"/>
          <p:cNvGraphicFramePr>
            <a:graphicFrameLocks noChangeAspect="1"/>
          </p:cNvGraphicFramePr>
          <p:nvPr/>
        </p:nvGraphicFramePr>
        <p:xfrm>
          <a:off x="762000" y="5486400"/>
          <a:ext cx="43434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0" name="Equation" r:id="rId13" imgW="3695400" imgH="457200" progId="Equation.3">
                  <p:embed/>
                </p:oleObj>
              </mc:Choice>
              <mc:Fallback>
                <p:oleObj name="Equation" r:id="rId13" imgW="3695400" imgH="4572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5486400"/>
                        <a:ext cx="4343400" cy="530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4" name="Object 23"/>
          <p:cNvGraphicFramePr>
            <a:graphicFrameLocks noChangeAspect="1"/>
          </p:cNvGraphicFramePr>
          <p:nvPr/>
        </p:nvGraphicFramePr>
        <p:xfrm>
          <a:off x="5791200" y="5638800"/>
          <a:ext cx="1752600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1" name="Equation" r:id="rId15" imgW="1536480" imgH="279360" progId="Equation.3">
                  <p:embed/>
                </p:oleObj>
              </mc:Choice>
              <mc:Fallback>
                <p:oleObj name="Equation" r:id="rId15" imgW="1536480" imgH="27936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5638800"/>
                        <a:ext cx="1752600" cy="322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457200" y="122238"/>
            <a:ext cx="7543800" cy="86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3800" b="1">
                <a:solidFill>
                  <a:srgbClr val="0000CC"/>
                </a:solidFill>
              </a:rPr>
              <a:t>Cubic Splines</a:t>
            </a:r>
          </a:p>
        </p:txBody>
      </p:sp>
      <p:graphicFrame>
        <p:nvGraphicFramePr>
          <p:cNvPr id="2560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4097184"/>
              </p:ext>
            </p:extLst>
          </p:nvPr>
        </p:nvGraphicFramePr>
        <p:xfrm>
          <a:off x="2324100" y="3276600"/>
          <a:ext cx="4495800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9" name="Equation" r:id="rId3" imgW="1701720" imgH="241200" progId="Equation.3">
                  <p:embed/>
                </p:oleObj>
              </mc:Choice>
              <mc:Fallback>
                <p:oleObj name="Equation" r:id="rId3" imgW="1701720" imgH="241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3276600"/>
                        <a:ext cx="4495800" cy="63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4" name="Rectangle 6"/>
          <p:cNvSpPr>
            <a:spLocks noChangeArrowheads="1"/>
          </p:cNvSpPr>
          <p:nvPr/>
        </p:nvSpPr>
        <p:spPr bwMode="auto">
          <a:xfrm>
            <a:off x="533400" y="1371600"/>
            <a:ext cx="8077200" cy="613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sz="2800" b="1" dirty="0"/>
              <a:t>Objetivo:</a:t>
            </a:r>
            <a:r>
              <a:rPr lang="pt-BR" sz="2800" dirty="0"/>
              <a:t> derivar um polinômio de terceira ordem para cada intervalo entre pontos de dados</a:t>
            </a:r>
            <a:r>
              <a:rPr lang="pt-BR" sz="2800" dirty="0" smtClean="0"/>
              <a:t>.</a:t>
            </a:r>
          </a:p>
          <a:p>
            <a:endParaRPr lang="pt-BR" sz="2800" dirty="0"/>
          </a:p>
          <a:p>
            <a:r>
              <a:rPr lang="pt-BR" sz="2800" b="1" dirty="0"/>
              <a:t>Termos: </a:t>
            </a:r>
            <a:r>
              <a:rPr lang="pt-BR" sz="2800" u="sng" dirty="0"/>
              <a:t>nós internos</a:t>
            </a:r>
            <a:r>
              <a:rPr lang="pt-BR" sz="2800" dirty="0"/>
              <a:t> e </a:t>
            </a:r>
            <a:r>
              <a:rPr lang="pt-BR" sz="2800" u="sng" dirty="0"/>
              <a:t>pontos </a:t>
            </a:r>
            <a:r>
              <a:rPr lang="pt-BR" sz="2800" u="sng" dirty="0" smtClean="0"/>
              <a:t>finais</a:t>
            </a:r>
          </a:p>
          <a:p>
            <a:endParaRPr lang="pt-BR" sz="2800" u="sng" dirty="0"/>
          </a:p>
          <a:p>
            <a:endParaRPr lang="pt-BR" sz="2800" dirty="0"/>
          </a:p>
          <a:p>
            <a:r>
              <a:rPr lang="pt-BR" sz="2800" b="1" u="sng" dirty="0"/>
              <a:t>Para </a:t>
            </a:r>
            <a:r>
              <a:rPr lang="pt-BR" sz="2800" b="1" i="1" u="sng" dirty="0"/>
              <a:t>n</a:t>
            </a:r>
            <a:r>
              <a:rPr lang="pt-BR" sz="2800" b="1" u="sng" dirty="0"/>
              <a:t> +1 pontos de dados:</a:t>
            </a:r>
            <a:endParaRPr lang="pt-BR" sz="2800" dirty="0"/>
          </a:p>
          <a:p>
            <a:r>
              <a:rPr lang="pt-BR" sz="2800" i="1" dirty="0"/>
              <a:t>i</a:t>
            </a:r>
            <a:r>
              <a:rPr lang="pt-BR" sz="2800" dirty="0"/>
              <a:t> = (0, 1, 2, ... </a:t>
            </a:r>
            <a:r>
              <a:rPr lang="pt-BR" sz="2800" i="1" dirty="0"/>
              <a:t>n),</a:t>
            </a:r>
            <a:endParaRPr lang="pt-BR" sz="2800" dirty="0"/>
          </a:p>
          <a:p>
            <a:r>
              <a:rPr lang="pt-BR" sz="2800" b="1" i="1" dirty="0"/>
              <a:t>n</a:t>
            </a:r>
            <a:r>
              <a:rPr lang="pt-BR" sz="2800" i="1" dirty="0"/>
              <a:t> intervalos</a:t>
            </a:r>
            <a:r>
              <a:rPr lang="pt-BR" sz="2800" i="1" dirty="0" smtClean="0"/>
              <a:t>,</a:t>
            </a:r>
          </a:p>
          <a:p>
            <a:endParaRPr lang="pt-BR" sz="2800" dirty="0"/>
          </a:p>
          <a:p>
            <a:r>
              <a:rPr lang="pt-BR" sz="2800" b="1" i="1" dirty="0"/>
              <a:t>4n</a:t>
            </a:r>
            <a:r>
              <a:rPr lang="pt-BR" sz="2800" i="1" dirty="0"/>
              <a:t> constantes desconhecidas (</a:t>
            </a:r>
            <a:r>
              <a:rPr lang="pt-BR" sz="2800" i="1" dirty="0" err="1"/>
              <a:t>a's</a:t>
            </a:r>
            <a:r>
              <a:rPr lang="pt-BR" sz="2800" i="1" dirty="0"/>
              <a:t>, </a:t>
            </a:r>
            <a:r>
              <a:rPr lang="pt-BR" sz="2800" i="1" dirty="0" err="1"/>
              <a:t>b's</a:t>
            </a:r>
            <a:r>
              <a:rPr lang="pt-BR" sz="2800" i="1" dirty="0"/>
              <a:t>, </a:t>
            </a:r>
            <a:r>
              <a:rPr lang="pt-BR" sz="2800" i="1" dirty="0" err="1"/>
              <a:t>c's</a:t>
            </a:r>
            <a:r>
              <a:rPr lang="pt-BR" sz="2800" i="1" dirty="0"/>
              <a:t> e d's)</a:t>
            </a:r>
            <a:endParaRPr lang="pt-BR" sz="2800" dirty="0"/>
          </a:p>
          <a:p>
            <a:r>
              <a:rPr lang="pt-BR" sz="2800" dirty="0" smtClean="0"/>
              <a:t/>
            </a:r>
            <a:br>
              <a:rPr lang="pt-BR" sz="2800" dirty="0" smtClean="0"/>
            </a:br>
            <a:endParaRPr lang="en-US" sz="2800" u="sng" dirty="0"/>
          </a:p>
          <a:p>
            <a:pPr eaLnBrk="1" hangingPunct="1">
              <a:lnSpc>
                <a:spcPct val="120000"/>
              </a:lnSpc>
              <a:buClr>
                <a:srgbClr val="1B0793"/>
              </a:buClr>
              <a:buSzPct val="140000"/>
              <a:buFontTx/>
              <a:buChar char="•"/>
            </a:pPr>
            <a:endParaRPr lang="en-US" sz="2400" u="sng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8438"/>
            <a:ext cx="7543800" cy="1020762"/>
          </a:xfrm>
        </p:spPr>
        <p:txBody>
          <a:bodyPr/>
          <a:lstStyle/>
          <a:p>
            <a:pPr eaLnBrk="1" hangingPunct="1"/>
            <a:r>
              <a:rPr lang="en-US" sz="3800" b="1" smtClean="0">
                <a:solidFill>
                  <a:srgbClr val="0000CC"/>
                </a:solidFill>
              </a:rPr>
              <a:t>Cubic Splines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371600"/>
            <a:ext cx="8686800" cy="4759325"/>
          </a:xfrm>
        </p:spPr>
        <p:txBody>
          <a:bodyPr>
            <a:normAutofit fontScale="92500" lnSpcReduction="10000"/>
          </a:bodyPr>
          <a:lstStyle/>
          <a:p>
            <a:r>
              <a:rPr lang="pt-BR" sz="2800" dirty="0"/>
              <a:t>Os valores da função devem ser iguais nos nós internos </a:t>
            </a:r>
            <a:r>
              <a:rPr lang="pt-BR" sz="2800" b="1" dirty="0"/>
              <a:t>(2n-2).</a:t>
            </a:r>
            <a:endParaRPr lang="pt-BR" sz="2800" dirty="0"/>
          </a:p>
          <a:p>
            <a:r>
              <a:rPr lang="pt-BR" sz="2800" dirty="0"/>
              <a:t>A primeira e a última função devem passar pelos pontos finais </a:t>
            </a:r>
            <a:r>
              <a:rPr lang="pt-BR" sz="2800" b="1" dirty="0"/>
              <a:t>(2).</a:t>
            </a:r>
            <a:endParaRPr lang="pt-BR" sz="2800" dirty="0"/>
          </a:p>
          <a:p>
            <a:r>
              <a:rPr lang="pt-BR" sz="2800" dirty="0"/>
              <a:t>As primeiras derivadas nos nós internos devem ser iguais </a:t>
            </a:r>
            <a:r>
              <a:rPr lang="pt-BR" sz="2800" b="1" dirty="0"/>
              <a:t>(n-1).</a:t>
            </a:r>
            <a:endParaRPr lang="pt-BR" sz="2800" dirty="0"/>
          </a:p>
          <a:p>
            <a:r>
              <a:rPr lang="pt-BR" sz="2800" dirty="0"/>
              <a:t>As segundas derivadas nos nós internos devem ser iguais </a:t>
            </a:r>
            <a:r>
              <a:rPr lang="pt-BR" sz="2800" b="1" dirty="0"/>
              <a:t>(n-1).</a:t>
            </a:r>
            <a:endParaRPr lang="pt-BR" sz="2800" dirty="0"/>
          </a:p>
          <a:p>
            <a:r>
              <a:rPr lang="pt-BR" sz="2800" dirty="0"/>
              <a:t>As segundas derivadas nos nós finais são zero </a:t>
            </a:r>
            <a:r>
              <a:rPr lang="pt-BR" sz="2800" b="1" dirty="0"/>
              <a:t>(2),</a:t>
            </a:r>
            <a:r>
              <a:rPr lang="pt-BR" sz="2800" dirty="0"/>
              <a:t> (a função da 2ª derivada torna-se uma linha reta nos pontos finais)</a:t>
            </a:r>
          </a:p>
          <a:p>
            <a:pPr eaLnBrk="1" hangingPunct="1">
              <a:lnSpc>
                <a:spcPct val="90000"/>
              </a:lnSpc>
            </a:pPr>
            <a:endParaRPr lang="en-US" sz="2600" dirty="0" smtClean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 smtClean="0">
                <a:solidFill>
                  <a:srgbClr val="0000CC"/>
                </a:solidFill>
              </a:rPr>
              <a:t>Cubic Splines - Example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524000"/>
            <a:ext cx="8382000" cy="4606925"/>
          </a:xfrm>
        </p:spPr>
        <p:txBody>
          <a:bodyPr/>
          <a:lstStyle/>
          <a:p>
            <a:r>
              <a:rPr lang="en-US" sz="2400" dirty="0" smtClean="0"/>
              <a:t>    </a:t>
            </a:r>
            <a:r>
              <a:rPr lang="pt-BR" sz="2400" dirty="0"/>
              <a:t>Ajuste os seguintes dados com </a:t>
            </a:r>
            <a:r>
              <a:rPr lang="pt-BR" sz="2400" b="1" u="sng" dirty="0" err="1"/>
              <a:t>splines</a:t>
            </a:r>
            <a:r>
              <a:rPr lang="pt-BR" sz="2400" b="1" u="sng" dirty="0"/>
              <a:t> cúbicos</a:t>
            </a:r>
            <a:endParaRPr lang="pt-BR" sz="2400" dirty="0"/>
          </a:p>
          <a:p>
            <a:r>
              <a:rPr lang="pt-BR" sz="2400" dirty="0"/>
              <a:t>Use os resultados para estimar o valor em x = 5</a:t>
            </a:r>
            <a:r>
              <a:rPr lang="pt-BR" sz="2400" dirty="0" smtClean="0"/>
              <a:t>.</a:t>
            </a:r>
          </a:p>
          <a:p>
            <a:endParaRPr lang="pt-BR" sz="2400" dirty="0" smtClean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r>
              <a:rPr lang="pt-BR" sz="2400" b="1" dirty="0"/>
              <a:t>Solução</a:t>
            </a:r>
            <a:r>
              <a:rPr lang="pt-BR" sz="2400" b="1" dirty="0" smtClean="0"/>
              <a:t>:</a:t>
            </a:r>
          </a:p>
          <a:p>
            <a:endParaRPr lang="pt-BR" sz="2400" b="1" dirty="0"/>
          </a:p>
          <a:p>
            <a:pPr marL="0" indent="0">
              <a:buNone/>
            </a:pPr>
            <a:r>
              <a:rPr lang="pt-BR" sz="2400" b="1" dirty="0" smtClean="0"/>
              <a:t>                                    </a:t>
            </a:r>
            <a:r>
              <a:rPr lang="pt-BR" sz="3000" b="1" dirty="0" smtClean="0"/>
              <a:t>MATLAB</a:t>
            </a:r>
            <a:endParaRPr lang="pt-BR" sz="30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sz="2600" dirty="0" smtClean="0"/>
          </a:p>
          <a:p>
            <a:pPr eaLnBrk="1" hangingPunct="1"/>
            <a:endParaRPr lang="en-US" sz="2600" dirty="0" smtClean="0"/>
          </a:p>
        </p:txBody>
      </p:sp>
      <p:graphicFrame>
        <p:nvGraphicFramePr>
          <p:cNvPr id="715807" name="Group 31"/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346823870"/>
              </p:ext>
            </p:extLst>
          </p:nvPr>
        </p:nvGraphicFramePr>
        <p:xfrm>
          <a:off x="1981200" y="2913062"/>
          <a:ext cx="4724400" cy="914400"/>
        </p:xfrm>
        <a:graphic>
          <a:graphicData uri="http://schemas.openxmlformats.org/drawingml/2006/table">
            <a:tbl>
              <a:tblPr/>
              <a:tblGrid>
                <a:gridCol w="944563"/>
                <a:gridCol w="944562"/>
                <a:gridCol w="946150"/>
                <a:gridCol w="944563"/>
                <a:gridCol w="944562"/>
              </a:tblGrid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f(x)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29718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CN" sz="6600" b="1" i="1" dirty="0" smtClean="0">
                <a:latin typeface="Times New Roman" pitchFamily="18" charset="0"/>
                <a:cs typeface="Times New Roman" pitchFamily="18" charset="0"/>
              </a:rPr>
              <a:t>Obrigado!</a:t>
            </a:r>
            <a:endParaRPr lang="zh-CN" altLang="en-US" sz="6600" b="1" i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637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acho">
  <a:themeElements>
    <a:clrScheme name="Cacho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Cach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ch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35163</TotalTime>
  <Words>368</Words>
  <Application>Microsoft Office PowerPoint</Application>
  <PresentationFormat>Apresentação na tela (4:3)</PresentationFormat>
  <Paragraphs>156</Paragraphs>
  <Slides>25</Slides>
  <Notes>1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25</vt:i4>
      </vt:variant>
    </vt:vector>
  </HeadingPairs>
  <TitlesOfParts>
    <vt:vector size="33" baseType="lpstr">
      <vt:lpstr>Arial</vt:lpstr>
      <vt:lpstr>Calibri</vt:lpstr>
      <vt:lpstr>Tahoma</vt:lpstr>
      <vt:lpstr>Wingdings</vt:lpstr>
      <vt:lpstr>Times New Roman</vt:lpstr>
      <vt:lpstr>Cacho</vt:lpstr>
      <vt:lpstr>Bitmap Image</vt:lpstr>
      <vt:lpstr>Microsoft Equation 3.0</vt:lpstr>
      <vt:lpstr>Apresentação do PowerPoint</vt:lpstr>
      <vt:lpstr>Por que a interpolação Spline?</vt:lpstr>
      <vt:lpstr>Por que Splines ?</vt:lpstr>
      <vt:lpstr>Por que Splines ?</vt:lpstr>
      <vt:lpstr>Interpolação Spline</vt:lpstr>
      <vt:lpstr>Apresentação do PowerPoint</vt:lpstr>
      <vt:lpstr>Spline Interpolation</vt:lpstr>
      <vt:lpstr>Apresentação do PowerPoint</vt:lpstr>
      <vt:lpstr>Linear Spline</vt:lpstr>
      <vt:lpstr>Linear spline - exemplo</vt:lpstr>
      <vt:lpstr>Linear Spline</vt:lpstr>
      <vt:lpstr>Quadric Splines</vt:lpstr>
      <vt:lpstr>Quadric Splines</vt:lpstr>
      <vt:lpstr>Quadric Splines</vt:lpstr>
      <vt:lpstr>Quadric Splines - Example</vt:lpstr>
      <vt:lpstr>Quadric Splines - Example</vt:lpstr>
      <vt:lpstr>Quadric Splines - Example</vt:lpstr>
      <vt:lpstr>Quadric Splines - Example</vt:lpstr>
      <vt:lpstr>Quadric Splines - Example</vt:lpstr>
      <vt:lpstr>Quadric Splines - Example</vt:lpstr>
      <vt:lpstr>Quadric Splines - Example</vt:lpstr>
      <vt:lpstr>Apresentação do PowerPoint</vt:lpstr>
      <vt:lpstr>Cubic Splines</vt:lpstr>
      <vt:lpstr>Cubic Splines - Example</vt:lpstr>
      <vt:lpstr>Obrigado!</vt:lpstr>
    </vt:vector>
  </TitlesOfParts>
  <Company>concordia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NUMERICAL METHODS IN ENGINEERING  ENGR 391</dc:title>
  <dc:creator>paraschivoiu</dc:creator>
  <cp:lastModifiedBy>antonio tavernard</cp:lastModifiedBy>
  <cp:revision>469</cp:revision>
  <cp:lastPrinted>1601-01-01T00:00:00Z</cp:lastPrinted>
  <dcterms:created xsi:type="dcterms:W3CDTF">2003-08-21T18:19:02Z</dcterms:created>
  <dcterms:modified xsi:type="dcterms:W3CDTF">2020-10-14T15:28:35Z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