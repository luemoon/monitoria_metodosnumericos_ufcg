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  <p:sldMasterId id="2147483673" r:id="rId3"/>
  </p:sldMasterIdLst>
  <p:notesMasterIdLst>
    <p:notesMasterId r:id="rId16"/>
  </p:notesMasterIdLst>
  <p:sldIdLst>
    <p:sldId id="277" r:id="rId4"/>
    <p:sldId id="264" r:id="rId5"/>
    <p:sldId id="265" r:id="rId6"/>
    <p:sldId id="266" r:id="rId7"/>
    <p:sldId id="270" r:id="rId8"/>
    <p:sldId id="267" r:id="rId9"/>
    <p:sldId id="271" r:id="rId10"/>
    <p:sldId id="268" r:id="rId11"/>
    <p:sldId id="272" r:id="rId12"/>
    <p:sldId id="273" r:id="rId13"/>
    <p:sldId id="274" r:id="rId14"/>
    <p:sldId id="275" r:id="rId15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2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685"/>
    <a:srgbClr val="FFFFB7"/>
    <a:srgbClr val="E45C00"/>
    <a:srgbClr val="F2C3A0"/>
    <a:srgbClr val="F3C8A7"/>
    <a:srgbClr val="FDE8BF"/>
    <a:srgbClr val="B30000"/>
    <a:srgbClr val="0073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595" autoAdjust="0"/>
  </p:normalViewPr>
  <p:slideViewPr>
    <p:cSldViewPr>
      <p:cViewPr varScale="1">
        <p:scale>
          <a:sx n="110" d="100"/>
          <a:sy n="110" d="100"/>
        </p:scale>
        <p:origin x="3246" y="78"/>
      </p:cViewPr>
      <p:guideLst>
        <p:guide orient="horz" pos="1632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3454D8-71D6-45BD-BB53-82A36519D49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569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FAB7A1-34EB-4E99-AA3B-55843C18756A}" type="slidenum">
              <a:rPr lang="en-US"/>
              <a:pPr/>
              <a:t>1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21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9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18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3363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5613" y="1143000"/>
            <a:ext cx="4108450" cy="5410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16463" y="1143000"/>
            <a:ext cx="4108450" cy="5410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3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85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74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50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97108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7021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978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58775"/>
            <a:ext cx="2108200" cy="61944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5613" y="358775"/>
            <a:ext cx="6173787" cy="61944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195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11465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81067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4974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62088"/>
            <a:ext cx="4038600" cy="525621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62088"/>
            <a:ext cx="4038600" cy="525621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83013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90330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25491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54383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9981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78731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88725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04000" y="228600"/>
            <a:ext cx="2082800" cy="64897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096000" cy="648970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6179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888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650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8542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948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7656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0716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0659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5034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1968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5530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11837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0633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61950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198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7406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4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143000"/>
            <a:ext cx="83693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84200" y="358775"/>
            <a:ext cx="83058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DE8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82" name="Text Box 10"/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2919573E-35FB-4AA8-B3FF-BC004E82CE3E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indent="3175" algn="l" rtl="0" fontAlgn="base">
        <a:spcBef>
          <a:spcPct val="20000"/>
        </a:spcBef>
        <a:spcAft>
          <a:spcPct val="0"/>
        </a:spcAft>
        <a:tabLst>
          <a:tab pos="346075" algn="l"/>
        </a:tabLs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tabLst>
          <a:tab pos="346075" algn="l"/>
        </a:tabLs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31925" indent="-228600" algn="l" rtl="0" fontAlgn="base">
        <a:spcBef>
          <a:spcPct val="20000"/>
        </a:spcBef>
        <a:spcAft>
          <a:spcPct val="0"/>
        </a:spcAft>
        <a:tabLst>
          <a:tab pos="346075" algn="l"/>
        </a:tabLst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tabLst>
          <a:tab pos="346075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tabLst>
          <a:tab pos="346075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 descr="Picture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" t="-10527" r="948"/>
          <a:stretch>
            <a:fillRect/>
          </a:stretch>
        </p:blipFill>
        <p:spPr bwMode="auto">
          <a:xfrm>
            <a:off x="301625" y="427038"/>
            <a:ext cx="8613775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7391400" y="6019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endParaRPr lang="pt-BR"/>
          </a:p>
        </p:txBody>
      </p:sp>
      <p:sp>
        <p:nvSpPr>
          <p:cNvPr id="1638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6208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38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38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63847" name="Text Box 7"/>
          <p:cNvSpPr txBox="1">
            <a:spLocks noChangeArrowheads="1"/>
          </p:cNvSpPr>
          <p:nvPr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96E429DD-96D9-4963-9937-05CBDF52F22B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  <p:sp>
        <p:nvSpPr>
          <p:cNvPr id="16384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pt-BR"/>
          </a:p>
        </p:txBody>
      </p:sp>
      <p:pic>
        <p:nvPicPr>
          <p:cNvPr id="163849" name="Picture 9" descr="Picture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28600"/>
            <a:ext cx="12700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5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63851" name="Text Box 11"/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BCE672FA-3943-4A78-830C-8D161203D374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rgbClr val="0073AE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073A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12/1/2021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34" name="Text Box 11"/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BCE672FA-3943-4A78-830C-8D161203D374}" type="slidenum">
              <a:rPr lang="en-US"/>
              <a:pPr>
                <a:spcBef>
                  <a:spcPct val="50000"/>
                </a:spcBef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0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429000"/>
            <a:ext cx="6589199" cy="1280890"/>
          </a:xfrm>
        </p:spPr>
        <p:txBody>
          <a:bodyPr/>
          <a:lstStyle/>
          <a:p>
            <a:r>
              <a:rPr lang="en-US" dirty="0" err="1" smtClean="0"/>
              <a:t>Método</a:t>
            </a:r>
            <a:r>
              <a:rPr lang="en-US" dirty="0" smtClean="0"/>
              <a:t> de Newton</a:t>
            </a:r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219200" y="838200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5000" dirty="0" err="1" smtClean="0"/>
              <a:t>Métodos</a:t>
            </a:r>
            <a:r>
              <a:rPr lang="en-US" sz="5000" dirty="0" smtClean="0"/>
              <a:t> </a:t>
            </a:r>
            <a:r>
              <a:rPr lang="en-US" sz="5000" dirty="0" err="1" smtClean="0"/>
              <a:t>Numéricos</a:t>
            </a:r>
            <a:endParaRPr lang="en-US" sz="50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219200" y="5577110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 smtClean="0"/>
              <a:t>Prof. Antonio Tavernard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Método</a:t>
            </a:r>
            <a:r>
              <a:rPr lang="en-US" dirty="0" smtClean="0"/>
              <a:t> de Newton</a:t>
            </a:r>
            <a:endParaRPr lang="en-US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Suponha que um revendedor de automóveis ofereça a você um carro por </a:t>
            </a:r>
            <a:r>
              <a:rPr lang="pt-BR" dirty="0" smtClean="0"/>
              <a:t>R$ 36.000 </a:t>
            </a:r>
            <a:r>
              <a:rPr lang="pt-BR" dirty="0"/>
              <a:t>ou por </a:t>
            </a:r>
            <a:r>
              <a:rPr lang="pt-BR" dirty="0" smtClean="0"/>
              <a:t>R$ 750 </a:t>
            </a:r>
            <a:r>
              <a:rPr lang="pt-BR" dirty="0"/>
              <a:t>por mês durante cinco anos. Você gostaria de saber qual a taxa de juros mensal que o revendedor está, de fato, cobrando de você.</a:t>
            </a:r>
          </a:p>
          <a:p>
            <a:endParaRPr lang="en-US" dirty="0"/>
          </a:p>
          <a:p>
            <a:r>
              <a:rPr lang="pt-BR" dirty="0"/>
              <a:t>Para encontrar a resposta, você deve resolver a equação</a:t>
            </a:r>
          </a:p>
          <a:p>
            <a:endParaRPr lang="en-US" sz="1200" dirty="0"/>
          </a:p>
          <a:p>
            <a:r>
              <a:rPr lang="en-US" dirty="0"/>
              <a:t>		48</a:t>
            </a:r>
            <a:r>
              <a:rPr lang="en-US" i="1" dirty="0"/>
              <a:t>x</a:t>
            </a:r>
            <a:r>
              <a:rPr lang="en-US" dirty="0"/>
              <a:t>(1 + 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baseline="30000" dirty="0"/>
              <a:t>60</a:t>
            </a:r>
            <a:r>
              <a:rPr lang="en-US" dirty="0"/>
              <a:t> – (1 + 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baseline="30000" dirty="0"/>
              <a:t>60</a:t>
            </a:r>
            <a:r>
              <a:rPr lang="en-US" dirty="0"/>
              <a:t> + 1 = 0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pt-BR" dirty="0" smtClean="0"/>
              <a:t>Como você resolveria esta questão?</a:t>
            </a:r>
            <a:endParaRPr lang="pt-BR" dirty="0"/>
          </a:p>
          <a:p>
            <a:endParaRPr lang="en-US" dirty="0"/>
          </a:p>
          <a:p>
            <a:endParaRPr lang="en-US" sz="1200" dirty="0"/>
          </a:p>
        </p:txBody>
      </p:sp>
      <p:pic>
        <p:nvPicPr>
          <p:cNvPr id="146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4148138"/>
            <a:ext cx="3746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</a:t>
            </a:r>
            <a:r>
              <a:rPr lang="en-US" dirty="0"/>
              <a:t> de Newton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Plotando um gráfico</a:t>
            </a:r>
            <a:r>
              <a:rPr lang="pt-BR" dirty="0"/>
              <a:t>, e depois </a:t>
            </a:r>
            <a:r>
              <a:rPr lang="pt-BR" dirty="0" smtClean="0"/>
              <a:t>verificando o resultado visualmente, temos.</a:t>
            </a:r>
            <a:endParaRPr lang="pt-B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800" dirty="0"/>
          </a:p>
          <a:p>
            <a:r>
              <a:rPr lang="pt-BR" dirty="0"/>
              <a:t>Vemos que além da solução </a:t>
            </a:r>
            <a:r>
              <a:rPr lang="pt-BR" i="1" dirty="0"/>
              <a:t>x</a:t>
            </a:r>
            <a:r>
              <a:rPr lang="pt-BR" dirty="0"/>
              <a:t> = 0, o que não nos interessa, existe uma solução entre 0,007 e 0,008. Ampliar mostra que a raiz é de aproximadamente 0,0076. Se precisarmos de mais precisão, poderíamos aumentar o zoom repetidamente, mas isso se torna cansativo.</a:t>
            </a:r>
          </a:p>
        </p:txBody>
      </p:sp>
      <p:pic>
        <p:nvPicPr>
          <p:cNvPr id="151558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2390775"/>
            <a:ext cx="3016250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1559" name="Rectangle 7"/>
          <p:cNvSpPr>
            <a:spLocks noChangeArrowheads="1"/>
          </p:cNvSpPr>
          <p:nvPr/>
        </p:nvSpPr>
        <p:spPr bwMode="auto">
          <a:xfrm>
            <a:off x="4251325" y="4346575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 b="1"/>
              <a:t>Figure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</a:t>
            </a:r>
            <a:r>
              <a:rPr lang="en-US" dirty="0"/>
              <a:t> de Newton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2000" dirty="0"/>
              <a:t>Uma alternativa mais rápida é usar um localizador de raízes numérico em uma calculadora ou sistema de álgebra de computador. Se fizermos isso, descobriremos que a raiz, corrigida para nove casas decimais, é 0,007628603</a:t>
            </a:r>
            <a:r>
              <a:rPr lang="pt-BR" sz="2000" dirty="0" smtClean="0"/>
              <a:t>.</a:t>
            </a:r>
          </a:p>
          <a:p>
            <a:endParaRPr lang="en-US" sz="2000" dirty="0"/>
          </a:p>
          <a:p>
            <a:r>
              <a:rPr lang="pt-BR" sz="2000" dirty="0"/>
              <a:t>Como funcionam esses localizadores de raiz numéricos? Eles usam uma variedade de métodos, mas a maioria deles faz uso </a:t>
            </a:r>
            <a:r>
              <a:rPr lang="pt-BR" sz="2000" b="1" dirty="0"/>
              <a:t>do método</a:t>
            </a:r>
            <a:r>
              <a:rPr lang="pt-BR" sz="2000" dirty="0"/>
              <a:t> de </a:t>
            </a:r>
            <a:r>
              <a:rPr lang="pt-BR" sz="2000" b="1" dirty="0"/>
              <a:t>Newton</a:t>
            </a:r>
            <a:r>
              <a:rPr lang="pt-BR" sz="2000" dirty="0"/>
              <a:t> , também chamado </a:t>
            </a:r>
            <a:r>
              <a:rPr lang="pt-BR" sz="2000" b="1" dirty="0"/>
              <a:t>de método de Newton-</a:t>
            </a:r>
            <a:r>
              <a:rPr lang="pt-BR" sz="2000" b="1" dirty="0" err="1"/>
              <a:t>Raphson</a:t>
            </a:r>
            <a:r>
              <a:rPr lang="pt-BR" sz="2000" dirty="0"/>
              <a:t> .</a:t>
            </a:r>
          </a:p>
          <a:p>
            <a:endParaRPr lang="en-US" sz="2000" dirty="0"/>
          </a:p>
          <a:p>
            <a:r>
              <a:rPr lang="pt-BR" sz="2000" dirty="0"/>
              <a:t>Explicaremos como esse método funciona, em parte para mostrar o que acontece dentro de uma calculadora ou computador, e em parte como uma aplicação da ideia de aproximação linear.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</a:t>
            </a:r>
            <a:r>
              <a:rPr lang="en-US" dirty="0"/>
              <a:t> de Newton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455613" y="1462088"/>
            <a:ext cx="8226425" cy="5256212"/>
          </a:xfrm>
          <a:noFill/>
        </p:spPr>
        <p:txBody>
          <a:bodyPr/>
          <a:lstStyle/>
          <a:p>
            <a:r>
              <a:rPr lang="pt-BR" dirty="0"/>
              <a:t>A geometria por trás do método de Newton é mostrada na Figura 2, onde a raiz que estamos tentando encontrar é </a:t>
            </a:r>
            <a:r>
              <a:rPr lang="pt-BR" dirty="0" smtClean="0"/>
              <a:t>chamada</a:t>
            </a:r>
            <a:r>
              <a:rPr lang="pt-BR" dirty="0"/>
              <a:t> </a:t>
            </a:r>
            <a:r>
              <a:rPr lang="pt-BR" dirty="0" smtClean="0"/>
              <a:t>de </a:t>
            </a:r>
            <a:r>
              <a:rPr lang="pt-BR" i="1" dirty="0" smtClean="0"/>
              <a:t>r</a:t>
            </a:r>
            <a:r>
              <a:rPr lang="pt-BR" dirty="0"/>
              <a:t> 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t-BR" dirty="0"/>
              <a:t>Começamos com uma primeira aproximação </a:t>
            </a:r>
            <a:r>
              <a:rPr lang="pt-BR" i="1" dirty="0" smtClean="0"/>
              <a:t>x</a:t>
            </a:r>
            <a:r>
              <a:rPr lang="pt-BR" dirty="0" smtClean="0"/>
              <a:t>1</a:t>
            </a:r>
            <a:r>
              <a:rPr lang="pt-BR" dirty="0"/>
              <a:t>, que </a:t>
            </a:r>
            <a:r>
              <a:rPr lang="pt-BR" dirty="0" smtClean="0"/>
              <a:t>nada mais é que uma estimativa inicial, </a:t>
            </a:r>
            <a:r>
              <a:rPr lang="pt-BR" dirty="0"/>
              <a:t>ou a partir de um esboço do gráfico de </a:t>
            </a:r>
            <a:r>
              <a:rPr lang="pt-BR" i="1" dirty="0"/>
              <a:t>f</a:t>
            </a:r>
            <a:r>
              <a:rPr lang="pt-BR" dirty="0"/>
              <a:t> , ou de um gráfico gerado por computador de </a:t>
            </a:r>
            <a:r>
              <a:rPr lang="pt-BR" i="1" dirty="0"/>
              <a:t>f</a:t>
            </a:r>
            <a:r>
              <a:rPr lang="pt-BR" dirty="0"/>
              <a:t> .</a:t>
            </a:r>
          </a:p>
        </p:txBody>
      </p:sp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194718"/>
            <a:ext cx="2916237" cy="22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4191000" y="4724400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Figure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</a:t>
            </a:r>
            <a:r>
              <a:rPr lang="en-US" dirty="0"/>
              <a:t> de Newton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2000" dirty="0"/>
              <a:t>Considere a reta tangente L à curva y = f ( x ) no ponto ( x 1, f ( x 1)) e observe o que a reta L intercepta o </a:t>
            </a:r>
            <a:r>
              <a:rPr lang="pt-BR" sz="2000" dirty="0" smtClean="0"/>
              <a:t>eixo x </a:t>
            </a:r>
            <a:r>
              <a:rPr lang="pt-BR" sz="2000" dirty="0"/>
              <a:t>em x2.</a:t>
            </a:r>
          </a:p>
          <a:p>
            <a:endParaRPr lang="pt-BR" sz="2000" dirty="0"/>
          </a:p>
          <a:p>
            <a:r>
              <a:rPr lang="pt-BR" sz="2000" dirty="0"/>
              <a:t>A ideia por trás do método de Newton é </a:t>
            </a:r>
            <a:r>
              <a:rPr lang="pt-BR" sz="2000" dirty="0" smtClean="0"/>
              <a:t>que a melhor estimativa para a raiz da equação é dada pelo raiz da equação da reta tangente L, ou seja, onde L intercepta o eixo x, que neste caso é x2. </a:t>
            </a:r>
            <a:r>
              <a:rPr lang="pt-BR" sz="2000" dirty="0"/>
              <a:t> Como a tangente é uma linha, podemos encontrar facilmente </a:t>
            </a:r>
            <a:r>
              <a:rPr lang="pt-BR" sz="2000" dirty="0" smtClean="0"/>
              <a:t>sua raiz.</a:t>
            </a:r>
          </a:p>
          <a:p>
            <a:endParaRPr lang="pt-BR" sz="2000" dirty="0"/>
          </a:p>
          <a:p>
            <a:r>
              <a:rPr lang="pt-BR" sz="2000" dirty="0"/>
              <a:t>Para encontrar uma fórmula para </a:t>
            </a:r>
            <a:r>
              <a:rPr lang="pt-BR" sz="2000" i="1" dirty="0" smtClean="0"/>
              <a:t>x</a:t>
            </a:r>
            <a:r>
              <a:rPr lang="pt-BR" sz="2000" dirty="0" smtClean="0"/>
              <a:t>2 </a:t>
            </a:r>
            <a:r>
              <a:rPr lang="pt-BR" sz="2000" dirty="0"/>
              <a:t>em termos de </a:t>
            </a:r>
            <a:r>
              <a:rPr lang="pt-BR" sz="2000" i="1" dirty="0" smtClean="0"/>
              <a:t>x</a:t>
            </a:r>
            <a:r>
              <a:rPr lang="pt-BR" sz="2000" dirty="0" smtClean="0"/>
              <a:t>1</a:t>
            </a:r>
            <a:r>
              <a:rPr lang="pt-BR" sz="2000" dirty="0"/>
              <a:t>, usamos o fato de que a inclinação de </a:t>
            </a:r>
            <a:r>
              <a:rPr lang="pt-BR" sz="2000" i="1" dirty="0"/>
              <a:t>L</a:t>
            </a:r>
            <a:r>
              <a:rPr lang="pt-BR" sz="2000" dirty="0"/>
              <a:t> é </a:t>
            </a:r>
            <a:r>
              <a:rPr lang="en-US" sz="2000" i="1" dirty="0" smtClean="0"/>
              <a:t> f</a:t>
            </a:r>
            <a:r>
              <a:rPr lang="en-US" sz="700" i="1" dirty="0" smtClean="0"/>
              <a:t> </a:t>
            </a:r>
            <a:r>
              <a:rPr lang="en-US" sz="700" dirty="0" smtClean="0"/>
              <a:t> </a:t>
            </a:r>
            <a:r>
              <a:rPr lang="en-US" sz="2000" dirty="0" smtClean="0">
                <a:sym typeface="Symbol" panose="05050102010706020507" pitchFamily="18" charset="2"/>
              </a:rPr>
              <a:t></a:t>
            </a:r>
            <a:r>
              <a:rPr lang="pt-BR" sz="2000" dirty="0" smtClean="0"/>
              <a:t>(</a:t>
            </a:r>
            <a:r>
              <a:rPr lang="pt-BR" sz="2000" i="1" dirty="0" smtClean="0"/>
              <a:t>x</a:t>
            </a:r>
            <a:r>
              <a:rPr lang="pt-BR" sz="2000" dirty="0" smtClean="0"/>
              <a:t>1</a:t>
            </a:r>
            <a:r>
              <a:rPr lang="pt-BR" sz="2000" dirty="0"/>
              <a:t>), então sua equação é</a:t>
            </a:r>
          </a:p>
          <a:p>
            <a:endParaRPr lang="en-US" sz="800" dirty="0"/>
          </a:p>
          <a:p>
            <a:r>
              <a:rPr lang="en-US" i="1" dirty="0"/>
              <a:t>			y</a:t>
            </a:r>
            <a:r>
              <a:rPr lang="en-US" dirty="0"/>
              <a:t> – </a:t>
            </a:r>
            <a:r>
              <a:rPr lang="en-US" i="1" dirty="0"/>
              <a:t>f</a:t>
            </a:r>
            <a:r>
              <a:rPr lang="en-US" sz="500" dirty="0"/>
              <a:t> 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) = </a:t>
            </a:r>
            <a:r>
              <a:rPr lang="en-US" i="1" dirty="0"/>
              <a:t>f</a:t>
            </a:r>
            <a:r>
              <a:rPr lang="en-US" sz="800" i="1" dirty="0"/>
              <a:t> </a:t>
            </a:r>
            <a:r>
              <a:rPr lang="en-US" sz="800" dirty="0"/>
              <a:t> </a:t>
            </a:r>
            <a:r>
              <a:rPr lang="en-US" dirty="0">
                <a:sym typeface="Symbol" panose="05050102010706020507" pitchFamily="18" charset="2"/>
              </a:rPr>
              <a:t>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–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</a:t>
            </a:r>
            <a:r>
              <a:rPr lang="en-US" dirty="0"/>
              <a:t> de Newton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000" dirty="0" smtClean="0"/>
              <a:t>Dado </a:t>
            </a:r>
            <a:r>
              <a:rPr lang="en-US" sz="2000" dirty="0" err="1" smtClean="0"/>
              <a:t>que</a:t>
            </a:r>
            <a:r>
              <a:rPr lang="en-US" sz="2000" dirty="0" smtClean="0"/>
              <a:t> </a:t>
            </a:r>
            <a:r>
              <a:rPr lang="en-US" sz="2000" i="1" dirty="0" smtClean="0"/>
              <a:t>x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é a </a:t>
            </a:r>
            <a:r>
              <a:rPr lang="en-US" sz="2000" dirty="0" err="1" smtClean="0"/>
              <a:t>raiz</a:t>
            </a:r>
            <a:r>
              <a:rPr lang="en-US" sz="2000" dirty="0" smtClean="0"/>
              <a:t> de L, </a:t>
            </a:r>
            <a:r>
              <a:rPr lang="en-US" sz="2000" dirty="0" err="1" smtClean="0"/>
              <a:t>definimos</a:t>
            </a:r>
            <a:r>
              <a:rPr lang="en-US" sz="2000" dirty="0" smtClean="0"/>
              <a:t> </a:t>
            </a:r>
            <a:r>
              <a:rPr lang="en-US" sz="2000" i="1" dirty="0" smtClean="0"/>
              <a:t>y</a:t>
            </a:r>
            <a:r>
              <a:rPr lang="en-US" sz="2000" dirty="0" smtClean="0"/>
              <a:t> </a:t>
            </a:r>
            <a:r>
              <a:rPr lang="en-US" sz="2000" dirty="0"/>
              <a:t>= 0 </a:t>
            </a:r>
            <a:r>
              <a:rPr lang="en-US" sz="2000" dirty="0" smtClean="0"/>
              <a:t>e </a:t>
            </a:r>
            <a:r>
              <a:rPr lang="en-US" sz="2000" dirty="0" err="1" smtClean="0"/>
              <a:t>obtemos</a:t>
            </a:r>
            <a:r>
              <a:rPr lang="en-US" sz="2000" dirty="0" smtClean="0"/>
              <a:t> 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		0 – </a:t>
            </a:r>
            <a:r>
              <a:rPr lang="en-US" sz="2000" i="1" dirty="0"/>
              <a:t>f</a:t>
            </a:r>
            <a:r>
              <a:rPr lang="en-US" sz="2000" dirty="0"/>
              <a:t> (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) = </a:t>
            </a:r>
            <a:r>
              <a:rPr lang="en-US" sz="2000" i="1" dirty="0"/>
              <a:t>f</a:t>
            </a:r>
            <a:r>
              <a:rPr lang="en-US" sz="2000" dirty="0"/>
              <a:t>  </a:t>
            </a:r>
            <a:r>
              <a:rPr lang="en-US" sz="2000" dirty="0">
                <a:sym typeface="Symbol" panose="05050102010706020507" pitchFamily="18" charset="2"/>
              </a:rPr>
              <a:t></a:t>
            </a:r>
            <a:r>
              <a:rPr lang="en-US" sz="2000" dirty="0">
                <a:cs typeface="Arial" panose="020B0604020202020204" pitchFamily="34" charset="0"/>
              </a:rPr>
              <a:t>(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)(</a:t>
            </a:r>
            <a:r>
              <a:rPr lang="en-US" sz="2000" i="1" dirty="0"/>
              <a:t>x</a:t>
            </a:r>
            <a:r>
              <a:rPr lang="en-US" sz="2000" baseline="-25000" dirty="0"/>
              <a:t>2</a:t>
            </a:r>
            <a:r>
              <a:rPr lang="en-US" sz="2000" dirty="0"/>
              <a:t> – 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 smtClean="0"/>
              <a:t>Se </a:t>
            </a:r>
            <a:r>
              <a:rPr lang="en-US" sz="2000" i="1" dirty="0"/>
              <a:t>f</a:t>
            </a:r>
            <a:r>
              <a:rPr lang="en-US" sz="2000" dirty="0"/>
              <a:t>  </a:t>
            </a:r>
            <a:r>
              <a:rPr lang="en-US" sz="2000" dirty="0">
                <a:sym typeface="Symbol" panose="05050102010706020507" pitchFamily="18" charset="2"/>
              </a:rPr>
              <a:t></a:t>
            </a:r>
            <a:r>
              <a:rPr lang="en-US" sz="2000" dirty="0">
                <a:cs typeface="Arial" panose="020B0604020202020204" pitchFamily="34" charset="0"/>
              </a:rPr>
              <a:t>(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) </a:t>
            </a:r>
            <a:r>
              <a:rPr lang="en-US" sz="2000" dirty="0">
                <a:sym typeface="Symbol" panose="05050102010706020507" pitchFamily="18" charset="2"/>
              </a:rPr>
              <a:t></a:t>
            </a:r>
            <a:r>
              <a:rPr lang="en-US" sz="2000" dirty="0"/>
              <a:t> 0, </a:t>
            </a:r>
            <a:r>
              <a:rPr lang="pt-BR" sz="2000" dirty="0"/>
              <a:t>podemos resolver esta equação para </a:t>
            </a:r>
            <a:r>
              <a:rPr lang="en-US" sz="2000" i="1" dirty="0" smtClean="0"/>
              <a:t>x</a:t>
            </a:r>
            <a:r>
              <a:rPr lang="en-US" sz="2000" baseline="-25000" dirty="0" smtClean="0"/>
              <a:t>2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Agora </a:t>
            </a:r>
            <a:r>
              <a:rPr lang="en-US" sz="2000" dirty="0" err="1" smtClean="0"/>
              <a:t>podemos</a:t>
            </a:r>
            <a:r>
              <a:rPr lang="en-US" sz="2000" dirty="0" smtClean="0"/>
              <a:t> </a:t>
            </a:r>
            <a:r>
              <a:rPr lang="en-US" sz="2000" dirty="0" err="1" smtClean="0"/>
              <a:t>verificar</a:t>
            </a:r>
            <a:r>
              <a:rPr lang="en-US" sz="2000" dirty="0" smtClean="0"/>
              <a:t> se </a:t>
            </a:r>
            <a:r>
              <a:rPr lang="en-US" sz="2000" i="1" dirty="0" smtClean="0"/>
              <a:t>x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é </a:t>
            </a:r>
            <a:r>
              <a:rPr lang="en-US" sz="2000" dirty="0" err="1" smtClean="0"/>
              <a:t>realmente</a:t>
            </a:r>
            <a:r>
              <a:rPr lang="en-US" sz="2000" dirty="0" smtClean="0"/>
              <a:t> a </a:t>
            </a:r>
            <a:r>
              <a:rPr lang="en-US" sz="2000" dirty="0" err="1" smtClean="0"/>
              <a:t>raiz</a:t>
            </a:r>
            <a:r>
              <a:rPr lang="en-US" sz="2000" dirty="0" smtClean="0"/>
              <a:t>, </a:t>
            </a:r>
            <a:r>
              <a:rPr lang="en-US" sz="2000" dirty="0" err="1" smtClean="0"/>
              <a:t>caso</a:t>
            </a:r>
            <a:r>
              <a:rPr lang="en-US" sz="2000" dirty="0" smtClean="0"/>
              <a:t> </a:t>
            </a:r>
            <a:r>
              <a:rPr lang="en-US" sz="2000" dirty="0" err="1" smtClean="0"/>
              <a:t>não</a:t>
            </a:r>
            <a:r>
              <a:rPr lang="en-US" sz="2000" dirty="0" smtClean="0"/>
              <a:t> </a:t>
            </a:r>
            <a:r>
              <a:rPr lang="en-US" sz="2000" dirty="0" err="1" smtClean="0"/>
              <a:t>seja</a:t>
            </a:r>
            <a:r>
              <a:rPr lang="en-US" sz="2000" dirty="0" smtClean="0"/>
              <a:t>, </a:t>
            </a:r>
            <a:r>
              <a:rPr lang="en-US" sz="2000" dirty="0" err="1" smtClean="0"/>
              <a:t>podemos</a:t>
            </a:r>
            <a:r>
              <a:rPr lang="en-US" sz="2000" dirty="0" smtClean="0"/>
              <a:t> </a:t>
            </a:r>
            <a:r>
              <a:rPr lang="en-US" sz="2000" dirty="0" err="1" smtClean="0"/>
              <a:t>usar</a:t>
            </a:r>
            <a:r>
              <a:rPr lang="en-US" sz="2000" dirty="0" smtClean="0"/>
              <a:t> </a:t>
            </a:r>
            <a:r>
              <a:rPr lang="en-US" sz="2000" i="1" dirty="0" smtClean="0"/>
              <a:t>x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as </a:t>
            </a:r>
            <a:r>
              <a:rPr lang="en-US" sz="2000" dirty="0" err="1" smtClean="0"/>
              <a:t>uma</a:t>
            </a:r>
            <a:r>
              <a:rPr lang="en-US" sz="2000" dirty="0" smtClean="0"/>
              <a:t> </a:t>
            </a:r>
            <a:r>
              <a:rPr lang="en-US" sz="2000" dirty="0" err="1" smtClean="0"/>
              <a:t>segunda</a:t>
            </a:r>
            <a:r>
              <a:rPr lang="en-US" sz="2000" dirty="0" smtClean="0"/>
              <a:t> estimative para </a:t>
            </a:r>
            <a:r>
              <a:rPr lang="en-US" sz="2000" dirty="0" err="1" smtClean="0"/>
              <a:t>encont</a:t>
            </a:r>
            <a:r>
              <a:rPr lang="en-US" sz="2000" i="1" dirty="0" err="1" smtClean="0"/>
              <a:t>rar</a:t>
            </a:r>
            <a:r>
              <a:rPr lang="en-US" sz="2000" i="1" dirty="0" smtClean="0"/>
              <a:t> a </a:t>
            </a:r>
            <a:r>
              <a:rPr lang="en-US" sz="2000" i="1" dirty="0" err="1" smtClean="0"/>
              <a:t>raiz</a:t>
            </a:r>
            <a:r>
              <a:rPr lang="en-US" sz="2000" i="1" dirty="0" smtClean="0"/>
              <a:t> r</a:t>
            </a:r>
            <a:r>
              <a:rPr lang="en-US" sz="2000" dirty="0" smtClean="0"/>
              <a:t>.</a:t>
            </a:r>
            <a:endParaRPr lang="en-US" sz="2000" dirty="0"/>
          </a:p>
          <a:p>
            <a:endParaRPr lang="en-US" sz="2000" dirty="0"/>
          </a:p>
          <a:p>
            <a:r>
              <a:rPr lang="pt-BR" sz="2000" dirty="0"/>
              <a:t>A seguir, repetimos este procedimento com </a:t>
            </a:r>
            <a:r>
              <a:rPr lang="pt-BR" sz="2000" i="1" dirty="0" smtClean="0"/>
              <a:t>x</a:t>
            </a:r>
            <a:r>
              <a:rPr lang="pt-BR" sz="2000" dirty="0" smtClean="0"/>
              <a:t>1 </a:t>
            </a:r>
            <a:r>
              <a:rPr lang="pt-BR" sz="2000" dirty="0"/>
              <a:t>substituído pela segunda aproximação </a:t>
            </a:r>
            <a:r>
              <a:rPr lang="pt-BR" sz="2000" i="1" dirty="0" smtClean="0"/>
              <a:t>x</a:t>
            </a:r>
            <a:r>
              <a:rPr lang="pt-BR" sz="2000" dirty="0" smtClean="0"/>
              <a:t>2</a:t>
            </a:r>
            <a:r>
              <a:rPr lang="pt-BR" sz="2000" dirty="0"/>
              <a:t>, usando a reta tangente em ( </a:t>
            </a:r>
            <a:r>
              <a:rPr lang="pt-BR" sz="2000" i="1" dirty="0" smtClean="0"/>
              <a:t>x</a:t>
            </a:r>
            <a:r>
              <a:rPr lang="pt-BR" sz="2000" dirty="0" smtClean="0"/>
              <a:t>2</a:t>
            </a:r>
            <a:r>
              <a:rPr lang="pt-BR" sz="2000" dirty="0"/>
              <a:t>, </a:t>
            </a:r>
            <a:r>
              <a:rPr lang="pt-BR" sz="2000" i="1" dirty="0" smtClean="0"/>
              <a:t>f</a:t>
            </a:r>
            <a:r>
              <a:rPr lang="pt-BR" sz="2000" dirty="0" smtClean="0"/>
              <a:t>(</a:t>
            </a:r>
            <a:r>
              <a:rPr lang="pt-BR" sz="2000" i="1" dirty="0" smtClean="0"/>
              <a:t>x</a:t>
            </a:r>
            <a:r>
              <a:rPr lang="pt-BR" sz="2000" dirty="0" smtClean="0"/>
              <a:t>2</a:t>
            </a:r>
            <a:r>
              <a:rPr lang="pt-BR" sz="2000" dirty="0"/>
              <a:t>)).</a:t>
            </a:r>
          </a:p>
        </p:txBody>
      </p:sp>
      <p:pic>
        <p:nvPicPr>
          <p:cNvPr id="157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63" y="3640138"/>
            <a:ext cx="2495550" cy="93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</a:t>
            </a:r>
            <a:r>
              <a:rPr lang="en-US" dirty="0"/>
              <a:t> de Newton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473514"/>
            <a:ext cx="6591985" cy="3777622"/>
          </a:xfrm>
        </p:spPr>
        <p:txBody>
          <a:bodyPr/>
          <a:lstStyle/>
          <a:p>
            <a:r>
              <a:rPr lang="en-US" dirty="0" err="1" smtClean="0"/>
              <a:t>Isto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dá</a:t>
            </a:r>
            <a:r>
              <a:rPr lang="en-US" dirty="0" smtClean="0"/>
              <a:t> a Terceira </a:t>
            </a:r>
            <a:r>
              <a:rPr lang="en-US" dirty="0" err="1" smtClean="0"/>
              <a:t>aproximação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800" dirty="0"/>
          </a:p>
          <a:p>
            <a:r>
              <a:rPr lang="pt-BR" dirty="0"/>
              <a:t>Se continuarmos repetindo esse processo, obteremos uma sequência de aproximações </a:t>
            </a:r>
            <a:r>
              <a:rPr lang="pt-BR" i="1" dirty="0" smtClean="0"/>
              <a:t>x</a:t>
            </a:r>
            <a:r>
              <a:rPr lang="pt-BR" dirty="0" smtClean="0"/>
              <a:t>1</a:t>
            </a:r>
            <a:r>
              <a:rPr lang="pt-BR" dirty="0"/>
              <a:t>, </a:t>
            </a:r>
            <a:r>
              <a:rPr lang="pt-BR" i="1" dirty="0" smtClean="0"/>
              <a:t>x</a:t>
            </a:r>
            <a:r>
              <a:rPr lang="pt-BR" dirty="0" smtClean="0"/>
              <a:t>2</a:t>
            </a:r>
            <a:r>
              <a:rPr lang="pt-BR" dirty="0"/>
              <a:t>, </a:t>
            </a:r>
            <a:r>
              <a:rPr lang="pt-BR" i="1" dirty="0" smtClean="0"/>
              <a:t>x</a:t>
            </a:r>
            <a:r>
              <a:rPr lang="pt-BR" dirty="0" smtClean="0"/>
              <a:t>3</a:t>
            </a:r>
            <a:r>
              <a:rPr lang="pt-BR" dirty="0"/>
              <a:t>, </a:t>
            </a:r>
            <a:r>
              <a:rPr lang="pt-BR" i="1" dirty="0" smtClean="0"/>
              <a:t>x</a:t>
            </a:r>
            <a:r>
              <a:rPr lang="pt-BR" dirty="0" smtClean="0"/>
              <a:t>4</a:t>
            </a:r>
            <a:r>
              <a:rPr lang="pt-BR" dirty="0"/>
              <a:t>,. . . conforme mostrado na Figura 3.</a:t>
            </a:r>
          </a:p>
        </p:txBody>
      </p:sp>
      <p:pic>
        <p:nvPicPr>
          <p:cNvPr id="1546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038350"/>
            <a:ext cx="24765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6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303713"/>
            <a:ext cx="287972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4022725" y="6305550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Figure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</a:t>
            </a:r>
            <a:r>
              <a:rPr lang="en-US" dirty="0"/>
              <a:t> de Newton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62088"/>
            <a:ext cx="8534400" cy="5256212"/>
          </a:xfrm>
        </p:spPr>
        <p:txBody>
          <a:bodyPr/>
          <a:lstStyle/>
          <a:p>
            <a:r>
              <a:rPr lang="pt-BR" sz="2000" dirty="0" smtClean="0"/>
              <a:t>Em geral, se o </a:t>
            </a:r>
            <a:r>
              <a:rPr lang="pt-BR" sz="2000" i="1" dirty="0" smtClean="0"/>
              <a:t>n</a:t>
            </a:r>
            <a:r>
              <a:rPr lang="pt-BR" sz="2000" dirty="0" smtClean="0"/>
              <a:t> </a:t>
            </a:r>
            <a:r>
              <a:rPr lang="pt-BR" sz="2000" dirty="0" err="1" smtClean="0"/>
              <a:t>th</a:t>
            </a:r>
            <a:r>
              <a:rPr lang="pt-BR" sz="2000" dirty="0" smtClean="0"/>
              <a:t> aproximação é </a:t>
            </a:r>
            <a:r>
              <a:rPr lang="pt-BR" sz="2000" i="1" dirty="0" err="1" smtClean="0"/>
              <a:t>xn</a:t>
            </a:r>
            <a:r>
              <a:rPr lang="pt-BR" sz="2000" dirty="0" smtClean="0"/>
              <a:t> e </a:t>
            </a:r>
            <a:r>
              <a:rPr lang="en-US" sz="2000" i="1" dirty="0" smtClean="0"/>
              <a:t>f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 panose="05050102010706020507" pitchFamily="18" charset="2"/>
              </a:rPr>
              <a:t></a:t>
            </a:r>
            <a:r>
              <a:rPr lang="en-US" sz="2000" dirty="0" smtClean="0">
                <a:cs typeface="Arial" panose="020B0604020202020204" pitchFamily="34" charset="0"/>
              </a:rPr>
              <a:t>(</a:t>
            </a:r>
            <a:r>
              <a:rPr lang="en-US" sz="2000" i="1" dirty="0" err="1" smtClean="0"/>
              <a:t>x</a:t>
            </a:r>
            <a:r>
              <a:rPr lang="en-US" sz="2000" i="1" baseline="-25000" dirty="0" err="1" smtClean="0"/>
              <a:t>n</a:t>
            </a:r>
            <a:r>
              <a:rPr lang="en-US" sz="2000" dirty="0" smtClean="0"/>
              <a:t>) </a:t>
            </a:r>
            <a:r>
              <a:rPr lang="en-US" sz="2000" dirty="0" smtClean="0">
                <a:sym typeface="Symbol" panose="05050102010706020507" pitchFamily="18" charset="2"/>
              </a:rPr>
              <a:t></a:t>
            </a:r>
            <a:r>
              <a:rPr lang="en-US" sz="2000" dirty="0" smtClean="0"/>
              <a:t> 0, </a:t>
            </a:r>
            <a:r>
              <a:rPr lang="pt-BR" sz="2000" dirty="0" smtClean="0"/>
              <a:t>então o próximo é dado por aproximação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pt-BR" sz="2000" dirty="0"/>
          </a:p>
          <a:p>
            <a:r>
              <a:rPr lang="pt-BR" sz="2000" dirty="0" smtClean="0"/>
              <a:t>Se os números </a:t>
            </a:r>
            <a:r>
              <a:rPr lang="pt-BR" sz="2000" i="1" dirty="0" err="1" smtClean="0"/>
              <a:t>xn</a:t>
            </a:r>
            <a:r>
              <a:rPr lang="pt-BR" sz="2000" dirty="0" smtClean="0"/>
              <a:t> se tornam cada vez mais próximos e </a:t>
            </a:r>
            <a:r>
              <a:rPr lang="pt-BR" sz="2000" i="1" dirty="0" smtClean="0"/>
              <a:t>r</a:t>
            </a:r>
            <a:r>
              <a:rPr lang="pt-BR" sz="2000" dirty="0" smtClean="0"/>
              <a:t> conforme </a:t>
            </a:r>
            <a:r>
              <a:rPr lang="pt-BR" sz="2000" i="1" dirty="0" smtClean="0"/>
              <a:t>n</a:t>
            </a:r>
            <a:r>
              <a:rPr lang="pt-BR" sz="2000" dirty="0" smtClean="0"/>
              <a:t> se </a:t>
            </a:r>
            <a:r>
              <a:rPr lang="pt-BR" sz="2000" dirty="0"/>
              <a:t>torna</a:t>
            </a:r>
            <a:r>
              <a:rPr lang="pt-BR" sz="2000" dirty="0" smtClean="0"/>
              <a:t> grande, então dizemos que a sequência </a:t>
            </a:r>
            <a:r>
              <a:rPr lang="pt-BR" sz="2000" i="1" dirty="0" smtClean="0"/>
              <a:t>converge </a:t>
            </a:r>
            <a:r>
              <a:rPr lang="pt-BR" sz="2000" dirty="0" smtClean="0"/>
              <a:t>para </a:t>
            </a:r>
            <a:r>
              <a:rPr lang="pt-BR" sz="2000" i="1" dirty="0" smtClean="0"/>
              <a:t>r e</a:t>
            </a:r>
            <a:r>
              <a:rPr lang="pt-BR" sz="2000" dirty="0" smtClean="0"/>
              <a:t> podemos dizer que</a:t>
            </a:r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58725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7"/>
          <a:stretch/>
        </p:blipFill>
        <p:spPr bwMode="auto">
          <a:xfrm>
            <a:off x="2601118" y="2590800"/>
            <a:ext cx="3738563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105400"/>
            <a:ext cx="162718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</a:t>
            </a:r>
            <a:r>
              <a:rPr lang="en-US" dirty="0" smtClean="0"/>
              <a:t> </a:t>
            </a:r>
            <a:r>
              <a:rPr lang="en-US" dirty="0"/>
              <a:t>1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/>
              <a:t>Cmeçando</a:t>
            </a:r>
            <a:r>
              <a:rPr lang="en-US" dirty="0" smtClean="0"/>
              <a:t> com </a:t>
            </a:r>
            <a:r>
              <a:rPr lang="en-US" i="1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= 2, </a:t>
            </a:r>
            <a:r>
              <a:rPr lang="en-US" dirty="0" err="1" smtClean="0"/>
              <a:t>encontre</a:t>
            </a:r>
            <a:r>
              <a:rPr lang="en-US" dirty="0" smtClean="0"/>
              <a:t> a </a:t>
            </a:r>
            <a:r>
              <a:rPr lang="en-US" dirty="0" err="1" smtClean="0"/>
              <a:t>raiz</a:t>
            </a:r>
            <a:r>
              <a:rPr lang="en-US" dirty="0" smtClean="0"/>
              <a:t> da </a:t>
            </a:r>
            <a:r>
              <a:rPr lang="en-US" dirty="0" err="1" smtClean="0"/>
              <a:t>equação</a:t>
            </a:r>
            <a:r>
              <a:rPr lang="en-US" dirty="0" smtClean="0"/>
              <a:t>               </a:t>
            </a:r>
            <a:r>
              <a:rPr lang="en-US" i="1" dirty="0" smtClean="0"/>
              <a:t>x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dirty="0"/>
              <a:t>– 2</a:t>
            </a:r>
            <a:r>
              <a:rPr lang="en-US" i="1" dirty="0"/>
              <a:t>x</a:t>
            </a:r>
            <a:r>
              <a:rPr lang="en-US" dirty="0"/>
              <a:t> – 5 = 0.</a:t>
            </a:r>
          </a:p>
          <a:p>
            <a:endParaRPr lang="en-US" dirty="0"/>
          </a:p>
          <a:p>
            <a:r>
              <a:rPr lang="en-US" dirty="0">
                <a:solidFill>
                  <a:srgbClr val="0073AE"/>
                </a:solidFill>
              </a:rPr>
              <a:t>Solution:</a:t>
            </a:r>
          </a:p>
          <a:p>
            <a:r>
              <a:rPr lang="pt-BR" dirty="0"/>
              <a:t>Aplicamos o método de Newton com</a:t>
            </a:r>
          </a:p>
          <a:p>
            <a:endParaRPr lang="en-US" sz="1200" i="1" dirty="0"/>
          </a:p>
          <a:p>
            <a:r>
              <a:rPr lang="en-US" i="1" dirty="0"/>
              <a:t>		f</a:t>
            </a:r>
            <a:r>
              <a:rPr lang="en-US" sz="400" dirty="0"/>
              <a:t> 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baseline="30000" dirty="0"/>
              <a:t>3</a:t>
            </a:r>
            <a:r>
              <a:rPr lang="en-US" dirty="0"/>
              <a:t> – 2</a:t>
            </a:r>
            <a:r>
              <a:rPr lang="en-US" i="1" dirty="0"/>
              <a:t>x </a:t>
            </a:r>
            <a:r>
              <a:rPr lang="en-US" dirty="0"/>
              <a:t>– 5 	and 	</a:t>
            </a:r>
            <a:r>
              <a:rPr lang="en-US" i="1" dirty="0"/>
              <a:t>f</a:t>
            </a:r>
            <a:r>
              <a:rPr lang="en-US" sz="800" dirty="0"/>
              <a:t> </a:t>
            </a:r>
            <a:r>
              <a:rPr lang="en-US" dirty="0">
                <a:sym typeface="Symbol" panose="05050102010706020507" pitchFamily="18" charset="2"/>
              </a:rPr>
              <a:t></a:t>
            </a:r>
            <a:r>
              <a:rPr lang="en-US" dirty="0">
                <a:cs typeface="Arial" panose="020B0604020202020204" pitchFamily="34" charset="0"/>
              </a:rPr>
              <a:t>(</a:t>
            </a:r>
            <a:r>
              <a:rPr lang="en-US" i="1" dirty="0"/>
              <a:t>x</a:t>
            </a:r>
            <a:r>
              <a:rPr lang="en-US" dirty="0"/>
              <a:t>) = 3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/>
              <a:t> – 2</a:t>
            </a:r>
          </a:p>
          <a:p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/>
              <a:t>próprio Newton usou esta equação para ilustrar seu método e escolheu </a:t>
            </a:r>
            <a:r>
              <a:rPr lang="pt-BR" i="1" dirty="0"/>
              <a:t>x</a:t>
            </a:r>
            <a:r>
              <a:rPr lang="pt-BR" dirty="0"/>
              <a:t> 1 = 2 após alguma experimentação porque </a:t>
            </a:r>
            <a:r>
              <a:rPr lang="pt-BR" i="1" dirty="0"/>
              <a:t>f</a:t>
            </a:r>
            <a:r>
              <a:rPr lang="pt-BR" dirty="0"/>
              <a:t> (1) = –6, </a:t>
            </a:r>
            <a:r>
              <a:rPr lang="pt-BR" i="1" dirty="0"/>
              <a:t>f</a:t>
            </a:r>
            <a:r>
              <a:rPr lang="pt-BR" dirty="0"/>
              <a:t> (2) = –1 e </a:t>
            </a:r>
            <a:r>
              <a:rPr lang="pt-BR" i="1" dirty="0"/>
              <a:t>f</a:t>
            </a:r>
            <a:r>
              <a:rPr lang="pt-BR" dirty="0"/>
              <a:t> (3) = 16.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</a:t>
            </a:r>
            <a:r>
              <a:rPr lang="en-US" dirty="0" smtClean="0"/>
              <a:t> 1 </a:t>
            </a:r>
            <a:r>
              <a:rPr lang="en-US" dirty="0"/>
              <a:t>– </a:t>
            </a:r>
            <a:r>
              <a:rPr lang="en-US" i="1" dirty="0"/>
              <a:t>Solution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equação</a:t>
            </a:r>
            <a:r>
              <a:rPr lang="en-US" dirty="0" smtClean="0"/>
              <a:t> </a:t>
            </a:r>
            <a:r>
              <a:rPr lang="en-US" dirty="0" err="1" smtClean="0"/>
              <a:t>torna</a:t>
            </a:r>
            <a:r>
              <a:rPr lang="en-US" dirty="0" smtClean="0"/>
              <a:t>-se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Com n=1 </a:t>
            </a:r>
            <a:r>
              <a:rPr lang="en-US" dirty="0" err="1" smtClean="0"/>
              <a:t>temos</a:t>
            </a:r>
            <a:endParaRPr lang="en-US" dirty="0"/>
          </a:p>
        </p:txBody>
      </p:sp>
      <p:pic>
        <p:nvPicPr>
          <p:cNvPr id="160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1965325"/>
            <a:ext cx="40767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0" y="3554413"/>
            <a:ext cx="3784600" cy="94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0" y="4724400"/>
            <a:ext cx="3300413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6037263"/>
            <a:ext cx="804863" cy="43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0778" name="Rectangle 10"/>
          <p:cNvSpPr>
            <a:spLocks noChangeArrowheads="1"/>
          </p:cNvSpPr>
          <p:nvPr/>
        </p:nvSpPr>
        <p:spPr bwMode="auto">
          <a:xfrm>
            <a:off x="8169275" y="884238"/>
            <a:ext cx="8413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r"/>
            <a:r>
              <a:rPr lang="en-US"/>
              <a:t>cont’d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</a:t>
            </a:r>
            <a:r>
              <a:rPr lang="en-US" dirty="0" smtClean="0"/>
              <a:t> 1 </a:t>
            </a:r>
            <a:r>
              <a:rPr lang="en-US" dirty="0"/>
              <a:t>– </a:t>
            </a:r>
            <a:r>
              <a:rPr lang="en-US" i="1" dirty="0"/>
              <a:t>Solution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 com n=2 </a:t>
            </a:r>
            <a:r>
              <a:rPr lang="en-US" dirty="0" err="1" smtClean="0"/>
              <a:t>obtemos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aproximação</a:t>
            </a:r>
            <a:r>
              <a:rPr lang="en-US" dirty="0" smtClean="0"/>
              <a:t> </a:t>
            </a:r>
            <a:r>
              <a:rPr lang="en-US" i="1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2.0946 </a:t>
            </a:r>
            <a:r>
              <a:rPr lang="en-US" dirty="0" err="1" smtClean="0"/>
              <a:t>já</a:t>
            </a:r>
            <a:r>
              <a:rPr lang="en-US" dirty="0" smtClean="0"/>
              <a:t> é </a:t>
            </a:r>
            <a:r>
              <a:rPr lang="en-US" dirty="0" err="1" smtClean="0"/>
              <a:t>precisa</a:t>
            </a:r>
            <a:r>
              <a:rPr lang="en-US" dirty="0" smtClean="0"/>
              <a:t> com 4 casas </a:t>
            </a:r>
            <a:r>
              <a:rPr lang="en-US" dirty="0" err="1" smtClean="0"/>
              <a:t>decimais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6180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8" y="2174875"/>
            <a:ext cx="3656012" cy="94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802" name="Rectangle 10"/>
          <p:cNvSpPr>
            <a:spLocks noChangeArrowheads="1"/>
          </p:cNvSpPr>
          <p:nvPr/>
        </p:nvSpPr>
        <p:spPr bwMode="auto">
          <a:xfrm>
            <a:off x="8169275" y="884238"/>
            <a:ext cx="8413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r"/>
            <a:r>
              <a:rPr lang="en-US"/>
              <a:t>cont’d</a:t>
            </a:r>
          </a:p>
        </p:txBody>
      </p:sp>
      <p:pic>
        <p:nvPicPr>
          <p:cNvPr id="16180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3378200"/>
            <a:ext cx="3738563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80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664075"/>
            <a:ext cx="12985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calc">
  <a:themeElements>
    <a:clrScheme name="cal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al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cKBAlgP8">
  <a:themeElements>
    <a:clrScheme name="McKBAlgP8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cKBAlgP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McKBAlgP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calc</Template>
  <TotalTime>1671</TotalTime>
  <Words>232</Words>
  <Application>Microsoft Office PowerPoint</Application>
  <PresentationFormat>Apresentação na tela (4:3)</PresentationFormat>
  <Paragraphs>110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Century Gothic</vt:lpstr>
      <vt:lpstr>Symbol</vt:lpstr>
      <vt:lpstr>Wingdings</vt:lpstr>
      <vt:lpstr>Wingdings 3</vt:lpstr>
      <vt:lpstr>calc</vt:lpstr>
      <vt:lpstr>McKBAlgP8</vt:lpstr>
      <vt:lpstr>Cacho</vt:lpstr>
      <vt:lpstr>Método de Newton</vt:lpstr>
      <vt:lpstr>Método de Newton</vt:lpstr>
      <vt:lpstr>Método de Newton</vt:lpstr>
      <vt:lpstr>Método de Newton</vt:lpstr>
      <vt:lpstr>Método de Newton</vt:lpstr>
      <vt:lpstr>Método de Newton</vt:lpstr>
      <vt:lpstr>Método de Newton</vt:lpstr>
      <vt:lpstr>Método de Newton</vt:lpstr>
      <vt:lpstr>Método de Newton</vt:lpstr>
      <vt:lpstr>Exemplo 1</vt:lpstr>
      <vt:lpstr>Exemplo 1 – Solution</vt:lpstr>
      <vt:lpstr>Exemplo 1 – Solution</vt:lpstr>
    </vt:vector>
  </TitlesOfParts>
  <Company>eee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antonio tavernard</cp:lastModifiedBy>
  <cp:revision>420</cp:revision>
  <dcterms:created xsi:type="dcterms:W3CDTF">2007-01-13T07:19:09Z</dcterms:created>
  <dcterms:modified xsi:type="dcterms:W3CDTF">2021-12-01T17:38:58Z</dcterms:modified>
</cp:coreProperties>
</file>