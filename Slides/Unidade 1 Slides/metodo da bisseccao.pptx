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2" r:id="rId1"/>
    <p:sldMasterId id="2147483653" r:id="rId2"/>
    <p:sldMasterId id="2147483941" r:id="rId3"/>
  </p:sldMasterIdLst>
  <p:notesMasterIdLst>
    <p:notesMasterId r:id="rId35"/>
  </p:notesMasterIdLst>
  <p:handoutMasterIdLst>
    <p:handoutMasterId r:id="rId36"/>
  </p:handoutMasterIdLst>
  <p:sldIdLst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301" r:id="rId15"/>
    <p:sldId id="304" r:id="rId16"/>
    <p:sldId id="302" r:id="rId17"/>
    <p:sldId id="303" r:id="rId18"/>
    <p:sldId id="272" r:id="rId19"/>
    <p:sldId id="305" r:id="rId20"/>
    <p:sldId id="273" r:id="rId21"/>
    <p:sldId id="306" r:id="rId22"/>
    <p:sldId id="308" r:id="rId23"/>
    <p:sldId id="307" r:id="rId24"/>
    <p:sldId id="309" r:id="rId25"/>
    <p:sldId id="310" r:id="rId26"/>
    <p:sldId id="275" r:id="rId27"/>
    <p:sldId id="311" r:id="rId28"/>
    <p:sldId id="276" r:id="rId29"/>
    <p:sldId id="296" r:id="rId30"/>
    <p:sldId id="297" r:id="rId31"/>
    <p:sldId id="299" r:id="rId32"/>
    <p:sldId id="300" r:id="rId33"/>
    <p:sldId id="314" r:id="rId34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996600"/>
    <a:srgbClr val="FF9900"/>
    <a:srgbClr val="663300"/>
    <a:srgbClr val="894400"/>
    <a:srgbClr val="A45100"/>
    <a:srgbClr val="B75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116" d="100"/>
          <a:sy n="116" d="100"/>
        </p:scale>
        <p:origin x="308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426" y="-6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3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6048701-BD5A-413E-B107-E7572643EAC6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165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165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1" rIns="96641" bIns="4832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fld id="{F1E9395F-A4B0-48A3-80D2-32D76612C7C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63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709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957432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240662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487227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667155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84556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235932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0755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13972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692955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508198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481718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146402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824918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192441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67490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571709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946600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613304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720564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676616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40024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08342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2789984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5347197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603908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2418891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6578518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0464560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7195358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572000"/>
            <a:ext cx="5334000" cy="434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12225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6EFE9BC-046D-4324-A198-DE327688D77C}" type="slidenum">
              <a:rPr lang="en-US"/>
              <a:pPr eaLnBrk="1" hangingPunct="1"/>
              <a:t>31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811724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446A3-BFB1-487F-9DA6-88E21E267948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CE6809-0489-430E-8C86-24721066686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3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C6B62-012F-4924-9113-772EB8354597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4B000-567B-4F50-8C5A-F77FA1189E5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7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0C3AE-F85B-4564-9ACB-E22D3895BAA9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B6E6CC-350F-42DA-B92E-238D2EF114C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8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988C2-247A-414A-85B0-E542FF2F8991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4AB3E2-8BA7-4B21-BCBE-BC4F65C7EC1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8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1C6E0-BDA1-41D9-8E9D-A84ADAD9667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8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9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7B590-FD75-426C-9F83-FEC3CC722D5B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CDC66-1861-4214-90A9-E206AAECCD1E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11CCE-207A-4712-87C0-B7C19819D69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7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84B1B-0B44-449A-AEF5-2C2958FB173F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08F5B-6BB3-42B8-BB7A-2C6C83A1356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5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29C82-CCB8-40D2-9EB3-257C74F7B7C3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4B00E-109C-483A-AB3E-124BE1B1981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4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1A3DF-076F-4294-9AAE-3B6476908F87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3AA399-7562-49B6-B06E-F1A28E41902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3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10BD2-28EE-4225-8B03-8C04152ADD28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6C896F-1294-46DC-9DE8-3B699C64997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475" y="617538"/>
            <a:ext cx="1968500" cy="5478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17538"/>
            <a:ext cx="5756275" cy="5478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3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C49F8-B4F2-44B0-AB29-7FA7233FF35E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33B90-E1C3-4874-A859-E13FC4E6B2A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99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27883-F3D0-479F-B418-01DFEB3237EA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10CE2B-03E6-436B-B837-B5628126033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59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16E1C-5043-4F1B-94CE-95CC096F1800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A397E4-1749-476E-8937-08FCF98590A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4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42F7D-AE61-40A7-8109-636C7C981E0D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822D2-1586-427D-BB50-62F0821B901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30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9D95B-113B-432A-AD4D-3922A52386A3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E4043-B2BB-41E3-8D68-EB4E39FBF9EB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17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9F6C0-771C-4E35-8204-3205F7570E5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906E1-C179-49CF-9EE6-33CEADE4851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07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B1442-A3CB-45B9-A469-8B0FADC0E56F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01D90-5F06-4869-9EB2-A680EEF2465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727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81701-016D-406F-BAC8-5A58A9A2A00A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0EAD16-FF36-413A-98A5-8C01987C8AC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65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28BC6-00A0-41BD-8792-9AE1ED9B7287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0BDB6-8902-4B0F-A2DB-4675562C5D7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484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8035B-665F-4A52-9D7A-32F73AD1C4C3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59CCF-F3A7-4827-92B8-45841E15E17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30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158A6-F647-4A4F-8D81-55E0B38AA5B0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EC23D-EFF6-41A3-891B-3B56DC63ABD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53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475" y="617538"/>
            <a:ext cx="1968500" cy="5478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17538"/>
            <a:ext cx="5756275" cy="5478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0CC93-D8A2-4CD4-A52D-92D7327D0F86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CE5B39-8437-4539-8535-6FD3B3F9627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91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82809-ECFD-4894-A28A-3F93E0BD5AF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B7FDE-AD9E-428C-8A0C-40E75B6FF72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983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CF791-65C4-43C8-9337-B12EA3BA6DA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71D92-5020-4A56-B8A6-A9799854B03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215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37267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74055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35166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83441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07790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5396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92333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2877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93675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1078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9179667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61681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8431794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84525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498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15851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82809-ECFD-4894-A28A-3F93E0BD5AF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B7FDE-AD9E-428C-8A0C-40E75B6FF72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20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CF791-65C4-43C8-9337-B12EA3BA6DA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71D92-5020-4A56-B8A6-A9799854B03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C9FEFF"/>
            </a:gs>
            <a:gs pos="100000">
              <a:srgbClr val="E9F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1026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4584" name="Group 1027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102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Rectangle 102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24585" name="Group 1030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103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1" name="Rectangle 1032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7" name="Rectangle 1033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Rectangle 1034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Rectangle 1035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457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Rectangle 103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A464E190-5A2F-433D-89C6-1E26CA670BE5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25" name="Rectangle 103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http://numericalmethods.eng.usf.edu</a:t>
            </a:r>
          </a:p>
        </p:txBody>
      </p:sp>
      <p:sp>
        <p:nvSpPr>
          <p:cNvPr id="26" name="Rectangle 10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EBE663F4-9D24-4AA6-AFF5-7DA29BE47197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C9FEFF"/>
            </a:gs>
            <a:gs pos="100000">
              <a:srgbClr val="E9F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en-US"/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56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10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48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B98B61AA-AB2B-42BA-9B7A-BA2D7E822FCD}" type="datetime1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1710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0" y="6629400"/>
            <a:ext cx="381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C0C0C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1710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B9C94256-E319-43AF-A113-056190B42E7B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464E190-5A2F-433D-89C6-1E26CA670BE5}" type="datetime1">
              <a:rPr lang="en-US" smtClean="0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http://numericalmethods.eng.usf.edu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BE663F4-9D24-4AA6-AFF5-7DA29BE4719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8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  <p:sldLayoutId id="2147483959" r:id="rId1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4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4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9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1295400" y="609600"/>
            <a:ext cx="7125810" cy="4191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Métodos</a:t>
            </a:r>
            <a:r>
              <a:rPr lang="en-US" dirty="0" smtClean="0"/>
              <a:t> </a:t>
            </a:r>
            <a:r>
              <a:rPr lang="en-US" dirty="0" err="1" smtClean="0"/>
              <a:t>Numéricos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</a:t>
            </a:r>
            <a:r>
              <a:rPr lang="pt-BR" sz="3000" smtClean="0"/>
              <a:t>Método </a:t>
            </a:r>
            <a:r>
              <a:rPr lang="pt-BR" sz="3000" smtClean="0"/>
              <a:t>da </a:t>
            </a:r>
            <a:r>
              <a:rPr lang="pt-BR" sz="3000" dirty="0"/>
              <a:t>Bissecção</a:t>
            </a:r>
            <a:r>
              <a:rPr lang="pt-BR" b="1" dirty="0"/>
              <a:t/>
            </a:r>
            <a:br>
              <a:rPr lang="pt-BR" b="1" dirty="0"/>
            </a:br>
            <a:endParaRPr lang="en-US" dirty="0" smtClean="0"/>
          </a:p>
        </p:txBody>
      </p:sp>
      <p:sp>
        <p:nvSpPr>
          <p:cNvPr id="51202" name="Date Placeholder 3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163F1EE-9C91-46B5-939B-6976ED894A8F}" type="datetime1">
              <a:rPr lang="en-US" sz="1400" smtClean="0">
                <a:solidFill>
                  <a:schemeClr val="bg2"/>
                </a:solidFill>
              </a:rPr>
              <a:pPr eaLnBrk="1" hangingPunct="1"/>
              <a:t>12/3/2021</a:t>
            </a:fld>
            <a:endParaRPr lang="en-US" sz="1400" smtClean="0">
              <a:solidFill>
                <a:schemeClr val="bg2"/>
              </a:solidFill>
            </a:endParaRPr>
          </a:p>
        </p:txBody>
      </p:sp>
      <p:sp>
        <p:nvSpPr>
          <p:cNvPr id="512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D2F684A-07D8-4D0F-AE3B-B561E2BEB319}" type="slidenum">
              <a:rPr lang="en-US" sz="1400">
                <a:solidFill>
                  <a:schemeClr val="bg2"/>
                </a:solidFill>
              </a:rPr>
              <a:pPr eaLnBrk="1" hangingPunct="1"/>
              <a:t>1</a:t>
            </a:fld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016550" y="5858090"/>
            <a:ext cx="45608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Prof. Antonio Tavernard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2" y="685800"/>
            <a:ext cx="7793038" cy="685800"/>
          </a:xfrm>
        </p:spPr>
        <p:txBody>
          <a:bodyPr/>
          <a:lstStyle/>
          <a:p>
            <a:r>
              <a:rPr lang="pt-BR" sz="2500" b="1" dirty="0" smtClean="0"/>
              <a:t>Base teórica Método </a:t>
            </a:r>
            <a:r>
              <a:rPr lang="pt-BR" sz="2500" b="1" dirty="0"/>
              <a:t>de Bissecção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-136124" y="1958898"/>
            <a:ext cx="2057400" cy="45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	</a:t>
            </a:r>
            <a:r>
              <a:rPr lang="en-US" sz="1900" b="1" dirty="0" err="1" smtClean="0">
                <a:cs typeface="Times New Roman" panose="02020603050405020304" pitchFamily="18" charset="0"/>
              </a:rPr>
              <a:t>Teorema</a:t>
            </a:r>
            <a:endParaRPr lang="en-US" sz="2400" b="1" dirty="0" smtClean="0">
              <a:cs typeface="Times New Roman" panose="02020603050405020304" pitchFamily="18" charset="0"/>
            </a:endParaRPr>
          </a:p>
        </p:txBody>
      </p:sp>
      <p:sp>
        <p:nvSpPr>
          <p:cNvPr id="102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66749A9-6626-49D7-B6EF-C56B3C0A9C1B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031" name="Rectangle 4"/>
          <p:cNvSpPr>
            <a:spLocks noChangeArrowheads="1"/>
          </p:cNvSpPr>
          <p:nvPr/>
        </p:nvSpPr>
        <p:spPr bwMode="auto">
          <a:xfrm>
            <a:off x="2886075" y="1743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2895600" y="2667000"/>
          <a:ext cx="3371850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4" imgW="3657600" imgH="3657600" progId="Word.Picture.8">
                  <p:embed/>
                </p:oleObj>
              </mc:Choice>
              <mc:Fallback>
                <p:oleObj r:id="rId4" imgW="3657600" imgH="36576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667000"/>
                        <a:ext cx="3371850" cy="337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6"/>
          <p:cNvSpPr txBox="1">
            <a:spLocks noChangeArrowheads="1"/>
          </p:cNvSpPr>
          <p:nvPr/>
        </p:nvSpPr>
        <p:spPr bwMode="auto">
          <a:xfrm>
            <a:off x="1447800" y="1979613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Uma equação f (x) = 0, onde f (x) é uma função contínua real, tem pelo menos uma raiz entre </a:t>
            </a:r>
            <a:r>
              <a:rPr lang="pt-BR" sz="2000" dirty="0" err="1"/>
              <a:t>xl</a:t>
            </a:r>
            <a:r>
              <a:rPr lang="pt-BR" sz="2000" dirty="0"/>
              <a:t> e </a:t>
            </a:r>
            <a:r>
              <a:rPr lang="pt-BR" sz="2000" dirty="0" err="1"/>
              <a:t>xu</a:t>
            </a:r>
            <a:r>
              <a:rPr lang="pt-BR" sz="2000" dirty="0"/>
              <a:t> se f (</a:t>
            </a:r>
            <a:r>
              <a:rPr lang="pt-BR" sz="2000" dirty="0" err="1"/>
              <a:t>xl</a:t>
            </a:r>
            <a:r>
              <a:rPr lang="pt-BR" sz="2000"/>
              <a:t>) </a:t>
            </a:r>
            <a:r>
              <a:rPr lang="pt-BR" sz="2000" smtClean="0"/>
              <a:t>*f </a:t>
            </a:r>
            <a:r>
              <a:rPr lang="pt-BR" sz="2000" dirty="0"/>
              <a:t>(</a:t>
            </a:r>
            <a:r>
              <a:rPr lang="pt-BR" sz="2000" dirty="0" err="1"/>
              <a:t>xu</a:t>
            </a:r>
            <a:r>
              <a:rPr lang="pt-BR" sz="2000" dirty="0"/>
              <a:t>) &lt;0.</a:t>
            </a: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381000" y="5715000"/>
            <a:ext cx="838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1900" b="1" dirty="0" err="1" smtClean="0"/>
              <a:t>Figura</a:t>
            </a:r>
            <a:r>
              <a:rPr lang="en-US" sz="1900" b="1" dirty="0" smtClean="0"/>
              <a:t> </a:t>
            </a:r>
            <a:r>
              <a:rPr lang="en-US" sz="1900" b="1" dirty="0"/>
              <a:t>1</a:t>
            </a:r>
            <a:r>
              <a:rPr lang="en-US" sz="1900" dirty="0"/>
              <a:t> </a:t>
            </a:r>
            <a:r>
              <a:rPr lang="pt-BR" sz="2000" dirty="0"/>
              <a:t>Existe pelo menos uma raiz entre os dois pontos se a função for real, contínua e mudar de sinal.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2743200" y="1828800"/>
          <a:ext cx="40386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r:id="rId4" imgW="3657600" imgH="4000500" progId="Word.Picture.8">
                  <p:embed/>
                </p:oleObj>
              </mc:Choice>
              <mc:Fallback>
                <p:oleObj r:id="rId4" imgW="3657600" imgH="40005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828800"/>
                        <a:ext cx="4038600" cy="441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2" y="685800"/>
            <a:ext cx="7793038" cy="685800"/>
          </a:xfrm>
        </p:spPr>
        <p:txBody>
          <a:bodyPr/>
          <a:lstStyle/>
          <a:p>
            <a:r>
              <a:rPr lang="pt-BR" sz="2500" b="1" dirty="0" smtClean="0"/>
              <a:t>Base teórica Método </a:t>
            </a:r>
            <a:r>
              <a:rPr lang="pt-BR" sz="2500" b="1" dirty="0"/>
              <a:t>de Bissecção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5638800"/>
            <a:ext cx="8229600" cy="9144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None/>
            </a:pPr>
            <a:r>
              <a:rPr lang="en-US" sz="1900" b="1" dirty="0" smtClean="0">
                <a:cs typeface="Times New Roman" panose="02020603050405020304" pitchFamily="18" charset="0"/>
              </a:rPr>
              <a:t>Figure 2</a:t>
            </a:r>
            <a:r>
              <a:rPr lang="en-US" sz="1900" dirty="0" smtClean="0">
                <a:cs typeface="Times New Roman" panose="02020603050405020304" pitchFamily="18" charset="0"/>
              </a:rPr>
              <a:t> </a:t>
            </a:r>
            <a:r>
              <a:rPr lang="pt-BR" sz="2000" dirty="0"/>
              <a:t>Se a </a:t>
            </a:r>
            <a:r>
              <a:rPr lang="pt-BR" sz="2000" dirty="0" smtClean="0"/>
              <a:t>função       </a:t>
            </a:r>
            <a:r>
              <a:rPr lang="pt-BR" sz="2000" dirty="0"/>
              <a:t>não mudar o sinal entre dois pontos, as raízes da equação </a:t>
            </a:r>
            <a:r>
              <a:rPr lang="pt-BR" sz="2000" dirty="0" smtClean="0"/>
              <a:t>          ainda </a:t>
            </a:r>
            <a:r>
              <a:rPr lang="pt-BR" sz="2000" dirty="0"/>
              <a:t>podem existir entre </a:t>
            </a:r>
            <a:r>
              <a:rPr lang="pt-BR" sz="2000" dirty="0" smtClean="0"/>
              <a:t>estes </a:t>
            </a:r>
            <a:r>
              <a:rPr lang="pt-BR" sz="2000" dirty="0"/>
              <a:t>dois pontos.</a:t>
            </a:r>
            <a:endParaRPr lang="en-US" sz="1900" dirty="0" smtClean="0"/>
          </a:p>
        </p:txBody>
      </p:sp>
      <p:sp>
        <p:nvSpPr>
          <p:cNvPr id="20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ACC7539-5A95-4260-B827-190F209DED2D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2057" name="Rectangle 4"/>
          <p:cNvSpPr>
            <a:spLocks noChangeArrowheads="1"/>
          </p:cNvSpPr>
          <p:nvPr/>
        </p:nvSpPr>
        <p:spPr bwMode="auto">
          <a:xfrm>
            <a:off x="2857500" y="1552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0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732085"/>
              </p:ext>
            </p:extLst>
          </p:nvPr>
        </p:nvGraphicFramePr>
        <p:xfrm>
          <a:off x="3138254" y="5692068"/>
          <a:ext cx="4572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6" imgW="330120" imgH="215640" progId="Equation.3">
                  <p:embed/>
                </p:oleObj>
              </mc:Choice>
              <mc:Fallback>
                <p:oleObj name="Equation" r:id="rId6" imgW="3301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254" y="5692068"/>
                        <a:ext cx="4572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752480"/>
              </p:ext>
            </p:extLst>
          </p:nvPr>
        </p:nvGraphicFramePr>
        <p:xfrm>
          <a:off x="3429000" y="5978172"/>
          <a:ext cx="7620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8" imgW="545760" imgH="215640" progId="Equation.3">
                  <p:embed/>
                </p:oleObj>
              </mc:Choice>
              <mc:Fallback>
                <p:oleObj name="Equation" r:id="rId8" imgW="54576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978172"/>
                        <a:ext cx="7620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219200" y="1905000"/>
          <a:ext cx="326072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r:id="rId4" imgW="3657600" imgH="3829812" progId="Word.Picture.8">
                  <p:embed/>
                </p:oleObj>
              </mc:Choice>
              <mc:Fallback>
                <p:oleObj r:id="rId4" imgW="3657600" imgH="3829812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3260725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2" y="685800"/>
            <a:ext cx="7793038" cy="685800"/>
          </a:xfrm>
        </p:spPr>
        <p:txBody>
          <a:bodyPr/>
          <a:lstStyle/>
          <a:p>
            <a:r>
              <a:rPr lang="pt-BR" sz="2500" b="1" dirty="0" smtClean="0"/>
              <a:t>Base teórica Método </a:t>
            </a:r>
            <a:r>
              <a:rPr lang="pt-BR" sz="2500" b="1" dirty="0"/>
              <a:t>de Bissecção</a:t>
            </a:r>
          </a:p>
        </p:txBody>
      </p:sp>
      <p:sp>
        <p:nvSpPr>
          <p:cNvPr id="308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5029200"/>
            <a:ext cx="8534400" cy="83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1900" b="1" dirty="0" err="1" smtClean="0">
                <a:cs typeface="Times New Roman" panose="02020603050405020304" pitchFamily="18" charset="0"/>
              </a:rPr>
              <a:t>Figura</a:t>
            </a:r>
            <a:r>
              <a:rPr lang="en-US" sz="1900" b="1" dirty="0" smtClean="0">
                <a:cs typeface="Times New Roman" panose="02020603050405020304" pitchFamily="18" charset="0"/>
              </a:rPr>
              <a:t> 3 </a:t>
            </a:r>
            <a:r>
              <a:rPr lang="pt-BR" sz="2000" dirty="0"/>
              <a:t>Se a função </a:t>
            </a:r>
            <a:r>
              <a:rPr lang="pt-BR" sz="2000" dirty="0" smtClean="0"/>
              <a:t>       não </a:t>
            </a:r>
            <a:r>
              <a:rPr lang="pt-BR" sz="2000" dirty="0"/>
              <a:t>mudar o sinal entre dois pontos, pode não haver nenhuma raiz para a </a:t>
            </a:r>
            <a:r>
              <a:rPr lang="pt-BR" sz="2000" dirty="0" smtClean="0"/>
              <a:t>equação            entre </a:t>
            </a:r>
            <a:r>
              <a:rPr lang="pt-BR" sz="2000" dirty="0"/>
              <a:t>os dois pontos.</a:t>
            </a:r>
            <a:endParaRPr lang="en-US" sz="1900" dirty="0" smtClean="0"/>
          </a:p>
        </p:txBody>
      </p:sp>
      <p:sp>
        <p:nvSpPr>
          <p:cNvPr id="307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0FF8684-8CAE-4075-9FB1-6A690680E7D2}" type="slidenum">
              <a:rPr lang="en-US" sz="1400"/>
              <a:pPr eaLnBrk="1" hangingPunct="1"/>
              <a:t>4</a:t>
            </a:fld>
            <a:endParaRPr lang="en-US" sz="1400"/>
          </a:p>
        </p:txBody>
      </p:sp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4953000" y="2057400"/>
          <a:ext cx="3127375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Picture" r:id="rId6" imgW="3657600" imgH="3829812" progId="Word.Picture.8">
                  <p:embed/>
                </p:oleObj>
              </mc:Choice>
              <mc:Fallback>
                <p:oleObj name="Picture" r:id="rId6" imgW="3657600" imgH="3829812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0"/>
                        <a:ext cx="3127375" cy="327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186450"/>
              </p:ext>
            </p:extLst>
          </p:nvPr>
        </p:nvGraphicFramePr>
        <p:xfrm>
          <a:off x="3124200" y="5067360"/>
          <a:ext cx="4572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8" imgW="330120" imgH="215640" progId="Equation.3">
                  <p:embed/>
                </p:oleObj>
              </mc:Choice>
              <mc:Fallback>
                <p:oleObj name="Equation" r:id="rId8" imgW="3301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067360"/>
                        <a:ext cx="4572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909549"/>
              </p:ext>
            </p:extLst>
          </p:nvPr>
        </p:nvGraphicFramePr>
        <p:xfrm>
          <a:off x="6172200" y="5297487"/>
          <a:ext cx="7620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10" imgW="545760" imgH="215640" progId="Equation.3">
                  <p:embed/>
                </p:oleObj>
              </mc:Choice>
              <mc:Fallback>
                <p:oleObj name="Equation" r:id="rId10" imgW="54576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297487"/>
                        <a:ext cx="7620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2362200" y="1752600"/>
          <a:ext cx="40957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Picture" r:id="rId4" imgW="3886200" imgH="3829812" progId="Word.Picture.8">
                  <p:embed/>
                </p:oleObj>
              </mc:Choice>
              <mc:Fallback>
                <p:oleObj name="Picture" r:id="rId4" imgW="3886200" imgH="3829812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4095750" cy="403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2" y="685800"/>
            <a:ext cx="7793038" cy="685800"/>
          </a:xfrm>
        </p:spPr>
        <p:txBody>
          <a:bodyPr/>
          <a:lstStyle/>
          <a:p>
            <a:r>
              <a:rPr lang="pt-BR" sz="2500" b="1" dirty="0" smtClean="0"/>
              <a:t>Base teórica Método </a:t>
            </a:r>
            <a:r>
              <a:rPr lang="pt-BR" sz="2500" b="1" dirty="0"/>
              <a:t>de Bissecção</a:t>
            </a:r>
          </a:p>
        </p:txBody>
      </p:sp>
      <p:sp>
        <p:nvSpPr>
          <p:cNvPr id="410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70E9C01-C630-43A9-9B00-592D89A9B434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4104" name="Text Box 3"/>
          <p:cNvSpPr txBox="1">
            <a:spLocks noChangeArrowheads="1"/>
          </p:cNvSpPr>
          <p:nvPr/>
        </p:nvSpPr>
        <p:spPr bwMode="auto">
          <a:xfrm>
            <a:off x="533400" y="5334000"/>
            <a:ext cx="8077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900" b="1" dirty="0" err="1" smtClean="0"/>
              <a:t>Figura</a:t>
            </a:r>
            <a:r>
              <a:rPr lang="en-US" sz="1900" b="1" dirty="0" smtClean="0"/>
              <a:t> </a:t>
            </a:r>
            <a:r>
              <a:rPr lang="en-US" sz="1900" b="1" dirty="0"/>
              <a:t>4 </a:t>
            </a:r>
            <a:r>
              <a:rPr lang="pt-BR" sz="2000" dirty="0"/>
              <a:t>Se a função </a:t>
            </a:r>
            <a:r>
              <a:rPr lang="pt-BR" sz="2000" dirty="0" smtClean="0"/>
              <a:t>      muda </a:t>
            </a:r>
            <a:r>
              <a:rPr lang="pt-BR" sz="2000" dirty="0"/>
              <a:t>de sinal entre dois pontos, mais de uma raiz para a </a:t>
            </a:r>
            <a:r>
              <a:rPr lang="pt-BR" sz="2000" dirty="0" smtClean="0"/>
              <a:t>equação           pode </a:t>
            </a:r>
            <a:r>
              <a:rPr lang="pt-BR" sz="2000" dirty="0"/>
              <a:t>existir entre </a:t>
            </a:r>
            <a:r>
              <a:rPr lang="pt-BR" sz="2000" dirty="0" smtClean="0"/>
              <a:t>estes </a:t>
            </a:r>
            <a:r>
              <a:rPr lang="pt-BR" sz="2000" dirty="0"/>
              <a:t>dois pontos.</a:t>
            </a:r>
            <a:endParaRPr lang="en-US" sz="1900" dirty="0"/>
          </a:p>
        </p:txBody>
      </p:sp>
      <p:sp>
        <p:nvSpPr>
          <p:cNvPr id="4105" name="Rectangle 4"/>
          <p:cNvSpPr>
            <a:spLocks noChangeArrowheads="1"/>
          </p:cNvSpPr>
          <p:nvPr/>
        </p:nvSpPr>
        <p:spPr bwMode="auto">
          <a:xfrm>
            <a:off x="285750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409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312312"/>
              </p:ext>
            </p:extLst>
          </p:nvPr>
        </p:nvGraphicFramePr>
        <p:xfrm>
          <a:off x="3048000" y="5410200"/>
          <a:ext cx="4572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ção" r:id="rId6" imgW="330120" imgH="215640" progId="Equation.3">
                  <p:embed/>
                </p:oleObj>
              </mc:Choice>
              <mc:Fallback>
                <p:oleObj name="Equação" r:id="rId6" imgW="3301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0"/>
                        <a:ext cx="4572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216792"/>
              </p:ext>
            </p:extLst>
          </p:nvPr>
        </p:nvGraphicFramePr>
        <p:xfrm>
          <a:off x="3429000" y="5700781"/>
          <a:ext cx="7620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8" imgW="545760" imgH="215640" progId="Equation.3">
                  <p:embed/>
                </p:oleObj>
              </mc:Choice>
              <mc:Fallback>
                <p:oleObj name="Equation" r:id="rId8" imgW="54576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700781"/>
                        <a:ext cx="7620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206" y="3200400"/>
            <a:ext cx="7793038" cy="685800"/>
          </a:xfrm>
        </p:spPr>
        <p:txBody>
          <a:bodyPr/>
          <a:lstStyle/>
          <a:p>
            <a:r>
              <a:rPr lang="pt-BR" sz="2500" b="1" dirty="0" smtClean="0"/>
              <a:t>Algoritmo para o Método </a:t>
            </a:r>
            <a:r>
              <a:rPr lang="pt-BR" sz="2500" b="1" dirty="0"/>
              <a:t>de Bissecção</a:t>
            </a:r>
          </a:p>
        </p:txBody>
      </p:sp>
      <p:sp>
        <p:nvSpPr>
          <p:cNvPr id="5325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80F447C-B19C-4E8F-B76A-BC560E4FA4F4}" type="slidenum">
              <a:rPr lang="en-US" sz="1400"/>
              <a:pPr eaLnBrk="1" hangingPunct="1"/>
              <a:t>6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1</a:t>
            </a: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type="clipArt" sz="half" idx="1"/>
            <p:extLst>
              <p:ext uri="{D42A27DB-BD31-4B8C-83A1-F6EECF244321}">
                <p14:modId xmlns:p14="http://schemas.microsoft.com/office/powerpoint/2010/main" val="3095271404"/>
              </p:ext>
            </p:extLst>
          </p:nvPr>
        </p:nvGraphicFramePr>
        <p:xfrm>
          <a:off x="2819400" y="3048000"/>
          <a:ext cx="36576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r:id="rId4" imgW="3657600" imgH="3657600" progId="Word.Picture.8">
                  <p:embed/>
                </p:oleObj>
              </mc:Choice>
              <mc:Fallback>
                <p:oleObj r:id="rId4" imgW="3657600" imgH="36576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048000"/>
                        <a:ext cx="36576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981200"/>
            <a:ext cx="8763000" cy="129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 smtClean="0"/>
              <a:t>Escolha </a:t>
            </a:r>
            <a:r>
              <a:rPr lang="pt-BR" sz="2400" dirty="0" err="1" smtClean="0"/>
              <a:t>xl</a:t>
            </a:r>
            <a:r>
              <a:rPr lang="pt-BR" sz="2400" dirty="0" smtClean="0"/>
              <a:t> e </a:t>
            </a:r>
            <a:r>
              <a:rPr lang="pt-BR" sz="2400" dirty="0" err="1"/>
              <a:t>xu</a:t>
            </a:r>
            <a:r>
              <a:rPr lang="pt-BR" sz="2400" dirty="0"/>
              <a:t> como duas estimativas para a raiz tal </a:t>
            </a:r>
            <a:r>
              <a:rPr lang="pt-BR" sz="2400" dirty="0" smtClean="0"/>
              <a:t>que:</a:t>
            </a:r>
          </a:p>
          <a:p>
            <a:pPr marL="0" indent="0">
              <a:buNone/>
            </a:pPr>
            <a:r>
              <a:rPr lang="pt-BR" sz="2400" dirty="0" smtClean="0"/>
              <a:t> f(</a:t>
            </a:r>
            <a:r>
              <a:rPr lang="pt-BR" sz="2400" dirty="0" err="1" smtClean="0"/>
              <a:t>x</a:t>
            </a:r>
            <a:r>
              <a:rPr lang="pt-BR" sz="2400" dirty="0" err="1"/>
              <a:t>l</a:t>
            </a:r>
            <a:r>
              <a:rPr lang="pt-BR" sz="2400" dirty="0" smtClean="0"/>
              <a:t>) * f </a:t>
            </a:r>
            <a:r>
              <a:rPr lang="pt-BR" sz="2400" dirty="0"/>
              <a:t>(</a:t>
            </a:r>
            <a:r>
              <a:rPr lang="pt-BR" sz="2400" dirty="0" err="1"/>
              <a:t>xu</a:t>
            </a:r>
            <a:r>
              <a:rPr lang="pt-BR" sz="2400" dirty="0"/>
              <a:t>) </a:t>
            </a:r>
            <a:r>
              <a:rPr lang="pt-BR" sz="2400" dirty="0" smtClean="0"/>
              <a:t>&lt; 0</a:t>
            </a:r>
            <a:r>
              <a:rPr lang="pt-BR" sz="2400" dirty="0"/>
              <a:t>, ou em outras palavras, f (x) </a:t>
            </a:r>
            <a:r>
              <a:rPr lang="pt-BR" sz="2400" dirty="0" smtClean="0"/>
              <a:t>mude </a:t>
            </a:r>
            <a:r>
              <a:rPr lang="pt-BR" sz="2400" dirty="0"/>
              <a:t>o sinal entre </a:t>
            </a:r>
            <a:r>
              <a:rPr lang="pt-BR" sz="2400" dirty="0" err="1" smtClean="0"/>
              <a:t>xl</a:t>
            </a:r>
            <a:r>
              <a:rPr lang="pt-BR" sz="2400" dirty="0" smtClean="0"/>
              <a:t> e </a:t>
            </a:r>
            <a:r>
              <a:rPr lang="pt-BR" sz="2400" dirty="0" err="1"/>
              <a:t>xu</a:t>
            </a:r>
            <a:r>
              <a:rPr lang="pt-BR" sz="2400" dirty="0"/>
              <a:t>. Isso foi demonstrado na Figura 1.</a:t>
            </a:r>
          </a:p>
        </p:txBody>
      </p:sp>
      <p:sp>
        <p:nvSpPr>
          <p:cNvPr id="512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627A34C-4975-4131-BA9D-44E145A45683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810000" y="60960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900" b="1" kern="0" dirty="0" err="1" smtClean="0">
                <a:latin typeface="+mn-lt"/>
                <a:cs typeface="Times New Roman" pitchFamily="18" charset="0"/>
              </a:rPr>
              <a:t>Figura</a:t>
            </a:r>
            <a:r>
              <a:rPr lang="en-US" sz="1900" b="1" kern="0" dirty="0" smtClean="0">
                <a:latin typeface="+mn-lt"/>
                <a:cs typeface="Times New Roman" pitchFamily="18" charset="0"/>
              </a:rPr>
              <a:t> </a:t>
            </a:r>
            <a:r>
              <a:rPr lang="en-US" sz="1900" b="1" kern="0" dirty="0">
                <a:latin typeface="+mn-lt"/>
                <a:cs typeface="Times New Roman" pitchFamily="18" charset="0"/>
              </a:rPr>
              <a:t>1</a:t>
            </a:r>
            <a:endParaRPr lang="en-US" sz="1900" b="1" kern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6"/>
          <p:cNvGraphicFramePr>
            <a:graphicFrameLocks noChangeAspect="1"/>
          </p:cNvGraphicFramePr>
          <p:nvPr/>
        </p:nvGraphicFramePr>
        <p:xfrm>
          <a:off x="4648200" y="2590800"/>
          <a:ext cx="38100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Picture" r:id="rId4" imgW="3657600" imgH="3657600" progId="Word.Picture.8">
                  <p:embed/>
                </p:oleObj>
              </mc:Choice>
              <mc:Fallback>
                <p:oleObj name="Picture" r:id="rId4" imgW="3657600" imgH="36576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590800"/>
                        <a:ext cx="38100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2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1981200"/>
            <a:ext cx="8610600" cy="914400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Estime a raiz, </a:t>
            </a:r>
            <a:r>
              <a:rPr lang="pt-BR" sz="2400" dirty="0" err="1"/>
              <a:t>xm</a:t>
            </a:r>
            <a:r>
              <a:rPr lang="pt-BR" sz="2400" dirty="0"/>
              <a:t> da equação f (x) = 0 como o ponto médio entre </a:t>
            </a:r>
            <a:r>
              <a:rPr lang="pt-BR" sz="2400" dirty="0" err="1" smtClean="0"/>
              <a:t>xl</a:t>
            </a:r>
            <a:r>
              <a:rPr lang="pt-BR" sz="2400" dirty="0" smtClean="0"/>
              <a:t> e </a:t>
            </a:r>
            <a:r>
              <a:rPr lang="pt-BR" sz="2400" dirty="0" err="1" smtClean="0"/>
              <a:t>xu</a:t>
            </a:r>
            <a:endParaRPr lang="pt-BR" sz="2400" dirty="0"/>
          </a:p>
        </p:txBody>
      </p:sp>
      <p:sp>
        <p:nvSpPr>
          <p:cNvPr id="614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9E183B9-E674-4E54-B8F0-B3B7294E9260}" type="slidenum">
              <a:rPr lang="en-US" sz="1400"/>
              <a:pPr eaLnBrk="1" hangingPunct="1"/>
              <a:t>8</a:t>
            </a:fld>
            <a:endParaRPr lang="en-US" sz="1400"/>
          </a:p>
        </p:txBody>
      </p:sp>
      <p:pic>
        <p:nvPicPr>
          <p:cNvPr id="6151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38600"/>
            <a:ext cx="19812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486400" y="6019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900" b="1" kern="0" dirty="0" err="1" smtClean="0">
                <a:latin typeface="+mn-lt"/>
                <a:cs typeface="Times New Roman" pitchFamily="18" charset="0"/>
              </a:rPr>
              <a:t>Figura</a:t>
            </a:r>
            <a:r>
              <a:rPr lang="en-US" sz="1900" b="1" kern="0" dirty="0" smtClean="0">
                <a:latin typeface="+mn-lt"/>
                <a:cs typeface="Times New Roman" pitchFamily="18" charset="0"/>
              </a:rPr>
              <a:t> </a:t>
            </a:r>
            <a:r>
              <a:rPr lang="en-US" sz="1900" b="1" kern="0" dirty="0">
                <a:latin typeface="+mn-lt"/>
                <a:cs typeface="Times New Roman" pitchFamily="18" charset="0"/>
              </a:rPr>
              <a:t>5   </a:t>
            </a:r>
            <a:r>
              <a:rPr lang="en-US" sz="1900" kern="0" dirty="0" err="1" smtClean="0">
                <a:latin typeface="+mn-lt"/>
                <a:cs typeface="Times New Roman" pitchFamily="18" charset="0"/>
              </a:rPr>
              <a:t>Estimativa</a:t>
            </a:r>
            <a:r>
              <a:rPr lang="en-US" sz="1900" kern="0" dirty="0" smtClean="0">
                <a:latin typeface="+mn-lt"/>
                <a:cs typeface="Times New Roman" pitchFamily="18" charset="0"/>
              </a:rPr>
              <a:t> de </a:t>
            </a:r>
            <a:r>
              <a:rPr lang="en-US" sz="1900" kern="0" dirty="0">
                <a:latin typeface="+mn-lt"/>
                <a:cs typeface="Times New Roman" pitchFamily="18" charset="0"/>
              </a:rPr>
              <a:t>x</a:t>
            </a:r>
            <a:r>
              <a:rPr lang="en-US" sz="1900" kern="0" baseline="-25000" dirty="0">
                <a:latin typeface="+mn-lt"/>
                <a:cs typeface="Times New Roman" pitchFamily="18" charset="0"/>
              </a:rPr>
              <a:t>m</a:t>
            </a:r>
            <a:endParaRPr lang="en-US" sz="1900" b="1" kern="0" baseline="-25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Passo</a:t>
            </a:r>
            <a:r>
              <a:rPr lang="en-US" dirty="0" smtClean="0"/>
              <a:t> 3</a:t>
            </a:r>
          </a:p>
        </p:txBody>
      </p:sp>
      <p:sp>
        <p:nvSpPr>
          <p:cNvPr id="717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38200" y="2057400"/>
            <a:ext cx="7924800" cy="4114800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Agora </a:t>
            </a:r>
            <a:r>
              <a:rPr lang="en-US" sz="2400" dirty="0" err="1" smtClean="0"/>
              <a:t>verifique</a:t>
            </a:r>
            <a:r>
              <a:rPr lang="en-US" sz="2400" dirty="0" smtClean="0"/>
              <a:t> </a:t>
            </a:r>
            <a:r>
              <a:rPr lang="en-US" sz="2400" dirty="0" err="1" smtClean="0"/>
              <a:t>os</a:t>
            </a:r>
            <a:r>
              <a:rPr lang="en-US" sz="2400" dirty="0" smtClean="0"/>
              <a:t> </a:t>
            </a:r>
            <a:r>
              <a:rPr lang="en-US" sz="2400" dirty="0" err="1" smtClean="0"/>
              <a:t>passos</a:t>
            </a:r>
            <a:endParaRPr lang="en-US" sz="2400" dirty="0" smtClean="0"/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400" dirty="0" smtClean="0"/>
          </a:p>
          <a:p>
            <a:pPr marL="533400" indent="-533400">
              <a:buClr>
                <a:schemeClr val="tx1"/>
              </a:buClr>
              <a:buSzPct val="100000"/>
              <a:buFont typeface="Wingdings" panose="05000000000000000000" pitchFamily="2" charset="2"/>
              <a:buAutoNum type="alphaLcParenR"/>
            </a:pPr>
            <a:r>
              <a:rPr lang="en-US" sz="2400" dirty="0" smtClean="0"/>
              <a:t>Se                      , logo a </a:t>
            </a:r>
            <a:r>
              <a:rPr lang="en-US" sz="2400" dirty="0" err="1" smtClean="0"/>
              <a:t>raiz</a:t>
            </a:r>
            <a:r>
              <a:rPr lang="en-US" sz="2400" dirty="0" smtClean="0"/>
              <a:t> </a:t>
            </a:r>
            <a:r>
              <a:rPr lang="en-US" sz="2400" dirty="0" err="1" smtClean="0"/>
              <a:t>está</a:t>
            </a:r>
            <a:r>
              <a:rPr lang="en-US" sz="2400" dirty="0" smtClean="0"/>
              <a:t> entre x</a:t>
            </a:r>
            <a:r>
              <a:rPr lang="en-US" sz="2400" baseline="-30000" dirty="0" smtClean="0">
                <a:latin typeface="MT Extra" panose="05050102010205020202" pitchFamily="18" charset="2"/>
              </a:rPr>
              <a:t>l</a:t>
            </a:r>
            <a:r>
              <a:rPr lang="en-US" sz="2400" dirty="0" smtClean="0"/>
              <a:t> and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m</a:t>
            </a:r>
            <a:r>
              <a:rPr lang="en-US" sz="2400" dirty="0" smtClean="0"/>
              <a:t>; </a:t>
            </a:r>
            <a:r>
              <a:rPr lang="en-US" sz="2400" dirty="0" err="1" smtClean="0"/>
              <a:t>entãio</a:t>
            </a:r>
            <a:r>
              <a:rPr lang="en-US" sz="2400" dirty="0" smtClean="0"/>
              <a:t> x</a:t>
            </a:r>
            <a:r>
              <a:rPr lang="en-US" sz="2400" baseline="-30000" dirty="0" smtClean="0">
                <a:latin typeface="MT Extra" panose="05050102010205020202" pitchFamily="18" charset="2"/>
              </a:rPr>
              <a:t>l</a:t>
            </a:r>
            <a:r>
              <a:rPr lang="en-US" sz="2400" dirty="0" smtClean="0"/>
              <a:t> = x</a:t>
            </a:r>
            <a:r>
              <a:rPr lang="en-US" sz="2400" baseline="-30000" dirty="0" smtClean="0">
                <a:latin typeface="MT Extra" panose="05050102010205020202" pitchFamily="18" charset="2"/>
              </a:rPr>
              <a:t>l</a:t>
            </a:r>
            <a:r>
              <a:rPr lang="en-US" sz="2400" dirty="0" smtClean="0"/>
              <a:t> ;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u</a:t>
            </a:r>
            <a:r>
              <a:rPr lang="en-US" sz="2400" dirty="0" smtClean="0"/>
              <a:t> =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m</a:t>
            </a:r>
            <a:r>
              <a:rPr lang="en-US" sz="2400" dirty="0" smtClean="0"/>
              <a:t>.</a:t>
            </a:r>
          </a:p>
          <a:p>
            <a:pPr marL="533400" indent="-533400">
              <a:lnSpc>
                <a:spcPct val="8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AutoNum type="alphaLcParenR"/>
            </a:pPr>
            <a:endParaRPr lang="en-US" sz="1500" dirty="0" smtClean="0"/>
          </a:p>
          <a:p>
            <a:pPr marL="533400" indent="-533400">
              <a:buClr>
                <a:schemeClr val="tx1"/>
              </a:buClr>
              <a:buSzPct val="100000"/>
              <a:buFont typeface="Wingdings" panose="05000000000000000000" pitchFamily="2" charset="2"/>
              <a:buAutoNum type="alphaLcParenR"/>
            </a:pPr>
            <a:r>
              <a:rPr lang="en-US" sz="2400" dirty="0" smtClean="0"/>
              <a:t>Se                     , logo a </a:t>
            </a:r>
            <a:r>
              <a:rPr lang="en-US" sz="2400" dirty="0" err="1" smtClean="0"/>
              <a:t>raiz</a:t>
            </a:r>
            <a:r>
              <a:rPr lang="en-US" sz="2400" dirty="0" smtClean="0"/>
              <a:t> </a:t>
            </a:r>
            <a:r>
              <a:rPr lang="en-US" sz="2400" dirty="0" err="1" smtClean="0"/>
              <a:t>está</a:t>
            </a:r>
            <a:r>
              <a:rPr lang="en-US" sz="2400" dirty="0" smtClean="0"/>
              <a:t> entre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m</a:t>
            </a:r>
            <a:r>
              <a:rPr lang="en-US" sz="2400" dirty="0" smtClean="0"/>
              <a:t> and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u</a:t>
            </a:r>
            <a:r>
              <a:rPr lang="en-US" sz="2400" dirty="0" smtClean="0"/>
              <a:t>; </a:t>
            </a:r>
            <a:r>
              <a:rPr lang="en-US" sz="2400" dirty="0" err="1" smtClean="0"/>
              <a:t>então</a:t>
            </a:r>
            <a:r>
              <a:rPr lang="en-US" sz="2400" dirty="0" smtClean="0"/>
              <a:t> x</a:t>
            </a:r>
            <a:r>
              <a:rPr lang="en-US" sz="2400" baseline="-30000" dirty="0" smtClean="0">
                <a:latin typeface="MT Extra" panose="05050102010205020202" pitchFamily="18" charset="2"/>
              </a:rPr>
              <a:t>l</a:t>
            </a:r>
            <a:r>
              <a:rPr lang="en-US" sz="2400" dirty="0" smtClean="0"/>
              <a:t> =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m</a:t>
            </a:r>
            <a:r>
              <a:rPr lang="en-US" sz="2400" dirty="0" smtClean="0"/>
              <a:t>; 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u</a:t>
            </a:r>
            <a:r>
              <a:rPr lang="en-US" sz="2400" dirty="0" smtClean="0"/>
              <a:t> =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u</a:t>
            </a:r>
            <a:r>
              <a:rPr lang="en-US" sz="2400" dirty="0" smtClean="0"/>
              <a:t>.</a:t>
            </a:r>
          </a:p>
          <a:p>
            <a:pPr marL="533400" indent="-533400">
              <a:lnSpc>
                <a:spcPct val="8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AutoNum type="alphaLcParenR"/>
            </a:pPr>
            <a:endParaRPr lang="en-US" sz="1500" dirty="0" smtClean="0"/>
          </a:p>
          <a:p>
            <a:pPr marL="533400" indent="-533400">
              <a:buClr>
                <a:schemeClr val="tx1"/>
              </a:buClr>
              <a:buSzPct val="100000"/>
              <a:buFont typeface="Wingdings" panose="05000000000000000000" pitchFamily="2" charset="2"/>
              <a:buAutoNum type="alphaLcParenR"/>
            </a:pPr>
            <a:r>
              <a:rPr lang="en-US" sz="2400" dirty="0" smtClean="0"/>
              <a:t>Se                     ; logo a </a:t>
            </a:r>
            <a:r>
              <a:rPr lang="en-US" sz="2400" dirty="0" err="1" smtClean="0"/>
              <a:t>raiz</a:t>
            </a:r>
            <a:r>
              <a:rPr lang="en-US" sz="2400" dirty="0" smtClean="0"/>
              <a:t> é </a:t>
            </a:r>
            <a:r>
              <a:rPr lang="en-US" sz="2400" dirty="0" err="1" smtClean="0"/>
              <a:t>x</a:t>
            </a:r>
            <a:r>
              <a:rPr lang="en-US" sz="2400" baseline="-30000" dirty="0" err="1" smtClean="0"/>
              <a:t>m</a:t>
            </a:r>
            <a:r>
              <a:rPr lang="en-US" sz="2400" baseline="-30000" dirty="0" smtClean="0"/>
              <a:t>. </a:t>
            </a:r>
            <a:r>
              <a:rPr lang="pt-BR" sz="2400" dirty="0"/>
              <a:t>Pare o algoritmo se isso for </a:t>
            </a:r>
            <a:r>
              <a:rPr lang="pt-BR" sz="2400" dirty="0" smtClean="0"/>
              <a:t>verdade.</a:t>
            </a:r>
            <a:endParaRPr lang="en-US" sz="2400" dirty="0" smtClean="0"/>
          </a:p>
          <a:p>
            <a:pPr marL="533400" indent="-533400">
              <a:lnSpc>
                <a:spcPct val="80000"/>
              </a:lnSpc>
            </a:pPr>
            <a:endParaRPr lang="en-US" sz="2400" dirty="0" smtClean="0"/>
          </a:p>
        </p:txBody>
      </p:sp>
      <p:sp>
        <p:nvSpPr>
          <p:cNvPr id="717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A552B96-CBD8-4EAC-9547-EB8E9A2643A9}" type="slidenum">
              <a:rPr lang="en-US" sz="1400"/>
              <a:pPr eaLnBrk="1" hangingPunct="1"/>
              <a:t>9</a:t>
            </a:fld>
            <a:endParaRPr lang="en-US" sz="1400"/>
          </a:p>
        </p:txBody>
      </p:sp>
      <p:graphicFrame>
        <p:nvGraphicFramePr>
          <p:cNvPr id="71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308198"/>
              </p:ext>
            </p:extLst>
          </p:nvPr>
        </p:nvGraphicFramePr>
        <p:xfrm>
          <a:off x="1752600" y="2895600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4" imgW="952200" imgH="228600" progId="Equation.3">
                  <p:embed/>
                </p:oleObj>
              </mc:Choice>
              <mc:Fallback>
                <p:oleObj name="Equation" r:id="rId4" imgW="952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95600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68513"/>
              </p:ext>
            </p:extLst>
          </p:nvPr>
        </p:nvGraphicFramePr>
        <p:xfrm>
          <a:off x="1752600" y="4114800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6" imgW="952200" imgH="228600" progId="Equation.3">
                  <p:embed/>
                </p:oleObj>
              </mc:Choice>
              <mc:Fallback>
                <p:oleObj name="Equation" r:id="rId6" imgW="952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114800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742739"/>
              </p:ext>
            </p:extLst>
          </p:nvPr>
        </p:nvGraphicFramePr>
        <p:xfrm>
          <a:off x="1752600" y="5257800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8" imgW="952200" imgH="228600" progId="Equation.3">
                  <p:embed/>
                </p:oleObj>
              </mc:Choice>
              <mc:Fallback>
                <p:oleObj name="Equation" r:id="rId8" imgW="9522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257800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4</a:t>
            </a:r>
          </a:p>
        </p:txBody>
      </p:sp>
      <p:sp>
        <p:nvSpPr>
          <p:cNvPr id="81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EF071F8-2226-4FF5-8A5F-DF54132B485F}" type="slidenum">
              <a:rPr lang="en-US" sz="1400"/>
              <a:pPr eaLnBrk="1" hangingPunct="1"/>
              <a:t>10</a:t>
            </a:fld>
            <a:endParaRPr lang="en-US" sz="1400"/>
          </a:p>
        </p:txBody>
      </p:sp>
      <p:pic>
        <p:nvPicPr>
          <p:cNvPr id="820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991" y="2362200"/>
            <a:ext cx="19812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Rectangle 4"/>
          <p:cNvSpPr>
            <a:spLocks noChangeArrowheads="1"/>
          </p:cNvSpPr>
          <p:nvPr/>
        </p:nvSpPr>
        <p:spPr bwMode="auto">
          <a:xfrm>
            <a:off x="384810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79256"/>
              </p:ext>
            </p:extLst>
          </p:nvPr>
        </p:nvGraphicFramePr>
        <p:xfrm>
          <a:off x="2291416" y="3505200"/>
          <a:ext cx="2646363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5" imgW="1396800" imgH="533160" progId="Equation.3">
                  <p:embed/>
                </p:oleObj>
              </mc:Choice>
              <mc:Fallback>
                <p:oleObj name="Equation" r:id="rId5" imgW="1396800" imgH="533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416" y="3505200"/>
                        <a:ext cx="2646363" cy="101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6"/>
          <p:cNvSpPr>
            <a:spLocks noChangeArrowheads="1"/>
          </p:cNvSpPr>
          <p:nvPr/>
        </p:nvSpPr>
        <p:spPr bwMode="auto">
          <a:xfrm>
            <a:off x="4405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81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011580"/>
              </p:ext>
            </p:extLst>
          </p:nvPr>
        </p:nvGraphicFramePr>
        <p:xfrm>
          <a:off x="2291139" y="5447114"/>
          <a:ext cx="5159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ção" r:id="rId7" imgW="279360" imgH="241200" progId="Equation.3">
                  <p:embed/>
                </p:oleObj>
              </mc:Choice>
              <mc:Fallback>
                <p:oleObj name="Equação" r:id="rId7" imgW="27936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139" y="5447114"/>
                        <a:ext cx="515938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464820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819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72611"/>
              </p:ext>
            </p:extLst>
          </p:nvPr>
        </p:nvGraphicFramePr>
        <p:xfrm>
          <a:off x="2340854" y="4949825"/>
          <a:ext cx="4841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ção" r:id="rId9" imgW="253800" imgH="241200" progId="Equation.3">
                  <p:embed/>
                </p:oleObj>
              </mc:Choice>
              <mc:Fallback>
                <p:oleObj name="Equação" r:id="rId9" imgW="25380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0854" y="4949825"/>
                        <a:ext cx="484187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10"/>
          <p:cNvSpPr txBox="1">
            <a:spLocks noChangeArrowheads="1"/>
          </p:cNvSpPr>
          <p:nvPr/>
        </p:nvSpPr>
        <p:spPr bwMode="auto">
          <a:xfrm>
            <a:off x="1088745" y="1828800"/>
            <a:ext cx="4854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dirty="0"/>
              <a:t>Encontre a nova estimativa da raiz</a:t>
            </a:r>
          </a:p>
        </p:txBody>
      </p:sp>
      <p:sp>
        <p:nvSpPr>
          <p:cNvPr id="8205" name="Text Box 11"/>
          <p:cNvSpPr txBox="1">
            <a:spLocks noChangeArrowheads="1"/>
          </p:cNvSpPr>
          <p:nvPr/>
        </p:nvSpPr>
        <p:spPr bwMode="auto">
          <a:xfrm>
            <a:off x="996016" y="3041303"/>
            <a:ext cx="3382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dirty="0"/>
              <a:t>Encontre o erro </a:t>
            </a:r>
            <a:r>
              <a:rPr lang="pt-BR" dirty="0" smtClean="0"/>
              <a:t>relativo</a:t>
            </a:r>
            <a:endParaRPr lang="pt-BR" dirty="0"/>
          </a:p>
        </p:txBody>
      </p:sp>
      <p:sp>
        <p:nvSpPr>
          <p:cNvPr id="8206" name="Text Box 11"/>
          <p:cNvSpPr txBox="1">
            <a:spLocks noChangeArrowheads="1"/>
          </p:cNvSpPr>
          <p:nvPr/>
        </p:nvSpPr>
        <p:spPr bwMode="auto">
          <a:xfrm>
            <a:off x="1432802" y="4419600"/>
            <a:ext cx="906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dirty="0" err="1" smtClean="0"/>
              <a:t>Onde</a:t>
            </a:r>
            <a:endParaRPr lang="en-US" dirty="0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844316" y="4982698"/>
            <a:ext cx="29741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600" dirty="0" smtClean="0"/>
              <a:t>Valor da </a:t>
            </a:r>
            <a:r>
              <a:rPr lang="en-US" sz="1600" dirty="0" err="1" smtClean="0"/>
              <a:t>iteração</a:t>
            </a:r>
            <a:r>
              <a:rPr lang="en-US" sz="1600" dirty="0" smtClean="0"/>
              <a:t> interior de </a:t>
            </a:r>
            <a:r>
              <a:rPr lang="en-US" sz="1600" dirty="0" err="1" smtClean="0"/>
              <a:t>x</a:t>
            </a:r>
            <a:r>
              <a:rPr lang="en-US" sz="1600" baseline="-25000" dirty="0" err="1"/>
              <a:t>m</a:t>
            </a:r>
            <a:endParaRPr lang="en-US" sz="1600" dirty="0"/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824816" y="5495324"/>
            <a:ext cx="2775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600" dirty="0" smtClean="0"/>
              <a:t>Valor da </a:t>
            </a:r>
            <a:r>
              <a:rPr lang="en-US" sz="1600" dirty="0" err="1" smtClean="0"/>
              <a:t>iteração</a:t>
            </a:r>
            <a:r>
              <a:rPr lang="en-US" sz="1600" dirty="0" smtClean="0"/>
              <a:t> </a:t>
            </a:r>
            <a:r>
              <a:rPr lang="en-US" sz="1600" dirty="0" err="1" smtClean="0"/>
              <a:t>atual</a:t>
            </a:r>
            <a:r>
              <a:rPr lang="en-US" sz="1600" dirty="0" smtClean="0"/>
              <a:t> de </a:t>
            </a:r>
            <a:r>
              <a:rPr lang="en-US" sz="1600" dirty="0" err="1" smtClean="0"/>
              <a:t>x</a:t>
            </a:r>
            <a:r>
              <a:rPr lang="en-US" sz="1600" baseline="-25000" dirty="0" err="1"/>
              <a:t>m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Passo</a:t>
            </a:r>
            <a:r>
              <a:rPr lang="en-US" dirty="0" smtClean="0"/>
              <a:t> 5</a:t>
            </a:r>
          </a:p>
        </p:txBody>
      </p:sp>
      <p:sp>
        <p:nvSpPr>
          <p:cNvPr id="92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FFEDBE6-8A69-49D4-B141-E923AB05937C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9224" name="Text Box 3"/>
          <p:cNvSpPr txBox="1">
            <a:spLocks noChangeArrowheads="1"/>
          </p:cNvSpPr>
          <p:nvPr/>
        </p:nvSpPr>
        <p:spPr bwMode="auto">
          <a:xfrm>
            <a:off x="1204913" y="3478213"/>
            <a:ext cx="1524000" cy="630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endParaRPr lang="en-US" sz="800" dirty="0"/>
          </a:p>
          <a:p>
            <a:pPr algn="l" eaLnBrk="1" hangingPunct="1"/>
            <a:r>
              <a:rPr lang="en-US" sz="1900" dirty="0" smtClean="0"/>
              <a:t>              ?</a:t>
            </a:r>
            <a:endParaRPr lang="en-US" sz="1900" dirty="0"/>
          </a:p>
          <a:p>
            <a:pPr algn="l" eaLnBrk="1" hangingPunct="1"/>
            <a:r>
              <a:rPr lang="en-US" sz="800" dirty="0"/>
              <a:t> </a:t>
            </a:r>
          </a:p>
        </p:txBody>
      </p:sp>
      <p:sp>
        <p:nvSpPr>
          <p:cNvPr id="9225" name="Text Box 4"/>
          <p:cNvSpPr txBox="1">
            <a:spLocks noChangeArrowheads="1"/>
          </p:cNvSpPr>
          <p:nvPr/>
        </p:nvSpPr>
        <p:spPr bwMode="auto">
          <a:xfrm>
            <a:off x="3792076" y="3249613"/>
            <a:ext cx="554960" cy="3847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dirty="0" err="1" smtClean="0"/>
              <a:t>sim</a:t>
            </a:r>
            <a:endParaRPr lang="en-US" sz="1900" dirty="0"/>
          </a:p>
        </p:txBody>
      </p:sp>
      <p:sp>
        <p:nvSpPr>
          <p:cNvPr id="9226" name="Text Box 5"/>
          <p:cNvSpPr txBox="1">
            <a:spLocks noChangeArrowheads="1"/>
          </p:cNvSpPr>
          <p:nvPr/>
        </p:nvSpPr>
        <p:spPr bwMode="auto">
          <a:xfrm>
            <a:off x="3719513" y="4240213"/>
            <a:ext cx="627523" cy="3847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dirty="0" err="1" smtClean="0"/>
              <a:t>não</a:t>
            </a:r>
            <a:endParaRPr lang="en-US" sz="1900" dirty="0"/>
          </a:p>
        </p:txBody>
      </p:sp>
      <p:sp>
        <p:nvSpPr>
          <p:cNvPr id="9227" name="Text Box 6"/>
          <p:cNvSpPr txBox="1">
            <a:spLocks noChangeArrowheads="1"/>
          </p:cNvSpPr>
          <p:nvPr/>
        </p:nvSpPr>
        <p:spPr bwMode="auto">
          <a:xfrm>
            <a:off x="5548313" y="2944813"/>
            <a:ext cx="2743200" cy="9694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dirty="0" smtClean="0"/>
              <a:t>Volte para o </a:t>
            </a:r>
            <a:r>
              <a:rPr lang="en-US" sz="1900" dirty="0" err="1" smtClean="0"/>
              <a:t>passo</a:t>
            </a:r>
            <a:r>
              <a:rPr lang="en-US" sz="1900" dirty="0" smtClean="0"/>
              <a:t> 2 com </a:t>
            </a:r>
            <a:r>
              <a:rPr lang="en-US" sz="1900" dirty="0" err="1" smtClean="0"/>
              <a:t>os</a:t>
            </a:r>
            <a:r>
              <a:rPr lang="en-US" sz="1900" dirty="0" smtClean="0"/>
              <a:t> </a:t>
            </a:r>
            <a:r>
              <a:rPr lang="en-US" sz="1900" dirty="0" err="1" smtClean="0"/>
              <a:t>novos</a:t>
            </a:r>
            <a:r>
              <a:rPr lang="en-US" sz="1900" dirty="0" smtClean="0"/>
              <a:t> </a:t>
            </a:r>
            <a:r>
              <a:rPr lang="en-US" sz="1900" dirty="0" err="1" smtClean="0"/>
              <a:t>valores</a:t>
            </a:r>
            <a:r>
              <a:rPr lang="en-US" sz="1900" dirty="0" smtClean="0"/>
              <a:t> de xl e </a:t>
            </a:r>
            <a:r>
              <a:rPr lang="en-US" sz="1900" dirty="0" err="1" smtClean="0"/>
              <a:t>xu</a:t>
            </a:r>
            <a:endParaRPr lang="en-US" sz="1900" dirty="0"/>
          </a:p>
        </p:txBody>
      </p:sp>
      <p:sp>
        <p:nvSpPr>
          <p:cNvPr id="9228" name="Text Box 7"/>
          <p:cNvSpPr txBox="1">
            <a:spLocks noChangeArrowheads="1"/>
          </p:cNvSpPr>
          <p:nvPr/>
        </p:nvSpPr>
        <p:spPr bwMode="auto">
          <a:xfrm>
            <a:off x="5444331" y="4240213"/>
            <a:ext cx="2728913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dirty="0" smtClean="0"/>
              <a:t>Pare o </a:t>
            </a:r>
            <a:r>
              <a:rPr lang="en-US" sz="1900" dirty="0" err="1" smtClean="0"/>
              <a:t>algoritmo</a:t>
            </a:r>
            <a:endParaRPr lang="en-US" sz="1900" dirty="0"/>
          </a:p>
        </p:txBody>
      </p:sp>
      <p:sp>
        <p:nvSpPr>
          <p:cNvPr id="9229" name="Text Box 8"/>
          <p:cNvSpPr txBox="1">
            <a:spLocks noChangeArrowheads="1"/>
          </p:cNvSpPr>
          <p:nvPr/>
        </p:nvSpPr>
        <p:spPr bwMode="auto">
          <a:xfrm>
            <a:off x="2727325" y="41481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9230" name="Rectangle 15"/>
          <p:cNvSpPr>
            <a:spLocks noChangeArrowheads="1"/>
          </p:cNvSpPr>
          <p:nvPr/>
        </p:nvSpPr>
        <p:spPr bwMode="auto">
          <a:xfrm>
            <a:off x="762000" y="2057400"/>
            <a:ext cx="8001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dirty="0" err="1" smtClean="0"/>
              <a:t>Verifique</a:t>
            </a:r>
            <a:r>
              <a:rPr lang="en-US" dirty="0" smtClean="0"/>
              <a:t> se o </a:t>
            </a:r>
            <a:r>
              <a:rPr lang="en-US" dirty="0" err="1" smtClean="0"/>
              <a:t>erro</a:t>
            </a:r>
            <a:r>
              <a:rPr lang="en-US" dirty="0" smtClean="0"/>
              <a:t> absolute relative       é </a:t>
            </a:r>
            <a:r>
              <a:rPr lang="en-US" dirty="0" err="1" smtClean="0"/>
              <a:t>menor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a </a:t>
            </a:r>
            <a:r>
              <a:rPr lang="en-US" dirty="0" err="1" smtClean="0"/>
              <a:t>tolerancia</a:t>
            </a:r>
            <a:r>
              <a:rPr lang="en-US" dirty="0" smtClean="0"/>
              <a:t> </a:t>
            </a:r>
            <a:r>
              <a:rPr lang="en-US" dirty="0" err="1" smtClean="0"/>
              <a:t>especificada</a:t>
            </a:r>
            <a:r>
              <a:rPr lang="en-US" dirty="0" smtClean="0"/>
              <a:t>     .</a:t>
            </a:r>
            <a:endParaRPr lang="en-US" dirty="0"/>
          </a:p>
        </p:txBody>
      </p:sp>
      <p:graphicFrame>
        <p:nvGraphicFramePr>
          <p:cNvPr id="92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938857"/>
              </p:ext>
            </p:extLst>
          </p:nvPr>
        </p:nvGraphicFramePr>
        <p:xfrm>
          <a:off x="5678606" y="2036912"/>
          <a:ext cx="5064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4" imgW="241200" imgH="253800" progId="Equation.3">
                  <p:embed/>
                </p:oleObj>
              </mc:Choice>
              <mc:Fallback>
                <p:oleObj name="Equation" r:id="rId4" imgW="241200" imgH="253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606" y="2036912"/>
                        <a:ext cx="5064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446309"/>
              </p:ext>
            </p:extLst>
          </p:nvPr>
        </p:nvGraphicFramePr>
        <p:xfrm>
          <a:off x="4068384" y="2403227"/>
          <a:ext cx="3730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384" y="2403227"/>
                        <a:ext cx="37306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6"/>
          <p:cNvGraphicFramePr>
            <a:graphicFrameLocks noChangeAspect="1"/>
          </p:cNvGraphicFramePr>
          <p:nvPr/>
        </p:nvGraphicFramePr>
        <p:xfrm>
          <a:off x="1585913" y="3630613"/>
          <a:ext cx="7413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8" imgW="495000" imgH="253800" progId="Equation.3">
                  <p:embed/>
                </p:oleObj>
              </mc:Choice>
              <mc:Fallback>
                <p:oleObj name="Equation" r:id="rId8" imgW="495000" imgH="253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3630613"/>
                        <a:ext cx="74136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231" name="Straight Arrow Connector 21"/>
          <p:cNvCxnSpPr>
            <a:cxnSpLocks noChangeShapeType="1"/>
            <a:stCxn id="9226" idx="3"/>
            <a:endCxn id="9228" idx="1"/>
          </p:cNvCxnSpPr>
          <p:nvPr/>
        </p:nvCxnSpPr>
        <p:spPr bwMode="auto">
          <a:xfrm flipV="1">
            <a:off x="4347036" y="4432301"/>
            <a:ext cx="1097295" cy="27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2" name="Rectangle 22"/>
          <p:cNvSpPr>
            <a:spLocks noChangeArrowheads="1"/>
          </p:cNvSpPr>
          <p:nvPr/>
        </p:nvSpPr>
        <p:spPr bwMode="auto">
          <a:xfrm>
            <a:off x="685800" y="4876800"/>
            <a:ext cx="8001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pt-BR" dirty="0" smtClean="0"/>
              <a:t>Observe </a:t>
            </a:r>
            <a:r>
              <a:rPr lang="pt-BR" dirty="0"/>
              <a:t>também </a:t>
            </a:r>
            <a:r>
              <a:rPr lang="pt-BR" dirty="0" smtClean="0"/>
              <a:t>que se </a:t>
            </a:r>
            <a:r>
              <a:rPr lang="pt-BR" dirty="0"/>
              <a:t>deve verificar se o número de iterações é maior do que o número máximo de iterações permitido. Nesse caso, é necessário encerrar o algoritmo e </a:t>
            </a:r>
            <a:r>
              <a:rPr lang="pt-BR" dirty="0" smtClean="0"/>
              <a:t>notifique </a:t>
            </a:r>
            <a:r>
              <a:rPr lang="pt-BR" dirty="0"/>
              <a:t>o usuário sobre </a:t>
            </a:r>
            <a:r>
              <a:rPr lang="pt-BR" dirty="0" smtClean="0"/>
              <a:t>isso.</a:t>
            </a:r>
            <a:endParaRPr lang="en-US" dirty="0"/>
          </a:p>
        </p:txBody>
      </p:sp>
      <p:cxnSp>
        <p:nvCxnSpPr>
          <p:cNvPr id="9233" name="Straight Arrow Connector 26"/>
          <p:cNvCxnSpPr>
            <a:cxnSpLocks noChangeShapeType="1"/>
            <a:stCxn id="9224" idx="3"/>
            <a:endCxn id="9225" idx="1"/>
          </p:cNvCxnSpPr>
          <p:nvPr/>
        </p:nvCxnSpPr>
        <p:spPr bwMode="auto">
          <a:xfrm flipV="1">
            <a:off x="2728913" y="3441974"/>
            <a:ext cx="1063163" cy="35135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4" name="Straight Arrow Connector 28"/>
          <p:cNvCxnSpPr>
            <a:cxnSpLocks noChangeShapeType="1"/>
            <a:stCxn id="9224" idx="3"/>
            <a:endCxn id="9226" idx="1"/>
          </p:cNvCxnSpPr>
          <p:nvPr/>
        </p:nvCxnSpPr>
        <p:spPr bwMode="auto">
          <a:xfrm>
            <a:off x="2728913" y="3793332"/>
            <a:ext cx="990600" cy="63924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5" name="Straight Arrow Connector 30"/>
          <p:cNvCxnSpPr>
            <a:cxnSpLocks noChangeShapeType="1"/>
            <a:stCxn id="9225" idx="3"/>
            <a:endCxn id="9227" idx="1"/>
          </p:cNvCxnSpPr>
          <p:nvPr/>
        </p:nvCxnSpPr>
        <p:spPr bwMode="auto">
          <a:xfrm flipV="1">
            <a:off x="4347036" y="3429561"/>
            <a:ext cx="1201277" cy="124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Examplo</a:t>
            </a:r>
            <a:r>
              <a:rPr lang="en-US" dirty="0" smtClean="0"/>
              <a:t> 1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981200"/>
            <a:ext cx="8229600" cy="1828800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 smtClean="0"/>
              <a:t>Na figura abaixo, </a:t>
            </a:r>
            <a:r>
              <a:rPr lang="pt-BR" sz="2400" dirty="0"/>
              <a:t>a</a:t>
            </a:r>
            <a:r>
              <a:rPr lang="pt-BR" sz="2400" dirty="0" smtClean="0"/>
              <a:t> </a:t>
            </a:r>
            <a:r>
              <a:rPr lang="pt-BR" sz="2400" dirty="0"/>
              <a:t>bola </a:t>
            </a:r>
            <a:r>
              <a:rPr lang="pt-BR" sz="2400" dirty="0" smtClean="0"/>
              <a:t>flutuante </a:t>
            </a:r>
            <a:r>
              <a:rPr lang="pt-BR" sz="2400" dirty="0"/>
              <a:t>tem gravidade específica de 0,6 e raio de 5,5 cm. </a:t>
            </a:r>
            <a:r>
              <a:rPr lang="pt-BR" sz="2400" dirty="0" smtClean="0"/>
              <a:t>Queremos encontrar </a:t>
            </a:r>
            <a:r>
              <a:rPr lang="pt-BR" sz="2400" dirty="0"/>
              <a:t>a profundidade em que a bola está submersa ao flutuar na água.</a:t>
            </a:r>
          </a:p>
          <a:p>
            <a:pPr>
              <a:lnSpc>
                <a:spcPct val="90000"/>
              </a:lnSpc>
            </a:pPr>
            <a:endParaRPr lang="en-US" sz="2400" dirty="0" smtClean="0"/>
          </a:p>
        </p:txBody>
      </p:sp>
      <p:sp>
        <p:nvSpPr>
          <p:cNvPr id="102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CFBB387-7DB7-466F-AEF6-93C883686145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0242" name="Object 5"/>
          <p:cNvGraphicFramePr>
            <a:graphicFrameLocks noChangeAspect="1"/>
          </p:cNvGraphicFramePr>
          <p:nvPr/>
        </p:nvGraphicFramePr>
        <p:xfrm>
          <a:off x="3048000" y="3810000"/>
          <a:ext cx="3124200" cy="248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Bitmap Image" r:id="rId4" imgW="3685714" imgH="2572109" progId="Paint.Picture">
                  <p:embed/>
                </p:oleObj>
              </mc:Choice>
              <mc:Fallback>
                <p:oleObj name="Bitmap Image" r:id="rId4" imgW="3685714" imgH="2572109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10000"/>
                        <a:ext cx="3124200" cy="2487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Box 7"/>
          <p:cNvSpPr txBox="1">
            <a:spLocks noChangeArrowheads="1"/>
          </p:cNvSpPr>
          <p:nvPr/>
        </p:nvSpPr>
        <p:spPr bwMode="auto">
          <a:xfrm>
            <a:off x="1752600" y="6250404"/>
            <a:ext cx="5257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 err="1" smtClean="0"/>
              <a:t>Figura</a:t>
            </a:r>
            <a:r>
              <a:rPr lang="en-US" sz="1900" b="1" dirty="0" smtClean="0"/>
              <a:t> </a:t>
            </a:r>
            <a:r>
              <a:rPr lang="en-US" sz="1900" b="1" dirty="0"/>
              <a:t>6</a:t>
            </a:r>
            <a:r>
              <a:rPr lang="en-US" sz="1900" dirty="0"/>
              <a:t> </a:t>
            </a:r>
            <a:r>
              <a:rPr lang="pt-BR" sz="2000" dirty="0"/>
              <a:t>Diagrama da bola flutuante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981200"/>
            <a:ext cx="82296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 smtClean="0"/>
              <a:t>A </a:t>
            </a:r>
            <a:r>
              <a:rPr lang="pt-BR" sz="2400" dirty="0"/>
              <a:t>equação que dá a profundidade </a:t>
            </a:r>
            <a:r>
              <a:rPr lang="pt-BR" sz="2400" i="1" dirty="0"/>
              <a:t>x</a:t>
            </a:r>
            <a:r>
              <a:rPr lang="pt-BR" sz="2400" dirty="0"/>
              <a:t> à qual a bola está submersa na água é dada por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 smtClean="0"/>
              <a:t>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pt-BR" sz="2400" dirty="0"/>
              <a:t>a) Use o método da bissecção para encontrar as raízes das equações para encontrar a profundidade </a:t>
            </a:r>
            <a:r>
              <a:rPr lang="pt-BR" sz="2400" i="1" dirty="0"/>
              <a:t>x</a:t>
            </a:r>
            <a:r>
              <a:rPr lang="pt-BR" sz="2400" dirty="0"/>
              <a:t> </a:t>
            </a:r>
            <a:r>
              <a:rPr lang="pt-BR" sz="2400" dirty="0" smtClean="0"/>
              <a:t>a </a:t>
            </a:r>
            <a:r>
              <a:rPr lang="pt-BR" sz="2400" dirty="0"/>
              <a:t>qual a bola está </a:t>
            </a:r>
            <a:r>
              <a:rPr lang="pt-BR" sz="2400" dirty="0" smtClean="0"/>
              <a:t>submersa.</a:t>
            </a:r>
            <a:r>
              <a:rPr lang="pt-BR" sz="2400" dirty="0"/>
              <a:t> Faça três iterações para estimar a raiz da equação acima.</a:t>
            </a:r>
          </a:p>
          <a:p>
            <a:pPr marL="0" indent="0">
              <a:buNone/>
            </a:pPr>
            <a:r>
              <a:rPr lang="pt-BR" sz="2400" dirty="0"/>
              <a:t>b) Encontre o erro absoluto relativo </a:t>
            </a:r>
            <a:r>
              <a:rPr lang="pt-BR" sz="2400" dirty="0" smtClean="0"/>
              <a:t>no </a:t>
            </a:r>
            <a:r>
              <a:rPr lang="pt-BR" sz="2400" dirty="0"/>
              <a:t>final de cada </a:t>
            </a:r>
            <a:r>
              <a:rPr lang="pt-BR" sz="2400" dirty="0" smtClean="0"/>
              <a:t>iteração.</a:t>
            </a:r>
            <a:endParaRPr lang="pt-BR" sz="2400" dirty="0"/>
          </a:p>
        </p:txBody>
      </p:sp>
      <p:sp>
        <p:nvSpPr>
          <p:cNvPr id="1126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A475A57-1884-4445-B5CC-D8498E10245D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1266" name="Object 3"/>
          <p:cNvGraphicFramePr>
            <a:graphicFrameLocks noChangeAspect="1"/>
          </p:cNvGraphicFramePr>
          <p:nvPr/>
        </p:nvGraphicFramePr>
        <p:xfrm>
          <a:off x="2743200" y="2895600"/>
          <a:ext cx="3524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4" imgW="1879560" imgH="203040" progId="Equation.3">
                  <p:embed/>
                </p:oleObj>
              </mc:Choice>
              <mc:Fallback>
                <p:oleObj name="Equation" r:id="rId4" imgW="187956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95600"/>
                        <a:ext cx="35242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22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981200"/>
            <a:ext cx="8305800" cy="1752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Pela física do problema, a bola estaria submersa entre </a:t>
            </a:r>
            <a:r>
              <a:rPr lang="pt-BR" sz="2400" i="1" dirty="0"/>
              <a:t>x</a:t>
            </a:r>
            <a:r>
              <a:rPr lang="pt-BR" sz="2400" dirty="0"/>
              <a:t> = 0 e </a:t>
            </a:r>
            <a:r>
              <a:rPr lang="pt-BR" sz="2400" i="1" dirty="0"/>
              <a:t>x</a:t>
            </a:r>
            <a:r>
              <a:rPr lang="pt-BR" sz="2400" dirty="0"/>
              <a:t> = </a:t>
            </a:r>
            <a:r>
              <a:rPr lang="pt-BR" sz="2400" dirty="0" smtClean="0"/>
              <a:t>2</a:t>
            </a:r>
            <a:r>
              <a:rPr lang="pt-BR" sz="2400" i="1" dirty="0" smtClean="0"/>
              <a:t>R</a:t>
            </a:r>
            <a:r>
              <a:rPr lang="pt-BR" sz="2400" dirty="0" smtClean="0"/>
              <a:t>,</a:t>
            </a:r>
            <a:endParaRPr lang="pt-BR" sz="2400" dirty="0"/>
          </a:p>
          <a:p>
            <a:r>
              <a:rPr lang="pt-BR" sz="2400" dirty="0"/>
              <a:t>onde </a:t>
            </a:r>
            <a:r>
              <a:rPr lang="pt-BR" sz="2400" i="1" dirty="0"/>
              <a:t>R</a:t>
            </a:r>
            <a:r>
              <a:rPr lang="pt-BR" sz="2400" dirty="0"/>
              <a:t> = raio da bola,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	</a:t>
            </a:r>
            <a:r>
              <a:rPr lang="en-US" sz="2400" dirty="0" err="1" smtClean="0">
                <a:cs typeface="Times New Roman" panose="02020603050405020304" pitchFamily="18" charset="0"/>
              </a:rPr>
              <a:t>tal</a:t>
            </a:r>
            <a:r>
              <a:rPr lang="en-US" sz="2400" dirty="0" smtClean="0"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cs typeface="Times New Roman" panose="02020603050405020304" pitchFamily="18" charset="0"/>
              </a:rPr>
              <a:t>que</a:t>
            </a:r>
            <a:endParaRPr lang="en-US" sz="2400" i="1" dirty="0" smtClean="0"/>
          </a:p>
        </p:txBody>
      </p:sp>
      <p:sp>
        <p:nvSpPr>
          <p:cNvPr id="1229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DBD5AD0-B8FE-4FC3-B842-A92FA4BE331F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12296" name="Rectangle 5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2290" name="Object 8"/>
          <p:cNvGraphicFramePr>
            <a:graphicFrameLocks noChangeAspect="1"/>
          </p:cNvGraphicFramePr>
          <p:nvPr/>
        </p:nvGraphicFramePr>
        <p:xfrm>
          <a:off x="1676400" y="3810000"/>
          <a:ext cx="198120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Equation" r:id="rId4" imgW="1002960" imgH="634680" progId="Equation.3">
                  <p:embed/>
                </p:oleObj>
              </mc:Choice>
              <mc:Fallback>
                <p:oleObj name="Equation" r:id="rId4" imgW="1002960" imgH="634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10000"/>
                        <a:ext cx="198120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9"/>
          <p:cNvGraphicFramePr>
            <a:graphicFrameLocks noChangeAspect="1"/>
          </p:cNvGraphicFramePr>
          <p:nvPr/>
        </p:nvGraphicFramePr>
        <p:xfrm>
          <a:off x="3962400" y="3429000"/>
          <a:ext cx="3124200" cy="248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Bitmap Image" r:id="rId6" imgW="3685714" imgH="2572109" progId="Paint.Picture">
                  <p:embed/>
                </p:oleObj>
              </mc:Choice>
              <mc:Fallback>
                <p:oleObj name="Bitmap Image" r:id="rId6" imgW="3685714" imgH="2572109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429000"/>
                        <a:ext cx="3124200" cy="2487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Box 12"/>
          <p:cNvSpPr txBox="1">
            <a:spLocks noChangeArrowheads="1"/>
          </p:cNvSpPr>
          <p:nvPr/>
        </p:nvSpPr>
        <p:spPr bwMode="auto">
          <a:xfrm>
            <a:off x="2895600" y="5867400"/>
            <a:ext cx="5257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/>
              <a:t>Figure 6</a:t>
            </a:r>
            <a:r>
              <a:rPr lang="en-US" sz="1900" dirty="0"/>
              <a:t> Diagram of the floating ball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TextBox 11"/>
          <p:cNvSpPr txBox="1">
            <a:spLocks noChangeArrowheads="1"/>
          </p:cNvSpPr>
          <p:nvPr/>
        </p:nvSpPr>
        <p:spPr bwMode="auto">
          <a:xfrm>
            <a:off x="266700" y="2514600"/>
            <a:ext cx="4114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dirty="0"/>
              <a:t>Para ajudar na compreensão de como este método funciona para encontrar a raiz de uma equação, o gráfico de f (x) é mostrado à </a:t>
            </a:r>
            <a:r>
              <a:rPr lang="pt-BR" dirty="0" smtClean="0"/>
              <a:t>direita, Onde:</a:t>
            </a:r>
            <a:endParaRPr lang="pt-BR" dirty="0"/>
          </a:p>
        </p:txBody>
      </p:sp>
      <p:sp>
        <p:nvSpPr>
          <p:cNvPr id="1332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0250" y="668560"/>
            <a:ext cx="6589199" cy="1280890"/>
          </a:xfrm>
        </p:spPr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pic>
        <p:nvPicPr>
          <p:cNvPr id="13321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133600"/>
            <a:ext cx="3778250" cy="3778250"/>
          </a:xfrm>
          <a:noFill/>
        </p:spPr>
      </p:pic>
      <p:sp>
        <p:nvSpPr>
          <p:cNvPr id="133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06D5290-5A4E-4E76-94F9-901796F94D13}" type="slidenum">
              <a:rPr lang="en-US" sz="1400"/>
              <a:pPr eaLnBrk="1" hangingPunct="1"/>
              <a:t>15</a:t>
            </a:fld>
            <a:endParaRPr lang="en-US" sz="1400"/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228600" y="4953000"/>
          <a:ext cx="41910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Equation" r:id="rId5" imgW="2006280" imgH="228600" progId="Equation.3">
                  <p:embed/>
                </p:oleObj>
              </mc:Choice>
              <mc:Fallback>
                <p:oleObj name="Equation" r:id="rId5" imgW="20062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953000"/>
                        <a:ext cx="41910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Equation" r:id="rId7" imgW="114120" imgH="215640" progId="Equation.3">
                  <p:embed/>
                </p:oleObj>
              </mc:Choice>
              <mc:Fallback>
                <p:oleObj name="Equation" r:id="rId7" imgW="1141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Box 8"/>
          <p:cNvSpPr txBox="1">
            <a:spLocks noChangeArrowheads="1"/>
          </p:cNvSpPr>
          <p:nvPr/>
        </p:nvSpPr>
        <p:spPr bwMode="auto">
          <a:xfrm>
            <a:off x="4343400" y="6096000"/>
            <a:ext cx="4800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/>
              <a:t>Figure 7 </a:t>
            </a:r>
            <a:r>
              <a:rPr lang="en-US" sz="1900" dirty="0" err="1" smtClean="0"/>
              <a:t>grafico</a:t>
            </a:r>
            <a:r>
              <a:rPr lang="en-US" sz="1900" dirty="0" smtClean="0"/>
              <a:t> da </a:t>
            </a:r>
            <a:r>
              <a:rPr lang="en-US" sz="1900" dirty="0" err="1" smtClean="0"/>
              <a:t>função</a:t>
            </a:r>
            <a:r>
              <a:rPr lang="en-US" sz="1900" dirty="0" smtClean="0"/>
              <a:t> f(x</a:t>
            </a:r>
            <a:r>
              <a:rPr lang="en-US" sz="1900" dirty="0"/>
              <a:t>) </a:t>
            </a:r>
          </a:p>
        </p:txBody>
      </p:sp>
      <p:sp>
        <p:nvSpPr>
          <p:cNvPr id="13323" name="TextBox 12"/>
          <p:cNvSpPr txBox="1">
            <a:spLocks noChangeArrowheads="1"/>
          </p:cNvSpPr>
          <p:nvPr/>
        </p:nvSpPr>
        <p:spPr bwMode="auto">
          <a:xfrm>
            <a:off x="381000" y="1981200"/>
            <a:ext cx="2514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 err="1" smtClean="0"/>
              <a:t>Solução</a:t>
            </a:r>
            <a:endParaRPr lang="en-US" sz="19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256" y="633226"/>
            <a:ext cx="6589200" cy="1280890"/>
          </a:xfrm>
        </p:spPr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43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F9BEFCB-9C9E-4FE4-8940-2B5960C0AE69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14344" name="Text Box 5"/>
          <p:cNvSpPr txBox="1">
            <a:spLocks noChangeArrowheads="1"/>
          </p:cNvSpPr>
          <p:nvPr/>
        </p:nvSpPr>
        <p:spPr bwMode="auto">
          <a:xfrm>
            <a:off x="914400" y="2133600"/>
            <a:ext cx="2244589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1900" dirty="0" err="1" smtClean="0"/>
              <a:t>Vamos</a:t>
            </a:r>
            <a:r>
              <a:rPr lang="en-US" sz="1900" dirty="0" smtClean="0"/>
              <a:t> </a:t>
            </a:r>
            <a:r>
              <a:rPr lang="en-US" sz="1900" dirty="0" err="1" smtClean="0"/>
              <a:t>estimar</a:t>
            </a:r>
            <a:r>
              <a:rPr lang="en-US" sz="1900" dirty="0" smtClean="0"/>
              <a:t> </a:t>
            </a:r>
            <a:r>
              <a:rPr lang="en-US" sz="1900" dirty="0" err="1" smtClean="0"/>
              <a:t>que</a:t>
            </a:r>
            <a:endParaRPr lang="en-US" sz="1900" dirty="0"/>
          </a:p>
        </p:txBody>
      </p:sp>
      <p:sp>
        <p:nvSpPr>
          <p:cNvPr id="14345" name="Text Box 7"/>
          <p:cNvSpPr txBox="1">
            <a:spLocks noChangeArrowheads="1"/>
          </p:cNvSpPr>
          <p:nvPr/>
        </p:nvSpPr>
        <p:spPr bwMode="auto">
          <a:xfrm>
            <a:off x="6308725" y="2852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4338" name="Object 8"/>
          <p:cNvGraphicFramePr>
            <a:graphicFrameLocks noChangeAspect="1"/>
          </p:cNvGraphicFramePr>
          <p:nvPr/>
        </p:nvGraphicFramePr>
        <p:xfrm>
          <a:off x="1447800" y="2590800"/>
          <a:ext cx="12192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Equation" r:id="rId4" imgW="596880" imgH="457200" progId="Equation.3">
                  <p:embed/>
                </p:oleObj>
              </mc:Choice>
              <mc:Fallback>
                <p:oleObj name="Equation" r:id="rId4" imgW="59688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90800"/>
                        <a:ext cx="12192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Text Box 5"/>
          <p:cNvSpPr txBox="1">
            <a:spLocks noChangeArrowheads="1"/>
          </p:cNvSpPr>
          <p:nvPr/>
        </p:nvSpPr>
        <p:spPr bwMode="auto">
          <a:xfrm>
            <a:off x="838200" y="3505200"/>
            <a:ext cx="6096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pt-BR" sz="2000" dirty="0"/>
              <a:t>Verifique se a função muda de sinal entre </a:t>
            </a:r>
            <a:r>
              <a:rPr lang="pt-BR" sz="2000" dirty="0" err="1" smtClean="0"/>
              <a:t>xl</a:t>
            </a:r>
            <a:r>
              <a:rPr lang="pt-BR" sz="2000" dirty="0" smtClean="0"/>
              <a:t> e </a:t>
            </a:r>
            <a:r>
              <a:rPr lang="pt-BR" sz="2000" dirty="0" err="1"/>
              <a:t>xu</a:t>
            </a:r>
            <a:r>
              <a:rPr lang="pt-BR" sz="2000" dirty="0" smtClean="0"/>
              <a:t>.</a:t>
            </a:r>
            <a:r>
              <a:rPr lang="en-US" sz="1900" baseline="-30000" dirty="0" smtClean="0"/>
              <a:t>.</a:t>
            </a:r>
            <a:endParaRPr lang="en-US" sz="1900" dirty="0"/>
          </a:p>
        </p:txBody>
      </p:sp>
      <p:graphicFrame>
        <p:nvGraphicFramePr>
          <p:cNvPr id="14339" name="Object 11"/>
          <p:cNvGraphicFramePr>
            <a:graphicFrameLocks noChangeAspect="1"/>
          </p:cNvGraphicFramePr>
          <p:nvPr/>
        </p:nvGraphicFramePr>
        <p:xfrm>
          <a:off x="1371600" y="4038600"/>
          <a:ext cx="738822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Equation" r:id="rId6" imgW="4216320" imgH="507960" progId="Equation.3">
                  <p:embed/>
                </p:oleObj>
              </mc:Choice>
              <mc:Fallback>
                <p:oleObj name="Equation" r:id="rId6" imgW="4216320" imgH="5079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038600"/>
                        <a:ext cx="7388225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Text Box 5"/>
          <p:cNvSpPr txBox="1">
            <a:spLocks noChangeArrowheads="1"/>
          </p:cNvSpPr>
          <p:nvPr/>
        </p:nvSpPr>
        <p:spPr bwMode="auto">
          <a:xfrm>
            <a:off x="914400" y="4953000"/>
            <a:ext cx="6096000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pt-BR" sz="2000" dirty="0" err="1"/>
              <a:t>Conseqüentemente</a:t>
            </a:r>
            <a:endParaRPr lang="pt-BR" sz="2000" dirty="0"/>
          </a:p>
          <a:p>
            <a:pPr algn="l" eaLnBrk="1" hangingPunct="1"/>
            <a:endParaRPr lang="en-US" sz="1900" dirty="0"/>
          </a:p>
        </p:txBody>
      </p:sp>
      <p:graphicFrame>
        <p:nvGraphicFramePr>
          <p:cNvPr id="14340" name="Object 12"/>
          <p:cNvGraphicFramePr>
            <a:graphicFrameLocks noChangeAspect="1"/>
          </p:cNvGraphicFramePr>
          <p:nvPr/>
        </p:nvGraphicFramePr>
        <p:xfrm>
          <a:off x="1371600" y="5334000"/>
          <a:ext cx="63865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Equation" r:id="rId8" imgW="3644640" imgH="241200" progId="Equation.3">
                  <p:embed/>
                </p:oleObj>
              </mc:Choice>
              <mc:Fallback>
                <p:oleObj name="Equation" r:id="rId8" imgW="364464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34000"/>
                        <a:ext cx="638651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Text Box 5"/>
          <p:cNvSpPr txBox="1">
            <a:spLocks noChangeArrowheads="1"/>
          </p:cNvSpPr>
          <p:nvPr/>
        </p:nvSpPr>
        <p:spPr bwMode="auto">
          <a:xfrm>
            <a:off x="533399" y="5943600"/>
            <a:ext cx="84105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sz="2000" dirty="0"/>
              <a:t>Portanto, há pelo menos </a:t>
            </a:r>
            <a:r>
              <a:rPr lang="pt-BR" sz="2000" dirty="0" smtClean="0"/>
              <a:t>uma </a:t>
            </a:r>
            <a:r>
              <a:rPr lang="pt-BR" sz="2000" dirty="0"/>
              <a:t>raiz entre </a:t>
            </a:r>
            <a:r>
              <a:rPr lang="pt-BR" sz="2000" dirty="0" err="1" smtClean="0"/>
              <a:t>xl</a:t>
            </a:r>
            <a:r>
              <a:rPr lang="pt-BR" sz="2000" dirty="0" smtClean="0"/>
              <a:t> e </a:t>
            </a:r>
            <a:r>
              <a:rPr lang="pt-BR" sz="2000" dirty="0" err="1"/>
              <a:t>xu</a:t>
            </a:r>
            <a:r>
              <a:rPr lang="pt-BR" sz="2000" dirty="0"/>
              <a:t>, que está entre 0 e 0,11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542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3E8C046-F45E-475C-BF4E-21635025A300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54277" name="Text Box 7"/>
          <p:cNvSpPr txBox="1">
            <a:spLocks noChangeArrowheads="1"/>
          </p:cNvSpPr>
          <p:nvPr/>
        </p:nvSpPr>
        <p:spPr bwMode="auto">
          <a:xfrm>
            <a:off x="6308725" y="2852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pic>
        <p:nvPicPr>
          <p:cNvPr id="5427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05000"/>
            <a:ext cx="4572000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536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3387B88-6540-4856-BABF-ED25D78FFC83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7239000" y="205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5362" name="Object 11"/>
          <p:cNvGraphicFramePr>
            <a:graphicFrameLocks noChangeAspect="1"/>
          </p:cNvGraphicFramePr>
          <p:nvPr/>
        </p:nvGraphicFramePr>
        <p:xfrm>
          <a:off x="3962400" y="2057400"/>
          <a:ext cx="3835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4" imgW="1917360" imgH="393480" progId="Equation.3">
                  <p:embed/>
                </p:oleObj>
              </mc:Choice>
              <mc:Fallback>
                <p:oleObj name="Equation" r:id="rId4" imgW="191736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057400"/>
                        <a:ext cx="3835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2"/>
          <p:cNvGraphicFramePr>
            <a:graphicFrameLocks noChangeAspect="1"/>
          </p:cNvGraphicFramePr>
          <p:nvPr/>
        </p:nvGraphicFramePr>
        <p:xfrm>
          <a:off x="533400" y="3048000"/>
          <a:ext cx="84010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6" imgW="4394160" imgH="507960" progId="Equation.3">
                  <p:embed/>
                </p:oleObj>
              </mc:Choice>
              <mc:Fallback>
                <p:oleObj name="Equation" r:id="rId6" imgW="4394160" imgH="5079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840105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Box 11"/>
          <p:cNvSpPr txBox="1">
            <a:spLocks noChangeArrowheads="1"/>
          </p:cNvSpPr>
          <p:nvPr/>
        </p:nvSpPr>
        <p:spPr bwMode="auto">
          <a:xfrm>
            <a:off x="838200" y="1981200"/>
            <a:ext cx="3810000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sz="1900" u="sng" dirty="0" err="1" smtClean="0"/>
              <a:t>Iteração</a:t>
            </a:r>
            <a:r>
              <a:rPr lang="en-US" sz="1900" u="sng" dirty="0" smtClean="0"/>
              <a:t> 1</a:t>
            </a:r>
          </a:p>
          <a:p>
            <a:pPr algn="l" eaLnBrk="1" hangingPunct="1"/>
            <a:r>
              <a:rPr lang="pt-BR" sz="2000" dirty="0" smtClean="0"/>
              <a:t>A </a:t>
            </a:r>
            <a:r>
              <a:rPr lang="pt-BR" sz="2000" dirty="0"/>
              <a:t>estimativa da raiz é</a:t>
            </a:r>
          </a:p>
        </p:txBody>
      </p:sp>
      <p:sp>
        <p:nvSpPr>
          <p:cNvPr id="15372" name="TextBox 12"/>
          <p:cNvSpPr txBox="1">
            <a:spLocks noChangeArrowheads="1"/>
          </p:cNvSpPr>
          <p:nvPr/>
        </p:nvSpPr>
        <p:spPr bwMode="auto">
          <a:xfrm>
            <a:off x="533400" y="4267200"/>
            <a:ext cx="81534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Portanto, a raiz está entre </a:t>
            </a:r>
            <a:r>
              <a:rPr lang="pt-BR" sz="2000" dirty="0" err="1"/>
              <a:t>xm</a:t>
            </a:r>
            <a:r>
              <a:rPr lang="pt-BR" sz="2000" dirty="0"/>
              <a:t> e </a:t>
            </a:r>
            <a:r>
              <a:rPr lang="pt-BR" sz="2000" dirty="0" err="1"/>
              <a:t>xu</a:t>
            </a:r>
            <a:r>
              <a:rPr lang="pt-BR" sz="2000" dirty="0"/>
              <a:t>, ou seja, entre 0,055 e 0,11. </a:t>
            </a:r>
            <a:r>
              <a:rPr lang="pt-BR" sz="2000" dirty="0" smtClean="0"/>
              <a:t>Logo, </a:t>
            </a:r>
            <a:r>
              <a:rPr lang="pt-BR" sz="2000" dirty="0"/>
              <a:t>os limites inferior e superior do novo suporte são</a:t>
            </a:r>
          </a:p>
          <a:p>
            <a:endParaRPr lang="en-US" sz="1900" dirty="0" smtClean="0"/>
          </a:p>
          <a:p>
            <a:endParaRPr lang="en-US" sz="1900" dirty="0"/>
          </a:p>
          <a:p>
            <a:pPr algn="l"/>
            <a:r>
              <a:rPr lang="pt-BR" sz="2000" dirty="0" smtClean="0"/>
              <a:t>Neste </a:t>
            </a:r>
            <a:r>
              <a:rPr lang="pt-BR" sz="2000" dirty="0"/>
              <a:t>ponto, o erro </a:t>
            </a:r>
            <a:r>
              <a:rPr lang="pt-BR" sz="2000" dirty="0" smtClean="0"/>
              <a:t>relativo </a:t>
            </a:r>
            <a:r>
              <a:rPr lang="pt-BR" sz="2000" dirty="0"/>
              <a:t>absoluto </a:t>
            </a:r>
            <a:r>
              <a:rPr lang="pt-BR" sz="2000" dirty="0" smtClean="0"/>
              <a:t>      não </a:t>
            </a:r>
            <a:r>
              <a:rPr lang="pt-BR" sz="2000" dirty="0"/>
              <a:t>pode ser calculado, pois </a:t>
            </a:r>
            <a:r>
              <a:rPr lang="pt-BR" sz="2000" dirty="0" smtClean="0"/>
              <a:t>  não </a:t>
            </a:r>
            <a:r>
              <a:rPr lang="pt-BR" sz="2000" dirty="0"/>
              <a:t>temos uma aproximação </a:t>
            </a:r>
            <a:r>
              <a:rPr lang="pt-BR" sz="2000" dirty="0" smtClean="0"/>
              <a:t>anterior.</a:t>
            </a:r>
            <a:endParaRPr lang="pt-BR" sz="2000" dirty="0"/>
          </a:p>
        </p:txBody>
      </p:sp>
      <p:graphicFrame>
        <p:nvGraphicFramePr>
          <p:cNvPr id="15364" name="Object 18"/>
          <p:cNvGraphicFramePr>
            <a:graphicFrameLocks noChangeAspect="1"/>
          </p:cNvGraphicFramePr>
          <p:nvPr/>
        </p:nvGraphicFramePr>
        <p:xfrm>
          <a:off x="1752600" y="4953000"/>
          <a:ext cx="25003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8" imgW="1307880" imgH="228600" progId="Equation.3">
                  <p:embed/>
                </p:oleObj>
              </mc:Choice>
              <mc:Fallback>
                <p:oleObj name="Equation" r:id="rId8" imgW="130788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953000"/>
                        <a:ext cx="25003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158946"/>
              </p:ext>
            </p:extLst>
          </p:nvPr>
        </p:nvGraphicFramePr>
        <p:xfrm>
          <a:off x="4817268" y="5434274"/>
          <a:ext cx="4603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tion" r:id="rId10" imgW="241200" imgH="253800" progId="Equation.3">
                  <p:embed/>
                </p:oleObj>
              </mc:Choice>
              <mc:Fallback>
                <p:oleObj name="Equation" r:id="rId10" imgW="241200" imgH="253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7268" y="5434274"/>
                        <a:ext cx="4603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5529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3DB892C-6CD6-4C55-9B97-C5BE4530A67F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55301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5302" name="Text Box 10"/>
          <p:cNvSpPr txBox="1">
            <a:spLocks noChangeArrowheads="1"/>
          </p:cNvSpPr>
          <p:nvPr/>
        </p:nvSpPr>
        <p:spPr bwMode="auto">
          <a:xfrm>
            <a:off x="7239000" y="205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5303" name="Text Box 14"/>
          <p:cNvSpPr txBox="1">
            <a:spLocks noChangeArrowheads="1"/>
          </p:cNvSpPr>
          <p:nvPr/>
        </p:nvSpPr>
        <p:spPr bwMode="auto">
          <a:xfrm>
            <a:off x="6537325" y="3995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pic>
        <p:nvPicPr>
          <p:cNvPr id="5530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05000"/>
            <a:ext cx="4953000" cy="416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5" name="TextBox 11"/>
          <p:cNvSpPr txBox="1">
            <a:spLocks noChangeArrowheads="1"/>
          </p:cNvSpPr>
          <p:nvPr/>
        </p:nvSpPr>
        <p:spPr bwMode="auto">
          <a:xfrm>
            <a:off x="1066800" y="6096000"/>
            <a:ext cx="7239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/>
              <a:t>Figure 9 </a:t>
            </a:r>
            <a:r>
              <a:rPr lang="en-US" sz="1900" dirty="0" smtClean="0"/>
              <a:t>estimative da </a:t>
            </a:r>
            <a:r>
              <a:rPr lang="en-US" sz="1900" dirty="0" err="1" smtClean="0"/>
              <a:t>raiz</a:t>
            </a:r>
            <a:r>
              <a:rPr lang="en-US" sz="1900" dirty="0" smtClean="0"/>
              <a:t> </a:t>
            </a:r>
            <a:r>
              <a:rPr lang="en-US" sz="1900" dirty="0" err="1" smtClean="0"/>
              <a:t>iteração</a:t>
            </a:r>
            <a:r>
              <a:rPr lang="en-US" sz="1900" dirty="0" smtClean="0"/>
              <a:t> 1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63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E2C9C28-4A82-4F59-9D5E-ACF16EC2EE92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16392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6393" name="Text Box 10"/>
          <p:cNvSpPr txBox="1">
            <a:spLocks noChangeArrowheads="1"/>
          </p:cNvSpPr>
          <p:nvPr/>
        </p:nvSpPr>
        <p:spPr bwMode="auto">
          <a:xfrm>
            <a:off x="7239000" y="205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886200" y="2057400"/>
          <a:ext cx="452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Equation" r:id="rId4" imgW="2260440" imgH="393480" progId="Equation.3">
                  <p:embed/>
                </p:oleObj>
              </mc:Choice>
              <mc:Fallback>
                <p:oleObj name="Equation" r:id="rId4" imgW="226044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057400"/>
                        <a:ext cx="4521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25413" y="3048000"/>
          <a:ext cx="889476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Equation" r:id="rId6" imgW="4825800" imgH="507960" progId="Equation.3">
                  <p:embed/>
                </p:oleObj>
              </mc:Choice>
              <mc:Fallback>
                <p:oleObj name="Equation" r:id="rId6" imgW="4825800" imgH="507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3048000"/>
                        <a:ext cx="8894762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TextBox 11"/>
          <p:cNvSpPr txBox="1">
            <a:spLocks noChangeArrowheads="1"/>
          </p:cNvSpPr>
          <p:nvPr/>
        </p:nvSpPr>
        <p:spPr bwMode="auto">
          <a:xfrm>
            <a:off x="838200" y="1981200"/>
            <a:ext cx="3810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u="sng" dirty="0"/>
              <a:t>Iteração 2</a:t>
            </a:r>
            <a:endParaRPr lang="pt-BR" sz="2000" dirty="0"/>
          </a:p>
          <a:p>
            <a:pPr algn="l"/>
            <a:r>
              <a:rPr lang="pt-BR" sz="2000" dirty="0"/>
              <a:t>A estimativa da raiz é</a:t>
            </a:r>
          </a:p>
        </p:txBody>
      </p:sp>
      <p:sp>
        <p:nvSpPr>
          <p:cNvPr id="16395" name="TextBox 12"/>
          <p:cNvSpPr txBox="1">
            <a:spLocks noChangeArrowheads="1"/>
          </p:cNvSpPr>
          <p:nvPr/>
        </p:nvSpPr>
        <p:spPr bwMode="auto">
          <a:xfrm>
            <a:off x="914400" y="4267200"/>
            <a:ext cx="777240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Portanto, a raiz está entre </a:t>
            </a:r>
            <a:r>
              <a:rPr lang="pt-BR" sz="2000" dirty="0" err="1" smtClean="0"/>
              <a:t>xl</a:t>
            </a:r>
            <a:r>
              <a:rPr lang="pt-BR" sz="2000" dirty="0" smtClean="0"/>
              <a:t> e </a:t>
            </a:r>
            <a:r>
              <a:rPr lang="pt-BR" sz="2000" dirty="0" err="1"/>
              <a:t>xm</a:t>
            </a:r>
            <a:r>
              <a:rPr lang="pt-BR" sz="2000" dirty="0"/>
              <a:t>, ou seja, entre 0,055 e 0,0825. Portanto, os limites inferior e superior do novo suporte são</a:t>
            </a:r>
          </a:p>
          <a:p>
            <a:pPr algn="l" eaLnBrk="1" hangingPunct="1"/>
            <a:endParaRPr lang="en-US" sz="1900" dirty="0"/>
          </a:p>
          <a:p>
            <a:pPr algn="l" eaLnBrk="1" hangingPunct="1"/>
            <a:endParaRPr lang="en-US" sz="1900" dirty="0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608138" y="4953000"/>
          <a:ext cx="27908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8" imgW="1460160" imgH="228600" progId="Equation.3">
                  <p:embed/>
                </p:oleObj>
              </mc:Choice>
              <mc:Fallback>
                <p:oleObj name="Equation" r:id="rId8" imgW="14601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4953000"/>
                        <a:ext cx="27908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563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B042E63-CF19-4805-AB3A-16E866A6AED6}" type="slidenum">
              <a:rPr lang="en-US" sz="1400"/>
              <a:pPr eaLnBrk="1" hangingPunct="1"/>
              <a:t>21</a:t>
            </a:fld>
            <a:endParaRPr lang="en-US" sz="1400"/>
          </a:p>
        </p:txBody>
      </p:sp>
      <p:sp>
        <p:nvSpPr>
          <p:cNvPr id="56325" name="Rectangle 30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6326" name="Text Box 32"/>
          <p:cNvSpPr txBox="1">
            <a:spLocks noChangeArrowheads="1"/>
          </p:cNvSpPr>
          <p:nvPr/>
        </p:nvSpPr>
        <p:spPr bwMode="auto">
          <a:xfrm>
            <a:off x="6156325" y="1938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6327" name="Text Box 34"/>
          <p:cNvSpPr txBox="1">
            <a:spLocks noChangeArrowheads="1"/>
          </p:cNvSpPr>
          <p:nvPr/>
        </p:nvSpPr>
        <p:spPr bwMode="auto">
          <a:xfrm>
            <a:off x="6613525" y="3233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pic>
        <p:nvPicPr>
          <p:cNvPr id="56328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28800"/>
            <a:ext cx="4648200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9" name="TextBox 10"/>
          <p:cNvSpPr txBox="1">
            <a:spLocks noChangeArrowheads="1"/>
          </p:cNvSpPr>
          <p:nvPr/>
        </p:nvSpPr>
        <p:spPr bwMode="auto">
          <a:xfrm>
            <a:off x="1371600" y="6096000"/>
            <a:ext cx="7239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/>
              <a:t>Figure 10 </a:t>
            </a:r>
            <a:r>
              <a:rPr lang="en-US" sz="1900" dirty="0" smtClean="0"/>
              <a:t>estimative da </a:t>
            </a:r>
            <a:r>
              <a:rPr lang="en-US" sz="1900" dirty="0" err="1" smtClean="0"/>
              <a:t>raiz</a:t>
            </a:r>
            <a:r>
              <a:rPr lang="en-US" sz="1900" dirty="0" smtClean="0"/>
              <a:t> </a:t>
            </a:r>
            <a:r>
              <a:rPr lang="en-US" sz="1900" dirty="0" err="1" smtClean="0"/>
              <a:t>iteração</a:t>
            </a:r>
            <a:r>
              <a:rPr lang="en-US" sz="1900" dirty="0" smtClean="0"/>
              <a:t> 2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22D318A-629C-4A9C-8D72-4159080541C1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17415" name="Rectangle 30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7416" name="Text Box 32"/>
          <p:cNvSpPr txBox="1">
            <a:spLocks noChangeArrowheads="1"/>
          </p:cNvSpPr>
          <p:nvPr/>
        </p:nvSpPr>
        <p:spPr bwMode="auto">
          <a:xfrm>
            <a:off x="6156325" y="1938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7417" name="Text Box 34"/>
          <p:cNvSpPr txBox="1">
            <a:spLocks noChangeArrowheads="1"/>
          </p:cNvSpPr>
          <p:nvPr/>
        </p:nvSpPr>
        <p:spPr bwMode="auto">
          <a:xfrm>
            <a:off x="6613525" y="3233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7418" name="TextBox 10"/>
          <p:cNvSpPr txBox="1">
            <a:spLocks noChangeArrowheads="1"/>
          </p:cNvSpPr>
          <p:nvPr/>
        </p:nvSpPr>
        <p:spPr bwMode="auto">
          <a:xfrm>
            <a:off x="678402" y="1945805"/>
            <a:ext cx="8153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O erro absoluto relativo </a:t>
            </a:r>
            <a:r>
              <a:rPr lang="pt-BR" sz="2000" dirty="0" smtClean="0"/>
              <a:t>     no </a:t>
            </a:r>
            <a:r>
              <a:rPr lang="pt-BR" sz="2000" dirty="0"/>
              <a:t>final da Iteração 2 é</a:t>
            </a: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861274"/>
              </p:ext>
            </p:extLst>
          </p:nvPr>
        </p:nvGraphicFramePr>
        <p:xfrm>
          <a:off x="3436398" y="1905353"/>
          <a:ext cx="457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4" imgW="241200" imgH="253800" progId="Equation.3">
                  <p:embed/>
                </p:oleObj>
              </mc:Choice>
              <mc:Fallback>
                <p:oleObj name="Equation" r:id="rId4" imgW="24120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398" y="1905353"/>
                        <a:ext cx="457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460500" y="2600325"/>
          <a:ext cx="3178175" cy="214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6" imgW="1676160" imgH="1130040" progId="Equation.3">
                  <p:embed/>
                </p:oleObj>
              </mc:Choice>
              <mc:Fallback>
                <p:oleObj name="Equation" r:id="rId6" imgW="1676160" imgH="1130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2600325"/>
                        <a:ext cx="3178175" cy="214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84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CAEB750-C5FE-4067-AB1D-578D06CDE22E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18440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7239000" y="205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3810000" y="2057400"/>
          <a:ext cx="5003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Equation" r:id="rId4" imgW="2501640" imgH="393480" progId="Equation.3">
                  <p:embed/>
                </p:oleObj>
              </mc:Choice>
              <mc:Fallback>
                <p:oleObj name="Equation" r:id="rId4" imgW="250164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057400"/>
                        <a:ext cx="5003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28600" y="3048000"/>
          <a:ext cx="86868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6" imgW="4927320" imgH="507960" progId="Equation.3">
                  <p:embed/>
                </p:oleObj>
              </mc:Choice>
              <mc:Fallback>
                <p:oleObj name="Equation" r:id="rId6" imgW="4927320" imgH="507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48000"/>
                        <a:ext cx="868680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TextBox 11"/>
          <p:cNvSpPr txBox="1">
            <a:spLocks noChangeArrowheads="1"/>
          </p:cNvSpPr>
          <p:nvPr/>
        </p:nvSpPr>
        <p:spPr bwMode="auto">
          <a:xfrm>
            <a:off x="838200" y="1981200"/>
            <a:ext cx="3810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u="sng" dirty="0"/>
              <a:t>Iteração 3</a:t>
            </a:r>
            <a:endParaRPr lang="pt-BR" sz="2000" dirty="0"/>
          </a:p>
          <a:p>
            <a:pPr algn="l"/>
            <a:r>
              <a:rPr lang="pt-BR" sz="2000" dirty="0"/>
              <a:t>A estimativa da raiz é</a:t>
            </a:r>
          </a:p>
        </p:txBody>
      </p:sp>
      <p:sp>
        <p:nvSpPr>
          <p:cNvPr id="18443" name="TextBox 12"/>
          <p:cNvSpPr txBox="1">
            <a:spLocks noChangeArrowheads="1"/>
          </p:cNvSpPr>
          <p:nvPr/>
        </p:nvSpPr>
        <p:spPr bwMode="auto">
          <a:xfrm>
            <a:off x="511228" y="4457059"/>
            <a:ext cx="77724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Portanto, a raiz é colocada entre </a:t>
            </a:r>
            <a:r>
              <a:rPr lang="pt-BR" sz="2000" dirty="0" err="1" smtClean="0"/>
              <a:t>xl</a:t>
            </a:r>
            <a:r>
              <a:rPr lang="pt-BR" sz="2000" dirty="0" smtClean="0"/>
              <a:t> e </a:t>
            </a:r>
            <a:r>
              <a:rPr lang="pt-BR" sz="2000" dirty="0" err="1"/>
              <a:t>xm</a:t>
            </a:r>
            <a:r>
              <a:rPr lang="pt-BR" sz="2000" dirty="0"/>
              <a:t>, ou seja, entre 0,055 e 0,06875. Portanto, os limites inferior e superior do novo suporte são</a:t>
            </a:r>
          </a:p>
          <a:p>
            <a:pPr algn="l" eaLnBrk="1" hangingPunct="1"/>
            <a:endParaRPr lang="en-US" sz="1900" dirty="0"/>
          </a:p>
          <a:p>
            <a:pPr algn="l" eaLnBrk="1" hangingPunct="1"/>
            <a:endParaRPr lang="en-US" sz="1900" dirty="0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491130"/>
              </p:ext>
            </p:extLst>
          </p:nvPr>
        </p:nvGraphicFramePr>
        <p:xfrm>
          <a:off x="2667000" y="5854446"/>
          <a:ext cx="2936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name="Equation" r:id="rId8" imgW="1536480" imgH="228600" progId="Equation.3">
                  <p:embed/>
                </p:oleObj>
              </mc:Choice>
              <mc:Fallback>
                <p:oleObj name="Equation" r:id="rId8" imgW="15364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854446"/>
                        <a:ext cx="29368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573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B6470F6-5282-42BD-947F-929F2F35E390}" type="slidenum">
              <a:rPr lang="en-US" sz="1400"/>
              <a:pPr eaLnBrk="1" hangingPunct="1"/>
              <a:t>24</a:t>
            </a:fld>
            <a:endParaRPr lang="en-US" sz="1400"/>
          </a:p>
        </p:txBody>
      </p:sp>
      <p:sp>
        <p:nvSpPr>
          <p:cNvPr id="57349" name="Rectangle 6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7350" name="Text Box 8"/>
          <p:cNvSpPr txBox="1">
            <a:spLocks noChangeArrowheads="1"/>
          </p:cNvSpPr>
          <p:nvPr/>
        </p:nvSpPr>
        <p:spPr bwMode="auto">
          <a:xfrm>
            <a:off x="6156325" y="20145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57351" name="Text Box 10"/>
          <p:cNvSpPr txBox="1">
            <a:spLocks noChangeArrowheads="1"/>
          </p:cNvSpPr>
          <p:nvPr/>
        </p:nvSpPr>
        <p:spPr bwMode="auto">
          <a:xfrm>
            <a:off x="6689725" y="3081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pic>
        <p:nvPicPr>
          <p:cNvPr id="5735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828800"/>
            <a:ext cx="434340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3" name="TextBox 10"/>
          <p:cNvSpPr txBox="1">
            <a:spLocks noChangeArrowheads="1"/>
          </p:cNvSpPr>
          <p:nvPr/>
        </p:nvSpPr>
        <p:spPr bwMode="auto">
          <a:xfrm>
            <a:off x="1066800" y="6096000"/>
            <a:ext cx="7239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1900" b="1" dirty="0"/>
              <a:t>Figure 11 </a:t>
            </a:r>
            <a:r>
              <a:rPr lang="en-US" sz="1900" dirty="0" smtClean="0"/>
              <a:t>estimative da </a:t>
            </a:r>
            <a:r>
              <a:rPr lang="en-US" sz="1900" dirty="0" err="1" smtClean="0"/>
              <a:t>raiz</a:t>
            </a:r>
            <a:r>
              <a:rPr lang="en-US" sz="1900" dirty="0" smtClean="0"/>
              <a:t> </a:t>
            </a:r>
            <a:r>
              <a:rPr lang="en-US" sz="1900" dirty="0" err="1" smtClean="0"/>
              <a:t>iteração</a:t>
            </a:r>
            <a:r>
              <a:rPr lang="en-US" sz="1900" dirty="0" smtClean="0"/>
              <a:t> 3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2489136-6B49-4951-98CE-BA37A26E57ED}" type="slidenum">
              <a:rPr lang="en-US" sz="1400"/>
              <a:pPr eaLnBrk="1" hangingPunct="1"/>
              <a:t>25</a:t>
            </a:fld>
            <a:endParaRPr lang="en-US" sz="1400"/>
          </a:p>
        </p:txBody>
      </p:sp>
      <p:sp>
        <p:nvSpPr>
          <p:cNvPr id="19463" name="Rectangle 30"/>
          <p:cNvSpPr>
            <a:spLocks noChangeArrowheads="1"/>
          </p:cNvSpPr>
          <p:nvPr/>
        </p:nvSpPr>
        <p:spPr bwMode="auto">
          <a:xfrm>
            <a:off x="333375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9464" name="Text Box 32"/>
          <p:cNvSpPr txBox="1">
            <a:spLocks noChangeArrowheads="1"/>
          </p:cNvSpPr>
          <p:nvPr/>
        </p:nvSpPr>
        <p:spPr bwMode="auto">
          <a:xfrm>
            <a:off x="6156325" y="1938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9465" name="Text Box 34"/>
          <p:cNvSpPr txBox="1">
            <a:spLocks noChangeArrowheads="1"/>
          </p:cNvSpPr>
          <p:nvPr/>
        </p:nvSpPr>
        <p:spPr bwMode="auto">
          <a:xfrm>
            <a:off x="6613525" y="32337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9466" name="TextBox 10"/>
          <p:cNvSpPr txBox="1">
            <a:spLocks noChangeArrowheads="1"/>
          </p:cNvSpPr>
          <p:nvPr/>
        </p:nvSpPr>
        <p:spPr bwMode="auto">
          <a:xfrm>
            <a:off x="762000" y="2057400"/>
            <a:ext cx="8153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/>
              <a:t>O erro absoluto relativo </a:t>
            </a:r>
            <a:r>
              <a:rPr lang="pt-BR" sz="2000" dirty="0" smtClean="0"/>
              <a:t>      no </a:t>
            </a:r>
            <a:r>
              <a:rPr lang="pt-BR" sz="2000" dirty="0"/>
              <a:t>final da Iteração 3 é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923289"/>
              </p:ext>
            </p:extLst>
          </p:nvPr>
        </p:nvGraphicFramePr>
        <p:xfrm>
          <a:off x="3581400" y="2047904"/>
          <a:ext cx="457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Equation" r:id="rId4" imgW="241200" imgH="253800" progId="Equation.3">
                  <p:embed/>
                </p:oleObj>
              </mc:Choice>
              <mc:Fallback>
                <p:oleObj name="Equation" r:id="rId4" imgW="24120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47904"/>
                        <a:ext cx="457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316038" y="2600325"/>
          <a:ext cx="3467100" cy="214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Equation" r:id="rId6" imgW="1828800" imgH="1130040" progId="Equation.3">
                  <p:embed/>
                </p:oleObj>
              </mc:Choice>
              <mc:Fallback>
                <p:oleObj name="Equation" r:id="rId6" imgW="1828800" imgH="1130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2600325"/>
                        <a:ext cx="3467100" cy="214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Box 12"/>
          <p:cNvSpPr txBox="1">
            <a:spLocks noChangeArrowheads="1"/>
          </p:cNvSpPr>
          <p:nvPr/>
        </p:nvSpPr>
        <p:spPr bwMode="auto">
          <a:xfrm>
            <a:off x="762000" y="5410200"/>
            <a:ext cx="7924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2000" dirty="0" smtClean="0"/>
              <a:t>Mais </a:t>
            </a:r>
            <a:r>
              <a:rPr lang="pt-BR" sz="2000" dirty="0"/>
              <a:t>sete iterações foram realizadas e essas iterações são mostradas na Tabela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522357"/>
            <a:ext cx="7793038" cy="1143000"/>
          </a:xfrm>
        </p:spPr>
        <p:txBody>
          <a:bodyPr/>
          <a:lstStyle/>
          <a:p>
            <a:r>
              <a:rPr lang="en-US" dirty="0" err="1"/>
              <a:t>Examplo</a:t>
            </a:r>
            <a:r>
              <a:rPr lang="en-US" dirty="0"/>
              <a:t> 1</a:t>
            </a:r>
            <a:endParaRPr lang="en-US" dirty="0" smtClean="0"/>
          </a:p>
        </p:txBody>
      </p:sp>
      <p:graphicFrame>
        <p:nvGraphicFramePr>
          <p:cNvPr id="20482" name="Object 49"/>
          <p:cNvGraphicFramePr>
            <a:graphicFrameLocks noGrp="1" noChangeAspect="1"/>
          </p:cNvGraphicFramePr>
          <p:nvPr>
            <p:ph idx="1"/>
          </p:nvPr>
        </p:nvGraphicFramePr>
        <p:xfrm>
          <a:off x="1066800" y="2590800"/>
          <a:ext cx="7543800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Document" r:id="rId4" imgW="5707529" imgH="2795173" progId="Word.Document.8">
                  <p:embed/>
                </p:oleObj>
              </mc:Choice>
              <mc:Fallback>
                <p:oleObj name="Document" r:id="rId4" imgW="5707529" imgH="2795173" progId="Word.Document.8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90800"/>
                        <a:ext cx="7543800" cy="369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398DDA5-7FBC-419B-A4DC-CD15281A2C33}" type="slidenum">
              <a:rPr lang="en-US" sz="1400"/>
              <a:pPr eaLnBrk="1" hangingPunct="1"/>
              <a:t>26</a:t>
            </a:fld>
            <a:endParaRPr lang="en-US" sz="1400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952500" y="1665357"/>
            <a:ext cx="777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sz="1900" b="1" dirty="0" err="1" smtClean="0">
                <a:cs typeface="Times New Roman" panose="02020603050405020304" pitchFamily="18" charset="0"/>
              </a:rPr>
              <a:t>Tabela</a:t>
            </a:r>
            <a:r>
              <a:rPr lang="en-US" sz="1900" b="1" dirty="0" smtClean="0">
                <a:cs typeface="Times New Roman" panose="02020603050405020304" pitchFamily="18" charset="0"/>
              </a:rPr>
              <a:t> </a:t>
            </a:r>
            <a:r>
              <a:rPr lang="en-US" sz="1900" b="1" dirty="0">
                <a:cs typeface="Times New Roman" panose="02020603050405020304" pitchFamily="18" charset="0"/>
              </a:rPr>
              <a:t>1</a:t>
            </a:r>
            <a:r>
              <a:rPr lang="en-US" sz="1900" dirty="0">
                <a:cs typeface="Times New Roman" panose="02020603050405020304" pitchFamily="18" charset="0"/>
              </a:rPr>
              <a:t> </a:t>
            </a:r>
            <a:r>
              <a:rPr lang="pt-BR" sz="2000" dirty="0"/>
              <a:t>Raiz de f (x) = 0 em função do número de iterações para o método de bissecção.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Vantagens</a:t>
            </a:r>
            <a:endParaRPr lang="en-US" dirty="0" smtClean="0"/>
          </a:p>
        </p:txBody>
      </p:sp>
      <p:sp>
        <p:nvSpPr>
          <p:cNvPr id="5837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772400" cy="2286000"/>
          </a:xfrm>
        </p:spPr>
        <p:txBody>
          <a:bodyPr/>
          <a:lstStyle/>
          <a:p>
            <a:r>
              <a:rPr lang="pt-BR" dirty="0"/>
              <a:t>Sempre convergente</a:t>
            </a:r>
          </a:p>
          <a:p>
            <a:r>
              <a:rPr lang="pt-BR" dirty="0"/>
              <a:t>O </a:t>
            </a:r>
            <a:r>
              <a:rPr lang="pt-BR" dirty="0" smtClean="0"/>
              <a:t>intervalo que que a </a:t>
            </a:r>
            <a:r>
              <a:rPr lang="pt-BR" dirty="0"/>
              <a:t>raiz </a:t>
            </a:r>
            <a:r>
              <a:rPr lang="pt-BR" dirty="0" smtClean="0"/>
              <a:t>existe é </a:t>
            </a:r>
            <a:r>
              <a:rPr lang="pt-BR" dirty="0"/>
              <a:t>reduzido pela metade a cada iteração - garantido.</a:t>
            </a:r>
          </a:p>
          <a:p>
            <a:pPr>
              <a:buFont typeface="Wingdings" panose="05000000000000000000" pitchFamily="2" charset="2"/>
              <a:buNone/>
            </a:pPr>
            <a:endParaRPr lang="en-US" dirty="0" smtClean="0"/>
          </a:p>
        </p:txBody>
      </p:sp>
      <p:sp>
        <p:nvSpPr>
          <p:cNvPr id="583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D7D9BD-1EAB-484B-BA58-C9B5D40803CD}" type="slidenum">
              <a:rPr lang="en-US" sz="1400"/>
              <a:pPr eaLnBrk="1" hangingPunct="1"/>
              <a:t>27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Desvantagens</a:t>
            </a:r>
            <a:endParaRPr lang="en-US" dirty="0" smtClean="0"/>
          </a:p>
        </p:txBody>
      </p:sp>
      <p:sp>
        <p:nvSpPr>
          <p:cNvPr id="593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EE6D726-2836-4759-B1F6-7E74484C8C90}" type="slidenum">
              <a:rPr lang="en-US" sz="1400"/>
              <a:pPr eaLnBrk="1" hangingPunct="1"/>
              <a:t>28</a:t>
            </a:fld>
            <a:endParaRPr lang="en-US" sz="140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14400" y="2133600"/>
            <a:ext cx="7772400" cy="18288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pt-BR" sz="3200" dirty="0" smtClean="0">
                <a:latin typeface="+mn-lt"/>
              </a:rPr>
              <a:t>Se </a:t>
            </a:r>
            <a:r>
              <a:rPr lang="pt-BR" sz="3200" dirty="0">
                <a:latin typeface="+mn-lt"/>
              </a:rPr>
              <a:t>uma das estimativas iniciais estiver perto da raiz, a convergência é mais lenta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en-US" sz="3200" kern="0" dirty="0">
              <a:latin typeface="+mn-lt"/>
            </a:endParaRPr>
          </a:p>
          <a:p>
            <a: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en-US" sz="3200" kern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Desvantagens </a:t>
            </a:r>
          </a:p>
        </p:txBody>
      </p:sp>
      <p:sp>
        <p:nvSpPr>
          <p:cNvPr id="2253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8077200" cy="1524000"/>
          </a:xfrm>
        </p:spPr>
        <p:txBody>
          <a:bodyPr/>
          <a:lstStyle/>
          <a:p>
            <a:r>
              <a:rPr lang="pt-BR" dirty="0"/>
              <a:t>Se uma função f (x) for tal que apenas toque o eixo x, </a:t>
            </a:r>
            <a:r>
              <a:rPr lang="pt-BR" dirty="0" smtClean="0"/>
              <a:t>o método será </a:t>
            </a:r>
            <a:r>
              <a:rPr lang="pt-BR" dirty="0"/>
              <a:t>incapaz de encontrar as estimativas inferior e superior.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62687C2-8086-4991-9F55-6C824AE00BC7}" type="slidenum">
              <a:rPr lang="en-US" sz="1400"/>
              <a:pPr eaLnBrk="1" hangingPunct="1"/>
              <a:t>29</a:t>
            </a:fld>
            <a:endParaRPr lang="en-US" sz="1400"/>
          </a:p>
        </p:txBody>
      </p:sp>
      <p:sp>
        <p:nvSpPr>
          <p:cNvPr id="22536" name="Rectangle 4"/>
          <p:cNvSpPr>
            <a:spLocks noChangeArrowheads="1"/>
          </p:cNvSpPr>
          <p:nvPr/>
        </p:nvSpPr>
        <p:spPr bwMode="auto">
          <a:xfrm>
            <a:off x="1824038" y="21288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2530" name="Object 5"/>
          <p:cNvGraphicFramePr>
            <a:graphicFrameLocks noChangeAspect="1"/>
          </p:cNvGraphicFramePr>
          <p:nvPr/>
        </p:nvGraphicFramePr>
        <p:xfrm>
          <a:off x="1981200" y="3657600"/>
          <a:ext cx="5495925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r:id="rId4" imgW="5495925" imgH="2600325" progId="Excel.Chart.8">
                  <p:embed/>
                </p:oleObj>
              </mc:Choice>
              <mc:Fallback>
                <p:oleObj r:id="rId4" imgW="5495925" imgH="2600325" progId="Excel.Char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657600"/>
                        <a:ext cx="5495925" cy="2600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Text Box 6"/>
          <p:cNvSpPr txBox="1">
            <a:spLocks noChangeArrowheads="1"/>
          </p:cNvSpPr>
          <p:nvPr/>
        </p:nvSpPr>
        <p:spPr bwMode="auto">
          <a:xfrm>
            <a:off x="8213725" y="44529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2531" name="Object 7"/>
          <p:cNvGraphicFramePr>
            <a:graphicFrameLocks noChangeAspect="1"/>
          </p:cNvGraphicFramePr>
          <p:nvPr/>
        </p:nvGraphicFramePr>
        <p:xfrm>
          <a:off x="5943600" y="5257800"/>
          <a:ext cx="1676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Equation" r:id="rId6" imgW="609480" imgH="228600" progId="Equation.3">
                  <p:embed/>
                </p:oleObj>
              </mc:Choice>
              <mc:Fallback>
                <p:oleObj name="Equation" r:id="rId6" imgW="6094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257800"/>
                        <a:ext cx="1676400" cy="628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Desvantagens 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5D14552-4765-4C76-97F3-2D93DED811CB}" type="slidenum">
              <a:rPr lang="en-US" sz="1400"/>
              <a:pPr eaLnBrk="1" hangingPunct="1"/>
              <a:t>30</a:t>
            </a:fld>
            <a:endParaRPr lang="en-US" sz="1400"/>
          </a:p>
        </p:txBody>
      </p:sp>
      <p:sp>
        <p:nvSpPr>
          <p:cNvPr id="23559" name="Text Box 3"/>
          <p:cNvSpPr txBox="1">
            <a:spLocks noChangeArrowheads="1"/>
          </p:cNvSpPr>
          <p:nvPr/>
        </p:nvSpPr>
        <p:spPr bwMode="auto">
          <a:xfrm>
            <a:off x="1219200" y="57150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/>
          </a:p>
        </p:txBody>
      </p:sp>
      <p:sp>
        <p:nvSpPr>
          <p:cNvPr id="23560" name="Rectangle 4"/>
          <p:cNvSpPr>
            <a:spLocks noChangeArrowheads="1"/>
          </p:cNvSpPr>
          <p:nvPr/>
        </p:nvSpPr>
        <p:spPr bwMode="auto">
          <a:xfrm>
            <a:off x="762000" y="1981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sz="3200" dirty="0"/>
              <a:t>Função muda de sinal, mas a raiz não existe</a:t>
            </a:r>
          </a:p>
        </p:txBody>
      </p:sp>
      <p:sp>
        <p:nvSpPr>
          <p:cNvPr id="23561" name="Rectangle 5"/>
          <p:cNvSpPr>
            <a:spLocks noChangeArrowheads="1"/>
          </p:cNvSpPr>
          <p:nvPr/>
        </p:nvSpPr>
        <p:spPr bwMode="auto">
          <a:xfrm>
            <a:off x="1971675" y="2190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3554" name="Object 6"/>
          <p:cNvGraphicFramePr>
            <a:graphicFrameLocks noChangeAspect="1"/>
          </p:cNvGraphicFramePr>
          <p:nvPr/>
        </p:nvGraphicFramePr>
        <p:xfrm>
          <a:off x="2057400" y="3733800"/>
          <a:ext cx="5200650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r:id="rId4" imgW="5200650" imgH="2476500" progId="Excel.Chart.8">
                  <p:embed/>
                </p:oleObj>
              </mc:Choice>
              <mc:Fallback>
                <p:oleObj r:id="rId4" imgW="5200650" imgH="2476500" progId="Excel.Char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33800"/>
                        <a:ext cx="5200650" cy="247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Text Box 7"/>
          <p:cNvSpPr txBox="1">
            <a:spLocks noChangeArrowheads="1"/>
          </p:cNvSpPr>
          <p:nvPr/>
        </p:nvSpPr>
        <p:spPr bwMode="auto">
          <a:xfrm>
            <a:off x="6461125" y="27765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3555" name="Object 8"/>
          <p:cNvGraphicFramePr>
            <a:graphicFrameLocks noChangeAspect="1"/>
          </p:cNvGraphicFramePr>
          <p:nvPr/>
        </p:nvGraphicFramePr>
        <p:xfrm>
          <a:off x="5029200" y="3429000"/>
          <a:ext cx="18288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Equation" r:id="rId6" imgW="583920" imgH="393480" progId="Equation.3">
                  <p:embed/>
                </p:oleObj>
              </mc:Choice>
              <mc:Fallback>
                <p:oleObj name="Equation" r:id="rId6" imgW="58392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429000"/>
                        <a:ext cx="1828800" cy="12319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200400"/>
            <a:ext cx="8229600" cy="762000"/>
          </a:xfrm>
        </p:spPr>
        <p:txBody>
          <a:bodyPr>
            <a:normAutofit lnSpcReduction="10000"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sz="6000" b="1" dirty="0" smtClean="0"/>
              <a:t>Obrigado!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6000" b="1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1435</TotalTime>
  <Words>806</Words>
  <Application>Microsoft Office PowerPoint</Application>
  <PresentationFormat>Apresentação na tela (4:3)</PresentationFormat>
  <Paragraphs>138</Paragraphs>
  <Slides>31</Slides>
  <Notes>31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7</vt:i4>
      </vt:variant>
      <vt:variant>
        <vt:lpstr>Títulos de slides</vt:lpstr>
      </vt:variant>
      <vt:variant>
        <vt:i4>31</vt:i4>
      </vt:variant>
    </vt:vector>
  </HeadingPairs>
  <TitlesOfParts>
    <vt:vector size="48" baseType="lpstr">
      <vt:lpstr>Arial</vt:lpstr>
      <vt:lpstr>Century Gothic</vt:lpstr>
      <vt:lpstr>MT Extra</vt:lpstr>
      <vt:lpstr>Tahoma</vt:lpstr>
      <vt:lpstr>Times New Roman</vt:lpstr>
      <vt:lpstr>Wingdings</vt:lpstr>
      <vt:lpstr>Wingdings 3</vt:lpstr>
      <vt:lpstr>1_Blends</vt:lpstr>
      <vt:lpstr>Blends</vt:lpstr>
      <vt:lpstr>Cacho</vt:lpstr>
      <vt:lpstr>Equation</vt:lpstr>
      <vt:lpstr>Microsoft Word Picture</vt:lpstr>
      <vt:lpstr>Picture</vt:lpstr>
      <vt:lpstr>Equação</vt:lpstr>
      <vt:lpstr>Bitmap Image</vt:lpstr>
      <vt:lpstr>Document</vt:lpstr>
      <vt:lpstr>Gráfico do Microsoft Excel</vt:lpstr>
      <vt:lpstr>Métodos Numéricos         Método da Bissecção </vt:lpstr>
      <vt:lpstr>Base teórica Método de Bissecção</vt:lpstr>
      <vt:lpstr>Base teórica Método de Bissecção</vt:lpstr>
      <vt:lpstr>Base teórica Método de Bissecção</vt:lpstr>
      <vt:lpstr>Base teórica Método de Bissecção</vt:lpstr>
      <vt:lpstr>Algoritmo para o Método de Bissecção</vt:lpstr>
      <vt:lpstr>Passo 1</vt:lpstr>
      <vt:lpstr>Passo 2</vt:lpstr>
      <vt:lpstr>Passo 3</vt:lpstr>
      <vt:lpstr>Passo 4</vt:lpstr>
      <vt:lpstr>Passo 5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Examplo 1</vt:lpstr>
      <vt:lpstr>Vantagens</vt:lpstr>
      <vt:lpstr>Desvantagens</vt:lpstr>
      <vt:lpstr>Desvantagens </vt:lpstr>
      <vt:lpstr>Desvantagens </vt:lpstr>
      <vt:lpstr>Apresentação do PowerPoint</vt:lpstr>
    </vt:vector>
  </TitlesOfParts>
  <Company>Holistic Numerical Methods Institute</Company>
  <LinksUpToDate>false</LinksUpToDate>
  <SharedDoc>false</SharedDoc>
  <HyperlinkBase>http://numericalmethods.eng.usf.edu/mcd/gen/03nle/mcd_gen_nle_ppt_bisection.ppt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Bisection Method  Nonlinear Equations</dc:title>
  <dc:subject>Nonlinear Equations</dc:subject>
  <dc:creator>Autar Kaw, Jai Paul</dc:creator>
  <cp:keywords>Power Point Bisection method</cp:keywords>
  <dc:description>A power point presentation to show how the Bisection method of finding roots of a nonlinear equation works.</dc:description>
  <cp:lastModifiedBy>antonio tavernard</cp:lastModifiedBy>
  <cp:revision>139</cp:revision>
  <cp:lastPrinted>1999-03-26T19:03:37Z</cp:lastPrinted>
  <dcterms:created xsi:type="dcterms:W3CDTF">1998-11-18T16:33:10Z</dcterms:created>
  <dcterms:modified xsi:type="dcterms:W3CDTF">2021-12-03T19:11:17Z</dcterms:modified>
  <cp:category>General Engineering</cp:category>
</cp:coreProperties>
</file>