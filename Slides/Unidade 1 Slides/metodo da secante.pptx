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.xml" ContentType="application/vnd.openxmlformats-officedocument.presentationml.tag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2" r:id="rId1"/>
    <p:sldMasterId id="2147483653" r:id="rId2"/>
    <p:sldMasterId id="2147483839" r:id="rId3"/>
  </p:sldMasterIdLst>
  <p:notesMasterIdLst>
    <p:notesMasterId r:id="rId27"/>
  </p:notesMasterIdLst>
  <p:handoutMasterIdLst>
    <p:handoutMasterId r:id="rId28"/>
  </p:handoutMasterIdLst>
  <p:sldIdLst>
    <p:sldId id="288" r:id="rId4"/>
    <p:sldId id="289" r:id="rId5"/>
    <p:sldId id="290" r:id="rId6"/>
    <p:sldId id="291" r:id="rId7"/>
    <p:sldId id="292" r:id="rId8"/>
    <p:sldId id="293" r:id="rId9"/>
    <p:sldId id="306" r:id="rId10"/>
    <p:sldId id="307" r:id="rId11"/>
    <p:sldId id="308" r:id="rId12"/>
    <p:sldId id="309" r:id="rId13"/>
    <p:sldId id="273" r:id="rId14"/>
    <p:sldId id="298" r:id="rId15"/>
    <p:sldId id="297" r:id="rId16"/>
    <p:sldId id="299" r:id="rId17"/>
    <p:sldId id="300" r:id="rId18"/>
    <p:sldId id="274" r:id="rId19"/>
    <p:sldId id="301" r:id="rId20"/>
    <p:sldId id="302" r:id="rId21"/>
    <p:sldId id="275" r:id="rId22"/>
    <p:sldId id="285" r:id="rId23"/>
    <p:sldId id="286" r:id="rId24"/>
    <p:sldId id="287" r:id="rId25"/>
    <p:sldId id="304" r:id="rId26"/>
  </p:sldIdLst>
  <p:sldSz cx="9144000" cy="6858000" type="screen4x3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996600"/>
    <a:srgbClr val="FF9900"/>
    <a:srgbClr val="663300"/>
    <a:srgbClr val="894400"/>
    <a:srgbClr val="A45100"/>
    <a:srgbClr val="B75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9838" autoAdjust="0"/>
  </p:normalViewPr>
  <p:slideViewPr>
    <p:cSldViewPr>
      <p:cViewPr varScale="1">
        <p:scale>
          <a:sx n="116" d="100"/>
          <a:sy n="116" d="100"/>
        </p:scale>
        <p:origin x="308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6" d="100"/>
          <a:sy n="46" d="100"/>
        </p:scale>
        <p:origin x="-1426" y="-6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7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1" tIns="48321" rIns="96641" bIns="4832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1" tIns="48321" rIns="96641" bIns="4832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2E811D2-5A7F-4BD9-92F7-C776903EBB2D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165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1" tIns="48321" rIns="96641" bIns="4832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165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1" tIns="48321" rIns="96641" bIns="4832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anose="02020603050405020304" pitchFamily="18" charset="0"/>
              </a:defRPr>
            </a:lvl1pPr>
          </a:lstStyle>
          <a:p>
            <a:fld id="{AB02EB0D-4D44-497B-89A1-EA2B4C5863AE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352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9274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26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941137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2459792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029560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2892527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2927728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554115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2868969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4289271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2160887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700548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257052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8587602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946017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1574773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439495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3080212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22213935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7344290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41959094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693873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22240532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91088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997ACE5-B744-4BA5-9BB8-7CE172C0A2CE}" type="slidenum">
              <a:rPr lang="en-US"/>
              <a:pPr eaLnBrk="1" hangingPunct="1"/>
              <a:t>23</a:t>
            </a:fld>
            <a:endParaRPr lang="en-US"/>
          </a:p>
        </p:txBody>
      </p:sp>
      <p:sp>
        <p:nvSpPr>
          <p:cNvPr id="75779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8006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16260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CA4AF-3216-4A61-806E-8B2C4E07B6C3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FE8A7F-C89E-4133-B1DD-CEEA1D1F5DF2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4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32AD1-90DC-4927-A616-23328FA7B858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3A56-B2B5-41D3-B0AE-BA0EE1B1E1FC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6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E0CEE-DFE6-44CA-A474-C7F27703BB00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C28FE1-F9CE-4639-BB55-25B1D4D96E05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4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A85F0-240A-4207-9136-D028E51F055E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6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7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699038-B95D-41FF-BA1D-B87E28B2BD42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947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8F1E55-5C75-46C9-BCF1-3AF6D7866C3F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8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9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996E8C-7485-43F7-84C3-A339C317901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15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3D09E-3926-422D-814D-EFF3EAC6BAFC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1A9892-5849-4FF2-A283-255E91FF00D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61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D54C1-CB64-47AB-BA7A-686C54E7A09E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3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4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3CAD59-8668-440F-B132-E5DDE105B84F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29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62E5C4-F691-49F7-8FC2-09A651D6F9A0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6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7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8FCC8A-08BB-4D2A-B224-F664E60C417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27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E72F40-2134-4292-BD5E-AC4C51C9BA83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6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7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0060A3-7AE3-4C27-86E3-2CCC255E0EE3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CB6AC9-55AA-46B9-B926-BAFAF7CF09D7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4709EF-6AAD-45F6-9F8B-F6599C3E1AC6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5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5475" y="617538"/>
            <a:ext cx="1968500" cy="54784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617538"/>
            <a:ext cx="5756275" cy="54784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0A44FB-0832-4E31-967E-A445A253C7E7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2CA279-5A54-46F2-A62D-BD47AC0C7449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67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4B5832-AE95-48A0-8AEF-EF5CAAE19DB1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D63AD9-D65D-4C27-98FF-3812A1DA9B8D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45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9047D-B117-4BDC-8F55-57A5A3799DB2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5FBD03-128E-44EC-950A-8605D2648F9B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96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FE7155-623E-4BF5-8DBF-DCB224A416C7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ED7A75-AB9E-4A7D-836D-81E07AB68388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341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D54ACF-5760-490D-AF8B-85F55198C1B5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C1E904-0D4C-42FE-B85F-9C7352FCDB7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38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04EAEC-1451-46FD-A58B-A1A464F894C2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29F6-1EF5-4017-AA72-FE38A2311735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11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1D104-B568-420E-BAD9-125F30711E02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C354C0-848F-4174-AC15-4470D9B9B2BB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316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E36CA2-B9EC-42C4-809E-1D3F572AAC64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7A5FC5-4798-4D23-A760-0C2312C43830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073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F39E7B-1955-4358-A6E1-5EFB1747B44B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62BA0A-2F28-4A32-B38E-47D7C3CF86E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5214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9C16C-F5D0-486C-9277-0402075C5C3C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0762B2-1679-4929-BB1C-64027CB174B3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786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1A9C4-1101-4887-A9D4-88C4A7BD8E76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1C6140-7FD5-41A0-A2C9-98156B4F93AE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823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5475" y="617538"/>
            <a:ext cx="1968500" cy="54784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617538"/>
            <a:ext cx="5756275" cy="54784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7B05FA-8AD3-4131-A1E9-F2ACE182A847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0EAC28-EF6C-4B46-846B-86BF8BD4F127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994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9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9EE295-55DE-432B-8955-9157FA8AFB19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EC61BE-5DB8-41D0-ADA5-629372917452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60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96803-F451-4087-A8F6-03338B8E3510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2B8B8F-E500-4984-959E-D6DA1D3100AE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540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3008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85778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40420"/>
      </p:ext>
    </p:ext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51295"/>
      </p:ext>
    </p:ext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91767"/>
      </p:ext>
    </p:ext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06727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3871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86441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68517"/>
      </p:ext>
    </p:extLst>
  </p:cSld>
  <p:clrMapOvr>
    <a:masterClrMapping/>
  </p:clrMapOvr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52"/>
      </p:ext>
    </p:extLst>
  </p:cSld>
  <p:clrMapOvr>
    <a:masterClrMapping/>
  </p:clrMapOvr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4344230"/>
      </p:ext>
    </p:extLst>
  </p:cSld>
  <p:clrMapOvr>
    <a:masterClrMapping/>
  </p:clrMapOvr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257973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6697324"/>
      </p:ext>
    </p:extLst>
  </p:cSld>
  <p:clrMapOvr>
    <a:masterClrMapping/>
  </p:clrMapOvr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998833"/>
      </p:ext>
    </p:extLst>
  </p:cSld>
  <p:clrMapOvr>
    <a:masterClrMapping/>
  </p:clrMapOvr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33333"/>
      </p:ext>
    </p:extLst>
  </p:cSld>
  <p:clrMapOvr>
    <a:masterClrMapping/>
  </p:clrMapOvr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755079"/>
      </p:ext>
    </p:extLst>
  </p:cSld>
  <p:clrMapOvr>
    <a:masterClrMapping/>
  </p:clrMapOvr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9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9EE295-55DE-432B-8955-9157FA8AFB19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EC61BE-5DB8-41D0-ADA5-629372917452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6902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96803-F451-4087-A8F6-03338B8E3510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2B8B8F-E500-4984-959E-D6DA1D3100AE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12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C9FEFF"/>
            </a:gs>
            <a:gs pos="100000">
              <a:srgbClr val="E9FE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1026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5368" name="Group 1027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1028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3" name="Rectangle 1029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5369" name="Group 1030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1031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1" name="Rectangle 1032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17" name="Rectangle 1033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Rectangle 1034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Rectangle 1035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536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536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4" name="Rectangle 103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067D7C76-31AE-43C1-89E3-84CE2E75F0CD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25" name="Rectangle 103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26" name="Rectangle 104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2"/>
                </a:solidFill>
              </a:defRPr>
            </a:lvl1pPr>
          </a:lstStyle>
          <a:p>
            <a:fld id="{427AADF4-DBBD-4C92-A82D-9B3F4684F915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C9FEFF"/>
            </a:gs>
            <a:gs pos="100000">
              <a:srgbClr val="E9FE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1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2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3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4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5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6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639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639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101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48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1DEE0E19-D0D9-42AE-A6F4-1134CC777D3F}" type="datetime1">
              <a:rPr lang="en-US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17102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0" y="6629400"/>
            <a:ext cx="3810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C0C0C0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17102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AB30EF4D-28D7-446A-880D-988097E96731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67D7C76-31AE-43C1-89E3-84CE2E75F0CD}" type="datetime1">
              <a:rPr lang="en-US" smtClean="0"/>
              <a:pPr>
                <a:defRPr/>
              </a:pPr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27AADF4-DBBD-4C92-A82D-9B3F4684F91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4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  <p:sldLayoutId id="2147483852" r:id="rId13"/>
    <p:sldLayoutId id="2147483853" r:id="rId14"/>
    <p:sldLayoutId id="2147483854" r:id="rId15"/>
    <p:sldLayoutId id="2147483855" r:id="rId16"/>
    <p:sldLayoutId id="2147483856" r:id="rId17"/>
    <p:sldLayoutId id="2147483857" r:id="rId18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png"/><Relationship Id="rId4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9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32.wmf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3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81200" y="3200400"/>
            <a:ext cx="5397843" cy="762000"/>
          </a:xfrm>
        </p:spPr>
        <p:txBody>
          <a:bodyPr>
            <a:normAutofit/>
          </a:bodyPr>
          <a:lstStyle/>
          <a:p>
            <a:r>
              <a:rPr lang="pt-BR" sz="3800" b="1" dirty="0"/>
              <a:t>Método </a:t>
            </a:r>
            <a:r>
              <a:rPr lang="pt-BR" sz="3800" b="1" dirty="0" smtClean="0"/>
              <a:t>da Secante</a:t>
            </a:r>
            <a:endParaRPr lang="pt-BR" sz="3800" b="1" dirty="0"/>
          </a:p>
        </p:txBody>
      </p:sp>
      <p:sp>
        <p:nvSpPr>
          <p:cNvPr id="41986" name="Date Placeholder 3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3D1C0FC-017E-4889-8373-090A3F9ACA1C}" type="datetime1">
              <a:rPr lang="en-US" sz="1400" smtClean="0">
                <a:solidFill>
                  <a:schemeClr val="bg2"/>
                </a:solidFill>
              </a:rPr>
              <a:pPr eaLnBrk="1" hangingPunct="1"/>
              <a:t>9/18/2020</a:t>
            </a:fld>
            <a:endParaRPr lang="en-US" sz="1400" smtClean="0">
              <a:solidFill>
                <a:schemeClr val="bg2"/>
              </a:solidFill>
            </a:endParaRPr>
          </a:p>
        </p:txBody>
      </p:sp>
      <p:sp>
        <p:nvSpPr>
          <p:cNvPr id="419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CF92F28-7C3E-4765-9F56-2398B58777BA}" type="slidenum">
              <a:rPr lang="en-US" sz="1400">
                <a:solidFill>
                  <a:schemeClr val="bg2"/>
                </a:solidFill>
              </a:rPr>
              <a:pPr eaLnBrk="1" hangingPunct="1"/>
              <a:t>1</a:t>
            </a:fld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838200" y="4953000"/>
            <a:ext cx="75438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pt-BR" sz="2400" b="1" dirty="0" smtClean="0"/>
              <a:t>Prof. Antonio Tavernard</a:t>
            </a:r>
            <a:endParaRPr lang="pt-BR" sz="2400" b="1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70741" y="1205550"/>
            <a:ext cx="75438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pt-BR" b="1" dirty="0" smtClean="0"/>
              <a:t>Métodos Numéricos</a:t>
            </a:r>
            <a:endParaRPr lang="pt-B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85800"/>
            <a:ext cx="8174038" cy="1143000"/>
          </a:xfrm>
        </p:spPr>
        <p:txBody>
          <a:bodyPr/>
          <a:lstStyle/>
          <a:p>
            <a:r>
              <a:rPr lang="pt-BR" b="1" dirty="0"/>
              <a:t>Método Secante - Derivação</a:t>
            </a:r>
          </a:p>
        </p:txBody>
      </p:sp>
      <p:sp>
        <p:nvSpPr>
          <p:cNvPr id="103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A5A41BE-9CE3-42EF-B58B-4C426A703052}" type="slidenum">
              <a:rPr lang="en-US" sz="1400"/>
              <a:pPr eaLnBrk="1" hangingPunct="1"/>
              <a:t>2</a:t>
            </a:fld>
            <a:endParaRPr lang="en-US" sz="1400"/>
          </a:p>
        </p:txBody>
      </p:sp>
      <p:sp>
        <p:nvSpPr>
          <p:cNvPr id="1033" name="Rectangle 3"/>
          <p:cNvSpPr>
            <a:spLocks noChangeArrowheads="1"/>
          </p:cNvSpPr>
          <p:nvPr/>
        </p:nvSpPr>
        <p:spPr bwMode="auto">
          <a:xfrm>
            <a:off x="2886075" y="1743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034" name="Rectangle 4"/>
          <p:cNvSpPr>
            <a:spLocks noChangeArrowheads="1"/>
          </p:cNvSpPr>
          <p:nvPr/>
        </p:nvSpPr>
        <p:spPr bwMode="auto">
          <a:xfrm>
            <a:off x="4043363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5715000" y="2362200"/>
          <a:ext cx="19812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Equation" r:id="rId4" imgW="1028520" imgH="431640" progId="Equation.3">
                  <p:embed/>
                </p:oleObj>
              </mc:Choice>
              <mc:Fallback>
                <p:oleObj name="Equation" r:id="rId4" imgW="102852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362200"/>
                        <a:ext cx="1981200" cy="83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5" name="Rectangle 6"/>
          <p:cNvSpPr>
            <a:spLocks noChangeArrowheads="1"/>
          </p:cNvSpPr>
          <p:nvPr/>
        </p:nvSpPr>
        <p:spPr bwMode="auto">
          <a:xfrm>
            <a:off x="2828925" y="1743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027" name="Object 7"/>
          <p:cNvGraphicFramePr>
            <a:graphicFrameLocks noChangeAspect="1"/>
          </p:cNvGraphicFramePr>
          <p:nvPr/>
        </p:nvGraphicFramePr>
        <p:xfrm>
          <a:off x="381000" y="1600200"/>
          <a:ext cx="4435475" cy="413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Picture" r:id="rId6" imgW="3486240" imgH="3371760" progId="Word.Picture.8">
                  <p:embed/>
                </p:oleObj>
              </mc:Choice>
              <mc:Fallback>
                <p:oleObj name="Picture" r:id="rId6" imgW="3486240" imgH="3371760" progId="Word.Picture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600200"/>
                        <a:ext cx="4435475" cy="4135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" name="Rectangle 8"/>
          <p:cNvSpPr>
            <a:spLocks noChangeArrowheads="1"/>
          </p:cNvSpPr>
          <p:nvPr/>
        </p:nvSpPr>
        <p:spPr bwMode="auto">
          <a:xfrm>
            <a:off x="4043363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037" name="Rectangle 9"/>
          <p:cNvSpPr>
            <a:spLocks noChangeArrowheads="1"/>
          </p:cNvSpPr>
          <p:nvPr/>
        </p:nvSpPr>
        <p:spPr bwMode="auto">
          <a:xfrm>
            <a:off x="3805238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028" name="Object 10"/>
          <p:cNvGraphicFramePr>
            <a:graphicFrameLocks noChangeAspect="1"/>
          </p:cNvGraphicFramePr>
          <p:nvPr/>
        </p:nvGraphicFramePr>
        <p:xfrm>
          <a:off x="5486400" y="3657600"/>
          <a:ext cx="23622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r:id="rId8" imgW="1536033" imgH="444307" progId="Equation.3">
                  <p:embed/>
                </p:oleObj>
              </mc:Choice>
              <mc:Fallback>
                <p:oleObj r:id="rId8" imgW="1536033" imgH="44430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657600"/>
                        <a:ext cx="2362200" cy="688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11"/>
          <p:cNvGraphicFramePr>
            <a:graphicFrameLocks noChangeAspect="1"/>
          </p:cNvGraphicFramePr>
          <p:nvPr/>
        </p:nvGraphicFramePr>
        <p:xfrm>
          <a:off x="5486400" y="5562600"/>
          <a:ext cx="29718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r:id="rId10" imgW="1651000" imgH="444500" progId="Equation.3">
                  <p:embed/>
                </p:oleObj>
              </mc:Choice>
              <mc:Fallback>
                <p:oleObj r:id="rId10" imgW="1651000" imgH="4445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562600"/>
                        <a:ext cx="2971800" cy="80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" name="Text Box 12"/>
          <p:cNvSpPr txBox="1">
            <a:spLocks noChangeArrowheads="1"/>
          </p:cNvSpPr>
          <p:nvPr/>
        </p:nvSpPr>
        <p:spPr bwMode="auto">
          <a:xfrm>
            <a:off x="5184489" y="1981200"/>
            <a:ext cx="23246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sz="2000" dirty="0"/>
              <a:t>Método de Newton</a:t>
            </a:r>
          </a:p>
        </p:txBody>
      </p:sp>
      <p:sp>
        <p:nvSpPr>
          <p:cNvPr id="1039" name="Text Box 13"/>
          <p:cNvSpPr txBox="1">
            <a:spLocks noChangeArrowheads="1"/>
          </p:cNvSpPr>
          <p:nvPr/>
        </p:nvSpPr>
        <p:spPr bwMode="auto">
          <a:xfrm>
            <a:off x="5181600" y="3276600"/>
            <a:ext cx="3581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sz="2000" dirty="0"/>
              <a:t>Aproxime a derivada</a:t>
            </a:r>
          </a:p>
        </p:txBody>
      </p:sp>
      <p:sp>
        <p:nvSpPr>
          <p:cNvPr id="1040" name="Text Box 13"/>
          <p:cNvSpPr txBox="1">
            <a:spLocks noChangeArrowheads="1"/>
          </p:cNvSpPr>
          <p:nvPr/>
        </p:nvSpPr>
        <p:spPr bwMode="auto">
          <a:xfrm>
            <a:off x="5225256" y="4363244"/>
            <a:ext cx="36576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sz="2000" dirty="0"/>
              <a:t>Substituir a Equação (2) na Equação (1) dá o método Secante</a:t>
            </a:r>
          </a:p>
        </p:txBody>
      </p:sp>
      <p:sp>
        <p:nvSpPr>
          <p:cNvPr id="1041" name="Text Box 12"/>
          <p:cNvSpPr txBox="1">
            <a:spLocks noChangeArrowheads="1"/>
          </p:cNvSpPr>
          <p:nvPr/>
        </p:nvSpPr>
        <p:spPr bwMode="auto">
          <a:xfrm>
            <a:off x="7924800" y="2514600"/>
            <a:ext cx="50323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1900"/>
              <a:t>(1)</a:t>
            </a:r>
          </a:p>
        </p:txBody>
      </p:sp>
      <p:sp>
        <p:nvSpPr>
          <p:cNvPr id="1042" name="Text Box 12"/>
          <p:cNvSpPr txBox="1">
            <a:spLocks noChangeArrowheads="1"/>
          </p:cNvSpPr>
          <p:nvPr/>
        </p:nvSpPr>
        <p:spPr bwMode="auto">
          <a:xfrm>
            <a:off x="8001000" y="3733800"/>
            <a:ext cx="50323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1900"/>
              <a:t>(2)</a:t>
            </a:r>
          </a:p>
        </p:txBody>
      </p:sp>
      <p:sp>
        <p:nvSpPr>
          <p:cNvPr id="1043" name="Text Box 13"/>
          <p:cNvSpPr txBox="1">
            <a:spLocks noChangeArrowheads="1"/>
          </p:cNvSpPr>
          <p:nvPr/>
        </p:nvSpPr>
        <p:spPr bwMode="auto">
          <a:xfrm>
            <a:off x="533400" y="5486400"/>
            <a:ext cx="4495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900" b="1" dirty="0" err="1" smtClean="0"/>
              <a:t>Figura</a:t>
            </a:r>
            <a:r>
              <a:rPr lang="en-US" sz="1900" b="1" dirty="0" smtClean="0"/>
              <a:t> </a:t>
            </a:r>
            <a:r>
              <a:rPr lang="en-US" sz="1900" b="1" dirty="0"/>
              <a:t>1 </a:t>
            </a:r>
            <a:r>
              <a:rPr lang="pt-BR" sz="2000" dirty="0"/>
              <a:t>Ilustração geométrica do método Newton-</a:t>
            </a:r>
            <a:r>
              <a:rPr lang="pt-BR" sz="2000" dirty="0" err="1"/>
              <a:t>Raphson</a:t>
            </a:r>
            <a:r>
              <a:rPr lang="pt-BR" sz="2000" dirty="0"/>
              <a:t>.</a:t>
            </a:r>
            <a:endParaRPr lang="en-US" sz="19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609600"/>
            <a:ext cx="7793038" cy="1143000"/>
          </a:xfrm>
        </p:spPr>
        <p:txBody>
          <a:bodyPr/>
          <a:lstStyle/>
          <a:p>
            <a:r>
              <a:rPr lang="pt-BR" b="1" dirty="0"/>
              <a:t>Método </a:t>
            </a:r>
            <a:r>
              <a:rPr lang="pt-BR" b="1" dirty="0" smtClean="0"/>
              <a:t>da Secante </a:t>
            </a:r>
            <a:r>
              <a:rPr lang="pt-BR" b="1" dirty="0"/>
              <a:t>- Derivação</a:t>
            </a:r>
          </a:p>
        </p:txBody>
      </p:sp>
      <p:sp>
        <p:nvSpPr>
          <p:cNvPr id="205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8CC4925-8B1E-4028-9FD5-5B6479FA4BA1}" type="slidenum">
              <a:rPr lang="en-US" sz="1400"/>
              <a:pPr eaLnBrk="1" hangingPunct="1"/>
              <a:t>3</a:t>
            </a:fld>
            <a:endParaRPr lang="en-US" sz="1400"/>
          </a:p>
        </p:txBody>
      </p:sp>
      <p:sp>
        <p:nvSpPr>
          <p:cNvPr id="2057" name="Rectangle 3"/>
          <p:cNvSpPr>
            <a:spLocks noChangeArrowheads="1"/>
          </p:cNvSpPr>
          <p:nvPr/>
        </p:nvSpPr>
        <p:spPr bwMode="auto">
          <a:xfrm>
            <a:off x="2886075" y="1743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2058" name="Rectangle 4"/>
          <p:cNvSpPr>
            <a:spLocks noChangeArrowheads="1"/>
          </p:cNvSpPr>
          <p:nvPr/>
        </p:nvSpPr>
        <p:spPr bwMode="auto">
          <a:xfrm>
            <a:off x="4043363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2059" name="Rectangle 5"/>
          <p:cNvSpPr>
            <a:spLocks noChangeArrowheads="1"/>
          </p:cNvSpPr>
          <p:nvPr/>
        </p:nvSpPr>
        <p:spPr bwMode="auto">
          <a:xfrm>
            <a:off x="2828925" y="1743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2060" name="Rectangle 6"/>
          <p:cNvSpPr>
            <a:spLocks noChangeArrowheads="1"/>
          </p:cNvSpPr>
          <p:nvPr/>
        </p:nvSpPr>
        <p:spPr bwMode="auto">
          <a:xfrm>
            <a:off x="4043363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2050" name="Object 7"/>
          <p:cNvGraphicFramePr>
            <a:graphicFrameLocks noChangeAspect="1"/>
          </p:cNvGraphicFramePr>
          <p:nvPr/>
        </p:nvGraphicFramePr>
        <p:xfrm>
          <a:off x="5334000" y="5562600"/>
          <a:ext cx="31242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" r:id="rId4" imgW="1651000" imgH="444500" progId="Equation.3">
                  <p:embed/>
                </p:oleObj>
              </mc:Choice>
              <mc:Fallback>
                <p:oleObj r:id="rId4" imgW="1651000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562600"/>
                        <a:ext cx="3124200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1" name="Text Box 8"/>
          <p:cNvSpPr txBox="1">
            <a:spLocks noChangeArrowheads="1"/>
          </p:cNvSpPr>
          <p:nvPr/>
        </p:nvSpPr>
        <p:spPr bwMode="auto">
          <a:xfrm>
            <a:off x="4452564" y="2438400"/>
            <a:ext cx="43140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sz="2000" dirty="0" smtClean="0"/>
              <a:t>Da semelhança de triângulos temos:</a:t>
            </a:r>
            <a:endParaRPr lang="pt-BR" sz="2000" dirty="0"/>
          </a:p>
        </p:txBody>
      </p:sp>
      <p:sp>
        <p:nvSpPr>
          <p:cNvPr id="2062" name="Rectangle 9"/>
          <p:cNvSpPr>
            <a:spLocks noChangeArrowheads="1"/>
          </p:cNvSpPr>
          <p:nvPr/>
        </p:nvSpPr>
        <p:spPr bwMode="auto">
          <a:xfrm>
            <a:off x="2828925" y="1743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2051" name="Object 10"/>
          <p:cNvGraphicFramePr>
            <a:graphicFrameLocks noChangeAspect="1"/>
          </p:cNvGraphicFramePr>
          <p:nvPr/>
        </p:nvGraphicFramePr>
        <p:xfrm>
          <a:off x="381000" y="1905000"/>
          <a:ext cx="4352925" cy="421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" r:id="rId6" imgW="3486912" imgH="3372612" progId="Word.Picture.8">
                  <p:embed/>
                </p:oleObj>
              </mc:Choice>
              <mc:Fallback>
                <p:oleObj r:id="rId6" imgW="3486912" imgH="3372612" progId="Word.Picture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905000"/>
                        <a:ext cx="4352925" cy="421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3" name="Rectangle 11"/>
          <p:cNvSpPr>
            <a:spLocks noChangeArrowheads="1"/>
          </p:cNvSpPr>
          <p:nvPr/>
        </p:nvSpPr>
        <p:spPr bwMode="auto">
          <a:xfrm>
            <a:off x="3910013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2052" name="Object 12"/>
          <p:cNvGraphicFramePr>
            <a:graphicFrameLocks noChangeAspect="1"/>
          </p:cNvGraphicFramePr>
          <p:nvPr/>
        </p:nvGraphicFramePr>
        <p:xfrm>
          <a:off x="5562600" y="3886200"/>
          <a:ext cx="2362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" r:id="rId8" imgW="1320227" imgH="444307" progId="Equation.3">
                  <p:embed/>
                </p:oleObj>
              </mc:Choice>
              <mc:Fallback>
                <p:oleObj r:id="rId8" imgW="1320227" imgH="444307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886200"/>
                        <a:ext cx="23622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4" name="Rectangle 13"/>
          <p:cNvSpPr>
            <a:spLocks noChangeArrowheads="1"/>
          </p:cNvSpPr>
          <p:nvPr/>
        </p:nvSpPr>
        <p:spPr bwMode="auto">
          <a:xfrm>
            <a:off x="3752850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2065" name="Rectangle 14"/>
          <p:cNvSpPr>
            <a:spLocks noChangeArrowheads="1"/>
          </p:cNvSpPr>
          <p:nvPr/>
        </p:nvSpPr>
        <p:spPr bwMode="auto">
          <a:xfrm>
            <a:off x="4224338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2053" name="Object 15"/>
          <p:cNvGraphicFramePr>
            <a:graphicFrameLocks noChangeAspect="1"/>
          </p:cNvGraphicFramePr>
          <p:nvPr/>
        </p:nvGraphicFramePr>
        <p:xfrm>
          <a:off x="6096000" y="2819400"/>
          <a:ext cx="11430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" name="Equation" r:id="rId10" imgW="685800" imgH="393480" progId="Equation.3">
                  <p:embed/>
                </p:oleObj>
              </mc:Choice>
              <mc:Fallback>
                <p:oleObj name="Equation" r:id="rId10" imgW="685800" imgH="3934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819400"/>
                        <a:ext cx="1143000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6" name="Text Box 13"/>
          <p:cNvSpPr txBox="1">
            <a:spLocks noChangeArrowheads="1"/>
          </p:cNvSpPr>
          <p:nvPr/>
        </p:nvSpPr>
        <p:spPr bwMode="auto">
          <a:xfrm>
            <a:off x="304800" y="5791200"/>
            <a:ext cx="4495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900" b="1" dirty="0"/>
              <a:t>Figure 2 </a:t>
            </a:r>
            <a:r>
              <a:rPr lang="pt-BR" sz="2000" dirty="0"/>
              <a:t>Representação geométrica do método </a:t>
            </a:r>
            <a:r>
              <a:rPr lang="pt-BR" sz="2000" dirty="0" smtClean="0"/>
              <a:t>da Secante</a:t>
            </a:r>
            <a:r>
              <a:rPr lang="pt-BR" sz="2000" dirty="0"/>
              <a:t>.</a:t>
            </a:r>
            <a:endParaRPr lang="en-US" sz="1900" b="1" dirty="0"/>
          </a:p>
        </p:txBody>
      </p:sp>
      <p:sp>
        <p:nvSpPr>
          <p:cNvPr id="2067" name="Text Box 8"/>
          <p:cNvSpPr txBox="1">
            <a:spLocks noChangeArrowheads="1"/>
          </p:cNvSpPr>
          <p:nvPr/>
        </p:nvSpPr>
        <p:spPr bwMode="auto">
          <a:xfrm>
            <a:off x="190537" y="2057400"/>
            <a:ext cx="70246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sz="2000" dirty="0"/>
              <a:t>O método secante também pode ser derivado da geometria:</a:t>
            </a:r>
          </a:p>
        </p:txBody>
      </p:sp>
      <p:sp>
        <p:nvSpPr>
          <p:cNvPr id="2068" name="Text Box 8"/>
          <p:cNvSpPr txBox="1">
            <a:spLocks noChangeArrowheads="1"/>
          </p:cNvSpPr>
          <p:nvPr/>
        </p:nvSpPr>
        <p:spPr bwMode="auto">
          <a:xfrm>
            <a:off x="4340053" y="3505200"/>
            <a:ext cx="29054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2000" dirty="0" smtClean="0"/>
              <a:t>E </a:t>
            </a:r>
            <a:r>
              <a:rPr lang="en-US" sz="2000" dirty="0" err="1" smtClean="0"/>
              <a:t>pode</a:t>
            </a:r>
            <a:r>
              <a:rPr lang="en-US" sz="2000" dirty="0" smtClean="0"/>
              <a:t> </a:t>
            </a:r>
            <a:r>
              <a:rPr lang="en-US" sz="2000" dirty="0" err="1" smtClean="0"/>
              <a:t>ser</a:t>
            </a:r>
            <a:r>
              <a:rPr lang="en-US" sz="2000" dirty="0" smtClean="0"/>
              <a:t> </a:t>
            </a:r>
            <a:r>
              <a:rPr lang="en-US" sz="2000" dirty="0" err="1" smtClean="0"/>
              <a:t>escrito</a:t>
            </a:r>
            <a:r>
              <a:rPr lang="en-US" sz="2000" dirty="0" smtClean="0"/>
              <a:t> </a:t>
            </a:r>
            <a:r>
              <a:rPr lang="en-US" sz="2000" dirty="0" err="1" smtClean="0"/>
              <a:t>como</a:t>
            </a:r>
            <a:endParaRPr lang="en-US" sz="2000" dirty="0"/>
          </a:p>
        </p:txBody>
      </p:sp>
      <p:sp>
        <p:nvSpPr>
          <p:cNvPr id="2069" name="Text Box 8"/>
          <p:cNvSpPr txBox="1">
            <a:spLocks noChangeArrowheads="1"/>
          </p:cNvSpPr>
          <p:nvPr/>
        </p:nvSpPr>
        <p:spPr bwMode="auto">
          <a:xfrm>
            <a:off x="4800600" y="4724400"/>
            <a:ext cx="3962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en-US" sz="2000" dirty="0" err="1" smtClean="0"/>
              <a:t>Rearanjando</a:t>
            </a:r>
            <a:r>
              <a:rPr lang="en-US" sz="2000" dirty="0" smtClean="0"/>
              <a:t>, o </a:t>
            </a:r>
            <a:r>
              <a:rPr lang="en-US" sz="2000" dirty="0" err="1" smtClean="0"/>
              <a:t>método</a:t>
            </a:r>
            <a:r>
              <a:rPr lang="en-US" sz="2000" dirty="0" smtClean="0"/>
              <a:t> da </a:t>
            </a:r>
            <a:r>
              <a:rPr lang="en-US" sz="2000" dirty="0" err="1" smtClean="0"/>
              <a:t>secante</a:t>
            </a:r>
            <a:r>
              <a:rPr lang="en-US" sz="2000" dirty="0" smtClean="0"/>
              <a:t> </a:t>
            </a:r>
            <a:r>
              <a:rPr lang="en-US" sz="2000" dirty="0" err="1" smtClean="0"/>
              <a:t>torna</a:t>
            </a:r>
            <a:r>
              <a:rPr lang="en-US" sz="2000" dirty="0" smtClean="0"/>
              <a:t>-se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0"/>
            <a:ext cx="7793038" cy="1143000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Algoritmo para </a:t>
            </a:r>
            <a:r>
              <a:rPr lang="pt-BR" b="1" dirty="0" smtClean="0"/>
              <a:t>o Método da Secante</a:t>
            </a:r>
            <a:endParaRPr lang="pt-BR" b="1" dirty="0"/>
          </a:p>
        </p:txBody>
      </p:sp>
      <p:sp>
        <p:nvSpPr>
          <p:cNvPr id="4403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BC14FA1-23C6-450A-B8A3-FE4C390A8501}" type="slidenum">
              <a:rPr lang="en-US" sz="1400"/>
              <a:pPr eaLnBrk="1" hangingPunct="1"/>
              <a:t>4</a:t>
            </a:fld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Passo</a:t>
            </a:r>
            <a:r>
              <a:rPr lang="en-US" b="1" dirty="0"/>
              <a:t> 1</a:t>
            </a:r>
          </a:p>
        </p:txBody>
      </p:sp>
      <p:sp>
        <p:nvSpPr>
          <p:cNvPr id="307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6CE2BF0-F43D-4A0F-A0C9-97D1CF960E35}" type="slidenum">
              <a:rPr lang="en-US" sz="1400"/>
              <a:pPr eaLnBrk="1" hangingPunct="1"/>
              <a:t>5</a:t>
            </a:fld>
            <a:endParaRPr lang="en-US" sz="1400"/>
          </a:p>
        </p:txBody>
      </p:sp>
      <p:sp>
        <p:nvSpPr>
          <p:cNvPr id="3079" name="Rectangle 3"/>
          <p:cNvSpPr>
            <a:spLocks noChangeArrowheads="1"/>
          </p:cNvSpPr>
          <p:nvPr/>
        </p:nvSpPr>
        <p:spPr bwMode="auto">
          <a:xfrm>
            <a:off x="4043363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3080" name="Rectangle 4"/>
          <p:cNvSpPr>
            <a:spLocks noChangeArrowheads="1"/>
          </p:cNvSpPr>
          <p:nvPr/>
        </p:nvSpPr>
        <p:spPr bwMode="auto">
          <a:xfrm>
            <a:off x="392430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3048000" y="4419600"/>
          <a:ext cx="2954338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Equation" r:id="rId4" imgW="1320480" imgH="482400" progId="Equation.3">
                  <p:embed/>
                </p:oleObj>
              </mc:Choice>
              <mc:Fallback>
                <p:oleObj name="Equation" r:id="rId4" imgW="1320480" imgH="482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954338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Text Box 6"/>
          <p:cNvSpPr txBox="1">
            <a:spLocks noChangeArrowheads="1"/>
          </p:cNvSpPr>
          <p:nvPr/>
        </p:nvSpPr>
        <p:spPr bwMode="auto">
          <a:xfrm>
            <a:off x="592597" y="2133600"/>
            <a:ext cx="82112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sz="2000" dirty="0"/>
              <a:t>Calcule a próxima estimativa da raiz a partir de duas </a:t>
            </a:r>
            <a:r>
              <a:rPr lang="pt-BR" sz="2000" dirty="0" smtClean="0"/>
              <a:t>estimativas iniciais</a:t>
            </a:r>
            <a:endParaRPr lang="pt-BR" sz="2000" dirty="0"/>
          </a:p>
        </p:txBody>
      </p:sp>
      <p:sp>
        <p:nvSpPr>
          <p:cNvPr id="3082" name="Text Box 7"/>
          <p:cNvSpPr txBox="1">
            <a:spLocks noChangeArrowheads="1"/>
          </p:cNvSpPr>
          <p:nvPr/>
        </p:nvSpPr>
        <p:spPr bwMode="auto">
          <a:xfrm>
            <a:off x="1344024" y="3810000"/>
            <a:ext cx="63067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dirty="0"/>
              <a:t>Encontre o erro aproximado relativo absoluto</a:t>
            </a:r>
          </a:p>
        </p:txBody>
      </p:sp>
      <p:sp>
        <p:nvSpPr>
          <p:cNvPr id="3083" name="Rectangle 8"/>
          <p:cNvSpPr>
            <a:spLocks noChangeArrowheads="1"/>
          </p:cNvSpPr>
          <p:nvPr/>
        </p:nvSpPr>
        <p:spPr bwMode="auto">
          <a:xfrm>
            <a:off x="3752850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3075" name="Object 9"/>
          <p:cNvGraphicFramePr>
            <a:graphicFrameLocks noChangeAspect="1"/>
          </p:cNvGraphicFramePr>
          <p:nvPr/>
        </p:nvGraphicFramePr>
        <p:xfrm>
          <a:off x="2590800" y="2667000"/>
          <a:ext cx="3744913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Equation" r:id="rId6" imgW="1650960" imgH="444240" progId="Equation.3">
                  <p:embed/>
                </p:oleObj>
              </mc:Choice>
              <mc:Fallback>
                <p:oleObj name="Equation" r:id="rId6" imgW="1650960" imgH="444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667000"/>
                        <a:ext cx="3744913" cy="1014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Passo</a:t>
            </a:r>
            <a:r>
              <a:rPr lang="en-US" b="1" dirty="0"/>
              <a:t> 2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914400" y="2286000"/>
            <a:ext cx="7848600" cy="2667000"/>
          </a:xfrm>
        </p:spPr>
        <p:txBody>
          <a:bodyPr>
            <a:normAutofit fontScale="85000" lnSpcReduction="20000"/>
          </a:bodyPr>
          <a:lstStyle/>
          <a:p>
            <a:r>
              <a:rPr lang="pt-BR" sz="2400" dirty="0" smtClean="0"/>
              <a:t>Descubra </a:t>
            </a:r>
            <a:r>
              <a:rPr lang="pt-BR" sz="2400" dirty="0"/>
              <a:t>se o erro </a:t>
            </a:r>
            <a:r>
              <a:rPr lang="pt-BR" sz="2400" dirty="0" smtClean="0"/>
              <a:t>relativo </a:t>
            </a:r>
            <a:r>
              <a:rPr lang="pt-BR" sz="2400" dirty="0"/>
              <a:t>absoluto é maior do que a tolerância de erro relativo </a:t>
            </a:r>
            <a:r>
              <a:rPr lang="pt-BR" sz="2400" dirty="0" err="1"/>
              <a:t>pré</a:t>
            </a:r>
            <a:r>
              <a:rPr lang="pt-BR" sz="2400" dirty="0"/>
              <a:t>-especificado</a:t>
            </a:r>
            <a:r>
              <a:rPr lang="pt-BR" sz="2400" dirty="0" smtClean="0"/>
              <a:t>.</a:t>
            </a:r>
          </a:p>
          <a:p>
            <a:endParaRPr lang="pt-BR" sz="2400" dirty="0"/>
          </a:p>
          <a:p>
            <a:r>
              <a:rPr lang="pt-BR" sz="2400" dirty="0"/>
              <a:t>Em caso afirmativo, volte para a etapa 1, caso contrário, pare o algoritmo</a:t>
            </a:r>
            <a:r>
              <a:rPr lang="pt-BR" sz="2400" dirty="0" smtClean="0"/>
              <a:t>.</a:t>
            </a:r>
          </a:p>
          <a:p>
            <a:endParaRPr lang="pt-BR" sz="2400" dirty="0"/>
          </a:p>
          <a:p>
            <a:r>
              <a:rPr lang="pt-BR" sz="2400" dirty="0"/>
              <a:t>Verifique também se o número de iterações excedeu o número máximo de iterações.</a:t>
            </a:r>
          </a:p>
        </p:txBody>
      </p:sp>
      <p:sp>
        <p:nvSpPr>
          <p:cNvPr id="4505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1FA93C4-D3FF-4CF7-99F4-D8C3E347F92C}" type="slidenum">
              <a:rPr lang="en-US" sz="1400"/>
              <a:pPr eaLnBrk="1" hangingPunct="1"/>
              <a:t>6</a:t>
            </a:fld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 1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09600" y="1981200"/>
            <a:ext cx="8229600" cy="1828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pt-BR" sz="2400" dirty="0" smtClean="0"/>
              <a:t>Na figura abaixo, </a:t>
            </a:r>
            <a:r>
              <a:rPr lang="pt-BR" sz="2400" dirty="0"/>
              <a:t>a</a:t>
            </a:r>
            <a:r>
              <a:rPr lang="pt-BR" sz="2400" dirty="0" smtClean="0"/>
              <a:t> </a:t>
            </a:r>
            <a:r>
              <a:rPr lang="pt-BR" sz="2400" dirty="0"/>
              <a:t>bola </a:t>
            </a:r>
            <a:r>
              <a:rPr lang="pt-BR" sz="2400" dirty="0" smtClean="0"/>
              <a:t>flutuante </a:t>
            </a:r>
            <a:r>
              <a:rPr lang="pt-BR" sz="2400" dirty="0"/>
              <a:t>tem gravidade específica de 0,6 e raio de 5,5 cm. </a:t>
            </a:r>
            <a:r>
              <a:rPr lang="pt-BR" sz="2400" dirty="0" smtClean="0"/>
              <a:t>Queremos encontrar </a:t>
            </a:r>
            <a:r>
              <a:rPr lang="pt-BR" sz="2400" dirty="0"/>
              <a:t>a profundidade em que a bola está submersa ao flutuar na água.</a:t>
            </a:r>
          </a:p>
          <a:p>
            <a:pPr>
              <a:lnSpc>
                <a:spcPct val="90000"/>
              </a:lnSpc>
              <a:defRPr/>
            </a:pPr>
            <a:endParaRPr lang="en-US" sz="2400" dirty="0" smtClean="0"/>
          </a:p>
        </p:txBody>
      </p:sp>
      <p:sp>
        <p:nvSpPr>
          <p:cNvPr id="5120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08C2D6-86F2-404A-B88E-31B6277FB8D4}" type="slidenum">
              <a:rPr 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sz="1400"/>
          </a:p>
        </p:txBody>
      </p:sp>
      <p:sp>
        <p:nvSpPr>
          <p:cNvPr id="51205" name="Rectangle 4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sz="2400"/>
          </a:p>
        </p:txBody>
      </p:sp>
      <p:graphicFrame>
        <p:nvGraphicFramePr>
          <p:cNvPr id="51206" name="Object 5"/>
          <p:cNvGraphicFramePr>
            <a:graphicFrameLocks noChangeAspect="1"/>
          </p:cNvGraphicFramePr>
          <p:nvPr/>
        </p:nvGraphicFramePr>
        <p:xfrm>
          <a:off x="3048000" y="3810000"/>
          <a:ext cx="3124200" cy="248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29" name="Bitmap Image" r:id="rId4" imgW="3685714" imgH="2572109" progId="Paint.Picture">
                  <p:embed/>
                </p:oleObj>
              </mc:Choice>
              <mc:Fallback>
                <p:oleObj name="Bitmap Image" r:id="rId4" imgW="3685714" imgH="257210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810000"/>
                        <a:ext cx="3124200" cy="248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7" name="TextBox 7"/>
          <p:cNvSpPr txBox="1">
            <a:spLocks noChangeArrowheads="1"/>
          </p:cNvSpPr>
          <p:nvPr/>
        </p:nvSpPr>
        <p:spPr bwMode="auto">
          <a:xfrm>
            <a:off x="1752600" y="6249988"/>
            <a:ext cx="5257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900" b="1"/>
              <a:t>Figura 6</a:t>
            </a:r>
            <a:r>
              <a:rPr lang="en-US" sz="1900"/>
              <a:t> </a:t>
            </a:r>
            <a:r>
              <a:rPr lang="pt-BR" sz="2000"/>
              <a:t>Diagrama da bola flutuante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67272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Exemplo</a:t>
            </a:r>
            <a:r>
              <a:rPr lang="en-US" b="1" dirty="0" smtClean="0"/>
              <a:t> </a:t>
            </a:r>
            <a:r>
              <a:rPr lang="en-US" b="1" dirty="0"/>
              <a:t>1 Cont.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09600" y="1981200"/>
            <a:ext cx="8229600" cy="4343400"/>
          </a:xfrm>
        </p:spPr>
        <p:txBody>
          <a:bodyPr>
            <a:normAutofit lnSpcReduction="1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pt-BR" sz="2400" dirty="0" smtClean="0"/>
              <a:t>A </a:t>
            </a:r>
            <a:r>
              <a:rPr lang="pt-BR" sz="2400" dirty="0"/>
              <a:t>equação que dá a profundidade </a:t>
            </a:r>
            <a:r>
              <a:rPr lang="pt-BR" sz="2400" i="1" dirty="0"/>
              <a:t>x</a:t>
            </a:r>
            <a:r>
              <a:rPr lang="pt-BR" sz="2400" dirty="0"/>
              <a:t> à qual a bola está submersa na água é dada por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 smtClean="0"/>
              <a:t>	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240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pt-BR" sz="2400" dirty="0"/>
              <a:t>a) Use o método da </a:t>
            </a:r>
            <a:r>
              <a:rPr lang="pt-BR" sz="2400" dirty="0" smtClean="0"/>
              <a:t>secante para </a:t>
            </a:r>
            <a:r>
              <a:rPr lang="pt-BR" sz="2400" dirty="0"/>
              <a:t>encontrar as raízes das equações para encontrar a profundidade </a:t>
            </a:r>
            <a:r>
              <a:rPr lang="pt-BR" sz="2400" i="1" dirty="0"/>
              <a:t>x</a:t>
            </a:r>
            <a:r>
              <a:rPr lang="pt-BR" sz="2400" dirty="0"/>
              <a:t> </a:t>
            </a:r>
            <a:r>
              <a:rPr lang="pt-BR" sz="2400" dirty="0" smtClean="0"/>
              <a:t>a </a:t>
            </a:r>
            <a:r>
              <a:rPr lang="pt-BR" sz="2400" dirty="0"/>
              <a:t>qual a bola está </a:t>
            </a:r>
            <a:r>
              <a:rPr lang="pt-BR" sz="2400" dirty="0" smtClean="0"/>
              <a:t>submersa.</a:t>
            </a:r>
            <a:r>
              <a:rPr lang="pt-BR" sz="2400" dirty="0"/>
              <a:t> </a:t>
            </a:r>
            <a:r>
              <a:rPr lang="pt-BR" sz="2400" dirty="0"/>
              <a:t>Faça três iterações para estimar a raiz da equação acima.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pt-BR" sz="2400" dirty="0"/>
              <a:t>b) Encontre o erro absoluto relativo </a:t>
            </a:r>
            <a:r>
              <a:rPr lang="pt-BR" sz="2400" dirty="0" smtClean="0"/>
              <a:t>no </a:t>
            </a:r>
            <a:r>
              <a:rPr lang="pt-BR" sz="2400" dirty="0"/>
              <a:t>final de cada iteração, e o número de dígitos significativos pelo menos corretos no final de cada iteração.</a:t>
            </a:r>
          </a:p>
        </p:txBody>
      </p:sp>
      <p:sp>
        <p:nvSpPr>
          <p:cNvPr id="5325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AD3059-3272-430F-89C8-66D9BA257DC8}" type="slidenum">
              <a:rPr 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sz="1400"/>
          </a:p>
        </p:txBody>
      </p:sp>
      <p:sp>
        <p:nvSpPr>
          <p:cNvPr id="53253" name="Rectangle 4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sz="2400"/>
          </a:p>
        </p:txBody>
      </p:sp>
      <p:graphicFrame>
        <p:nvGraphicFramePr>
          <p:cNvPr id="53254" name="Object 3"/>
          <p:cNvGraphicFramePr>
            <a:graphicFrameLocks noChangeAspect="1"/>
          </p:cNvGraphicFramePr>
          <p:nvPr/>
        </p:nvGraphicFramePr>
        <p:xfrm>
          <a:off x="2743200" y="2895600"/>
          <a:ext cx="35242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53" name="Equation" r:id="rId4" imgW="1879600" imgH="203200" progId="Equation.3">
                  <p:embed/>
                </p:oleObj>
              </mc:Choice>
              <mc:Fallback>
                <p:oleObj name="Equation" r:id="rId4" imgW="18796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895600"/>
                        <a:ext cx="35242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821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981200"/>
            <a:ext cx="8305800" cy="1752600"/>
          </a:xfrm>
        </p:spPr>
        <p:txBody>
          <a:bodyPr>
            <a:normAutofit lnSpcReduction="1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pt-BR" sz="2400" dirty="0"/>
              <a:t>Pela física do problema, a bola estaria submersa entre </a:t>
            </a:r>
            <a:r>
              <a:rPr lang="pt-BR" sz="2400" i="1" dirty="0"/>
              <a:t>x</a:t>
            </a:r>
            <a:r>
              <a:rPr lang="pt-BR" sz="2400" dirty="0"/>
              <a:t> = 0 e </a:t>
            </a:r>
            <a:r>
              <a:rPr lang="pt-BR" sz="2400" i="1" dirty="0"/>
              <a:t>x</a:t>
            </a:r>
            <a:r>
              <a:rPr lang="pt-BR" sz="2400" dirty="0"/>
              <a:t> = </a:t>
            </a:r>
            <a:r>
              <a:rPr lang="pt-BR" sz="2400" dirty="0" smtClean="0"/>
              <a:t>2</a:t>
            </a:r>
            <a:r>
              <a:rPr lang="pt-BR" sz="2400" i="1" dirty="0" smtClean="0"/>
              <a:t>R</a:t>
            </a:r>
            <a:r>
              <a:rPr lang="pt-BR" sz="2400" dirty="0" smtClean="0"/>
              <a:t>,</a:t>
            </a:r>
            <a:endParaRPr lang="pt-BR" sz="2400" dirty="0"/>
          </a:p>
          <a:p>
            <a:pPr>
              <a:defRPr/>
            </a:pPr>
            <a:r>
              <a:rPr lang="pt-BR" sz="2400" dirty="0"/>
              <a:t>onde </a:t>
            </a:r>
            <a:r>
              <a:rPr lang="pt-BR" sz="2400" i="1" dirty="0"/>
              <a:t>R</a:t>
            </a:r>
            <a:r>
              <a:rPr lang="pt-BR" sz="2400" dirty="0"/>
              <a:t> = raio da bola,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400" dirty="0" smtClean="0">
                <a:cs typeface="Times New Roman" panose="02020603050405020304" pitchFamily="18" charset="0"/>
              </a:rPr>
              <a:t>	</a:t>
            </a:r>
            <a:r>
              <a:rPr lang="en-US" sz="2400" dirty="0" err="1" smtClean="0">
                <a:cs typeface="Times New Roman" panose="02020603050405020304" pitchFamily="18" charset="0"/>
              </a:rPr>
              <a:t>tal</a:t>
            </a:r>
            <a:r>
              <a:rPr lang="en-US" sz="2400" dirty="0" smtClean="0"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cs typeface="Times New Roman" panose="02020603050405020304" pitchFamily="18" charset="0"/>
              </a:rPr>
              <a:t>que</a:t>
            </a:r>
            <a:endParaRPr lang="en-US" sz="2400" i="1" dirty="0" smtClean="0"/>
          </a:p>
        </p:txBody>
      </p:sp>
      <p:sp>
        <p:nvSpPr>
          <p:cNvPr id="5529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CF3E83-89D7-4609-8DAB-F4B05A8EAABA}" type="slidenum">
              <a:rPr 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sz="1400"/>
          </a:p>
        </p:txBody>
      </p:sp>
      <p:sp>
        <p:nvSpPr>
          <p:cNvPr id="55302" name="Rectangle 5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sz="2400"/>
          </a:p>
        </p:txBody>
      </p:sp>
      <p:graphicFrame>
        <p:nvGraphicFramePr>
          <p:cNvPr id="55303" name="Object 8"/>
          <p:cNvGraphicFramePr>
            <a:graphicFrameLocks noChangeAspect="1"/>
          </p:cNvGraphicFramePr>
          <p:nvPr/>
        </p:nvGraphicFramePr>
        <p:xfrm>
          <a:off x="1676400" y="3810000"/>
          <a:ext cx="1981200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80" name="Equation" r:id="rId4" imgW="1002865" imgH="634725" progId="Equation.3">
                  <p:embed/>
                </p:oleObj>
              </mc:Choice>
              <mc:Fallback>
                <p:oleObj name="Equation" r:id="rId4" imgW="1002865" imgH="6347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810000"/>
                        <a:ext cx="1981200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9"/>
          <p:cNvGraphicFramePr>
            <a:graphicFrameLocks noChangeAspect="1"/>
          </p:cNvGraphicFramePr>
          <p:nvPr/>
        </p:nvGraphicFramePr>
        <p:xfrm>
          <a:off x="3962400" y="3429000"/>
          <a:ext cx="3124200" cy="248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81" name="Bitmap Image" r:id="rId6" imgW="3685714" imgH="2572109" progId="Paint.Picture">
                  <p:embed/>
                </p:oleObj>
              </mc:Choice>
              <mc:Fallback>
                <p:oleObj name="Bitmap Image" r:id="rId6" imgW="3685714" imgH="257210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429000"/>
                        <a:ext cx="3124200" cy="248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5" name="TextBox 12"/>
          <p:cNvSpPr txBox="1">
            <a:spLocks noChangeArrowheads="1"/>
          </p:cNvSpPr>
          <p:nvPr/>
        </p:nvSpPr>
        <p:spPr bwMode="auto">
          <a:xfrm>
            <a:off x="2895600" y="5867400"/>
            <a:ext cx="52578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900" b="1"/>
              <a:t>Figure 6</a:t>
            </a:r>
            <a:r>
              <a:rPr lang="en-US" sz="1900"/>
              <a:t> Diagram of the floating ball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Exemplo</a:t>
            </a:r>
            <a:r>
              <a:rPr lang="en-US" b="1" dirty="0" smtClean="0"/>
              <a:t> </a:t>
            </a:r>
            <a:r>
              <a:rPr lang="en-US" b="1" dirty="0"/>
              <a:t>1 Cont.</a:t>
            </a:r>
          </a:p>
        </p:txBody>
      </p:sp>
    </p:spTree>
    <p:extLst>
      <p:ext uri="{BB962C8B-B14F-4D97-AF65-F5344CB8AC3E}">
        <p14:creationId xmlns:p14="http://schemas.microsoft.com/office/powerpoint/2010/main" val="341679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Box 11"/>
          <p:cNvSpPr txBox="1">
            <a:spLocks noChangeArrowheads="1"/>
          </p:cNvSpPr>
          <p:nvPr/>
        </p:nvSpPr>
        <p:spPr bwMode="auto">
          <a:xfrm>
            <a:off x="266700" y="2514600"/>
            <a:ext cx="41148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sz="2400"/>
              <a:t>Para ajudar na compreensão de como este método funciona para encontrar a raiz de uma equação, o gráfico de f (x) é mostrado à direita, Onde:</a:t>
            </a:r>
          </a:p>
        </p:txBody>
      </p:sp>
      <p:pic>
        <p:nvPicPr>
          <p:cNvPr id="57351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25" y="2133600"/>
            <a:ext cx="3778250" cy="3778250"/>
          </a:xfrm>
          <a:noFill/>
        </p:spPr>
      </p:pic>
      <p:sp>
        <p:nvSpPr>
          <p:cNvPr id="573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49D064-113D-40E7-BD9A-0139812F5D7B}" type="slidenum">
              <a:rPr 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sz="1400"/>
          </a:p>
        </p:txBody>
      </p:sp>
      <p:graphicFrame>
        <p:nvGraphicFramePr>
          <p:cNvPr id="57349" name="Object 4"/>
          <p:cNvGraphicFramePr>
            <a:graphicFrameLocks noChangeAspect="1"/>
          </p:cNvGraphicFramePr>
          <p:nvPr/>
        </p:nvGraphicFramePr>
        <p:xfrm>
          <a:off x="228600" y="4953000"/>
          <a:ext cx="41910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4" name="Equation" r:id="rId5" imgW="2006600" imgH="228600" progId="Equation.3">
                  <p:embed/>
                </p:oleObj>
              </mc:Choice>
              <mc:Fallback>
                <p:oleObj name="Equation" r:id="rId5" imgW="2006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953000"/>
                        <a:ext cx="41910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5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5" name="Equation" r:id="rId7" imgW="114151" imgH="215619" progId="Equation.3">
                  <p:embed/>
                </p:oleObj>
              </mc:Choice>
              <mc:Fallback>
                <p:oleObj name="Equation" r:id="rId7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2" name="TextBox 8"/>
          <p:cNvSpPr txBox="1">
            <a:spLocks noChangeArrowheads="1"/>
          </p:cNvSpPr>
          <p:nvPr/>
        </p:nvSpPr>
        <p:spPr bwMode="auto">
          <a:xfrm>
            <a:off x="4343400" y="6096000"/>
            <a:ext cx="4800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900" b="1"/>
              <a:t>Figure 7 </a:t>
            </a:r>
            <a:r>
              <a:rPr lang="en-US" sz="1900"/>
              <a:t>grafico da função f(x) </a:t>
            </a:r>
          </a:p>
        </p:txBody>
      </p:sp>
      <p:sp>
        <p:nvSpPr>
          <p:cNvPr id="57353" name="TextBox 12"/>
          <p:cNvSpPr txBox="1">
            <a:spLocks noChangeArrowheads="1"/>
          </p:cNvSpPr>
          <p:nvPr/>
        </p:nvSpPr>
        <p:spPr bwMode="auto">
          <a:xfrm>
            <a:off x="381000" y="1981200"/>
            <a:ext cx="2514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900" b="1"/>
              <a:t>Solution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Exemplo</a:t>
            </a:r>
            <a:r>
              <a:rPr lang="en-US" b="1" dirty="0" smtClean="0"/>
              <a:t> </a:t>
            </a:r>
            <a:r>
              <a:rPr lang="en-US" b="1" dirty="0"/>
              <a:t>1 Cont.</a:t>
            </a:r>
          </a:p>
        </p:txBody>
      </p:sp>
    </p:spTree>
    <p:extLst>
      <p:ext uri="{BB962C8B-B14F-4D97-AF65-F5344CB8AC3E}">
        <p14:creationId xmlns:p14="http://schemas.microsoft.com/office/powerpoint/2010/main" val="1984345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B53F56A-50CE-42E5-9BAE-D58F1863D3A1}" type="slidenum">
              <a:rPr lang="en-US" sz="1400"/>
              <a:pPr eaLnBrk="1" hangingPunct="1"/>
              <a:t>11</a:t>
            </a:fld>
            <a:endParaRPr lang="en-US" sz="1400"/>
          </a:p>
        </p:txBody>
      </p:sp>
      <p:sp>
        <p:nvSpPr>
          <p:cNvPr id="7177" name="Rectangle 6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7178" name="Text Box 9"/>
          <p:cNvSpPr txBox="1">
            <a:spLocks noChangeArrowheads="1"/>
          </p:cNvSpPr>
          <p:nvPr/>
        </p:nvSpPr>
        <p:spPr bwMode="auto">
          <a:xfrm>
            <a:off x="5280025" y="2286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pt-BR"/>
          </a:p>
        </p:txBody>
      </p:sp>
      <p:sp>
        <p:nvSpPr>
          <p:cNvPr id="7179" name="TextBox 9"/>
          <p:cNvSpPr txBox="1">
            <a:spLocks noChangeArrowheads="1"/>
          </p:cNvSpPr>
          <p:nvPr/>
        </p:nvSpPr>
        <p:spPr bwMode="auto">
          <a:xfrm>
            <a:off x="838200" y="2057400"/>
            <a:ext cx="73914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sz="2000" dirty="0"/>
              <a:t>Vamos supor as suposições iniciais da raiz de</a:t>
            </a:r>
          </a:p>
          <a:p>
            <a:pPr algn="l" eaLnBrk="1" hangingPunct="1"/>
            <a:r>
              <a:rPr lang="en-US" sz="2200" dirty="0" smtClean="0"/>
              <a:t> </a:t>
            </a:r>
            <a:r>
              <a:rPr lang="en-US" sz="2200" dirty="0" err="1" smtClean="0"/>
              <a:t>como</a:t>
            </a:r>
            <a:r>
              <a:rPr lang="en-US" sz="2200" dirty="0" smtClean="0"/>
              <a:t>                    e              </a:t>
            </a:r>
            <a:endParaRPr lang="en-US" sz="2200" dirty="0"/>
          </a:p>
        </p:txBody>
      </p:sp>
      <p:graphicFrame>
        <p:nvGraphicFramePr>
          <p:cNvPr id="71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4514792"/>
              </p:ext>
            </p:extLst>
          </p:nvPr>
        </p:nvGraphicFramePr>
        <p:xfrm>
          <a:off x="6053708" y="2047026"/>
          <a:ext cx="9906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" name="Equation" r:id="rId4" imgW="545760" imgH="215640" progId="Equation.3">
                  <p:embed/>
                </p:oleObj>
              </mc:Choice>
              <mc:Fallback>
                <p:oleObj name="Equation" r:id="rId4" imgW="545760" imgH="215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3708" y="2047026"/>
                        <a:ext cx="9906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963555"/>
              </p:ext>
            </p:extLst>
          </p:nvPr>
        </p:nvGraphicFramePr>
        <p:xfrm>
          <a:off x="1789906" y="2362200"/>
          <a:ext cx="14366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2" name="Equation" r:id="rId6" imgW="711000" imgH="215640" progId="Equation.3">
                  <p:embed/>
                </p:oleObj>
              </mc:Choice>
              <mc:Fallback>
                <p:oleObj name="Equation" r:id="rId6" imgW="711000" imgH="215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906" y="2362200"/>
                        <a:ext cx="14366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0" name="TextBox 12"/>
          <p:cNvSpPr txBox="1">
            <a:spLocks noChangeArrowheads="1"/>
          </p:cNvSpPr>
          <p:nvPr/>
        </p:nvSpPr>
        <p:spPr bwMode="auto">
          <a:xfrm>
            <a:off x="856695" y="3050381"/>
            <a:ext cx="3886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sz="2000" u="sng" dirty="0"/>
              <a:t>Iteração 1</a:t>
            </a:r>
            <a:endParaRPr lang="pt-BR" sz="2000" dirty="0"/>
          </a:p>
          <a:p>
            <a:pPr algn="l"/>
            <a:r>
              <a:rPr lang="pt-BR" sz="2000" dirty="0"/>
              <a:t>A estimativa da raiz é</a:t>
            </a:r>
          </a:p>
        </p:txBody>
      </p:sp>
      <p:graphicFrame>
        <p:nvGraphicFramePr>
          <p:cNvPr id="717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222104"/>
              </p:ext>
            </p:extLst>
          </p:nvPr>
        </p:nvGraphicFramePr>
        <p:xfrm>
          <a:off x="207169" y="4039957"/>
          <a:ext cx="89154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3" name="Equation" r:id="rId8" imgW="5143320" imgH="1104840" progId="Equation.3">
                  <p:embed/>
                </p:oleObj>
              </mc:Choice>
              <mc:Fallback>
                <p:oleObj name="Equation" r:id="rId8" imgW="5143320" imgH="11048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9" y="4039957"/>
                        <a:ext cx="89154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060432"/>
              </p:ext>
            </p:extLst>
          </p:nvPr>
        </p:nvGraphicFramePr>
        <p:xfrm>
          <a:off x="3972719" y="2362200"/>
          <a:ext cx="13843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4" name="Equation" r:id="rId10" imgW="634680" imgH="228600" progId="Equation.3">
                  <p:embed/>
                </p:oleObj>
              </mc:Choice>
              <mc:Fallback>
                <p:oleObj name="Equation" r:id="rId10" imgW="63468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2719" y="2362200"/>
                        <a:ext cx="13843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Exemplo</a:t>
            </a:r>
            <a:r>
              <a:rPr lang="en-US" b="1" dirty="0" smtClean="0"/>
              <a:t> </a:t>
            </a:r>
            <a:r>
              <a:rPr lang="en-US" b="1" dirty="0"/>
              <a:t>1 Cont.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BA01BF6-73A6-488D-BD5A-23E434F5493A}" type="slidenum">
              <a:rPr lang="en-US" sz="1400"/>
              <a:pPr eaLnBrk="1" hangingPunct="1"/>
              <a:t>12</a:t>
            </a:fld>
            <a:endParaRPr lang="en-US" sz="1400"/>
          </a:p>
        </p:txBody>
      </p:sp>
      <p:sp>
        <p:nvSpPr>
          <p:cNvPr id="8199" name="Rectangle 6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8200" name="Text Box 9"/>
          <p:cNvSpPr txBox="1">
            <a:spLocks noChangeArrowheads="1"/>
          </p:cNvSpPr>
          <p:nvPr/>
        </p:nvSpPr>
        <p:spPr bwMode="auto">
          <a:xfrm>
            <a:off x="5280025" y="2286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pt-BR"/>
          </a:p>
        </p:txBody>
      </p:sp>
      <p:sp>
        <p:nvSpPr>
          <p:cNvPr id="8201" name="TextBox 12"/>
          <p:cNvSpPr txBox="1">
            <a:spLocks noChangeArrowheads="1"/>
          </p:cNvSpPr>
          <p:nvPr/>
        </p:nvSpPr>
        <p:spPr bwMode="auto">
          <a:xfrm>
            <a:off x="838200" y="2057400"/>
            <a:ext cx="7620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sz="2000" dirty="0"/>
              <a:t>O erro absoluto relativo aproximado </a:t>
            </a:r>
            <a:r>
              <a:rPr lang="pt-BR" sz="2000" dirty="0" smtClean="0"/>
              <a:t>       no </a:t>
            </a:r>
            <a:r>
              <a:rPr lang="pt-BR" sz="2000" dirty="0"/>
              <a:t>final da Iteração 1 é</a:t>
            </a:r>
          </a:p>
        </p:txBody>
      </p:sp>
      <p:graphicFrame>
        <p:nvGraphicFramePr>
          <p:cNvPr id="819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435228"/>
              </p:ext>
            </p:extLst>
          </p:nvPr>
        </p:nvGraphicFramePr>
        <p:xfrm>
          <a:off x="3200400" y="2638425"/>
          <a:ext cx="2895600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name="Equation" r:id="rId4" imgW="1663560" imgH="1130040" progId="Equation.3">
                  <p:embed/>
                </p:oleObj>
              </mc:Choice>
              <mc:Fallback>
                <p:oleObj name="Equation" r:id="rId4" imgW="1663560" imgH="11300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638425"/>
                        <a:ext cx="2895600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239409"/>
              </p:ext>
            </p:extLst>
          </p:nvPr>
        </p:nvGraphicFramePr>
        <p:xfrm>
          <a:off x="5047456" y="2057400"/>
          <a:ext cx="434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4" name="Equation" r:id="rId6" imgW="241200" imgH="253800" progId="Equation.3">
                  <p:embed/>
                </p:oleObj>
              </mc:Choice>
              <mc:Fallback>
                <p:oleObj name="Equation" r:id="rId6" imgW="241200" imgH="253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7456" y="2057400"/>
                        <a:ext cx="4349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TextBox 12"/>
          <p:cNvSpPr txBox="1">
            <a:spLocks noChangeArrowheads="1"/>
          </p:cNvSpPr>
          <p:nvPr/>
        </p:nvSpPr>
        <p:spPr bwMode="auto">
          <a:xfrm>
            <a:off x="914400" y="5105400"/>
            <a:ext cx="76200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sz="2000" dirty="0"/>
              <a:t>O número de dígitos significativos pelo menos correto é 0, pois você precisa de um erro absoluto relativo aproximado de 5% ou menos para que um dígito significativo esteja correto em seu resultado.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Exemplo</a:t>
            </a:r>
            <a:r>
              <a:rPr lang="en-US" b="1" dirty="0" smtClean="0"/>
              <a:t> </a:t>
            </a:r>
            <a:r>
              <a:rPr lang="en-US" b="1" dirty="0"/>
              <a:t>1 Cont.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5A7DB73-A9D5-4429-94C2-EA1A4130D3F9}" type="slidenum">
              <a:rPr lang="en-US" sz="1400"/>
              <a:pPr eaLnBrk="1" hangingPunct="1"/>
              <a:t>13</a:t>
            </a:fld>
            <a:endParaRPr lang="en-US" sz="1400"/>
          </a:p>
        </p:txBody>
      </p:sp>
      <p:sp>
        <p:nvSpPr>
          <p:cNvPr id="46085" name="Rectangle 6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46086" name="Text Box 9"/>
          <p:cNvSpPr txBox="1">
            <a:spLocks noChangeArrowheads="1"/>
          </p:cNvSpPr>
          <p:nvPr/>
        </p:nvSpPr>
        <p:spPr bwMode="auto">
          <a:xfrm>
            <a:off x="5280025" y="2286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pt-BR"/>
          </a:p>
        </p:txBody>
      </p:sp>
      <p:pic>
        <p:nvPicPr>
          <p:cNvPr id="46087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828800"/>
            <a:ext cx="4876800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8" name="Text Box 13"/>
          <p:cNvSpPr txBox="1">
            <a:spLocks noChangeArrowheads="1"/>
          </p:cNvSpPr>
          <p:nvPr/>
        </p:nvSpPr>
        <p:spPr bwMode="auto">
          <a:xfrm>
            <a:off x="2133600" y="6096000"/>
            <a:ext cx="5410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 b="1" dirty="0"/>
              <a:t>Figure 5</a:t>
            </a:r>
            <a:r>
              <a:rPr lang="en-US" sz="2000" dirty="0"/>
              <a:t> </a:t>
            </a:r>
            <a:r>
              <a:rPr lang="pt-BR" sz="2000" dirty="0"/>
              <a:t>Gráfico de resultados da Iteração 1.</a:t>
            </a:r>
            <a:endParaRPr lang="en-US" sz="2000" b="1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Exemplo</a:t>
            </a:r>
            <a:r>
              <a:rPr lang="en-US" b="1" dirty="0" smtClean="0"/>
              <a:t> </a:t>
            </a:r>
            <a:r>
              <a:rPr lang="en-US" b="1" dirty="0"/>
              <a:t>1 Cont.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27BCF3A-3512-484C-8A78-AA87205F7503}" type="slidenum">
              <a:rPr lang="en-US" sz="1400"/>
              <a:pPr eaLnBrk="1" hangingPunct="1"/>
              <a:t>14</a:t>
            </a:fld>
            <a:endParaRPr lang="en-US" sz="1400"/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9223" name="Text Box 9"/>
          <p:cNvSpPr txBox="1">
            <a:spLocks noChangeArrowheads="1"/>
          </p:cNvSpPr>
          <p:nvPr/>
        </p:nvSpPr>
        <p:spPr bwMode="auto">
          <a:xfrm>
            <a:off x="5280025" y="2286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pt-BR"/>
          </a:p>
        </p:txBody>
      </p:sp>
      <p:sp>
        <p:nvSpPr>
          <p:cNvPr id="9224" name="TextBox 12"/>
          <p:cNvSpPr txBox="1">
            <a:spLocks noChangeArrowheads="1"/>
          </p:cNvSpPr>
          <p:nvPr/>
        </p:nvSpPr>
        <p:spPr bwMode="auto">
          <a:xfrm>
            <a:off x="838200" y="2362200"/>
            <a:ext cx="3886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sz="2000" u="sng" dirty="0"/>
              <a:t>Iteração 2</a:t>
            </a:r>
            <a:endParaRPr lang="pt-BR" sz="2000" dirty="0"/>
          </a:p>
          <a:p>
            <a:pPr algn="l"/>
            <a:r>
              <a:rPr lang="pt-BR" sz="2000" dirty="0"/>
              <a:t>A estimativa da raiz é</a:t>
            </a:r>
          </a:p>
        </p:txBody>
      </p:sp>
      <p:graphicFrame>
        <p:nvGraphicFramePr>
          <p:cNvPr id="9218" name="Object 16"/>
          <p:cNvGraphicFramePr>
            <a:graphicFrameLocks noChangeAspect="1"/>
          </p:cNvGraphicFramePr>
          <p:nvPr/>
        </p:nvGraphicFramePr>
        <p:xfrm>
          <a:off x="304800" y="3352800"/>
          <a:ext cx="86106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Equation" r:id="rId4" imgW="5816520" imgH="1104840" progId="Equation.3">
                  <p:embed/>
                </p:oleObj>
              </mc:Choice>
              <mc:Fallback>
                <p:oleObj name="Equation" r:id="rId4" imgW="5816520" imgH="11048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352800"/>
                        <a:ext cx="86106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Exemplo</a:t>
            </a:r>
            <a:r>
              <a:rPr lang="en-US" b="1" dirty="0" smtClean="0"/>
              <a:t> </a:t>
            </a:r>
            <a:r>
              <a:rPr lang="en-US" b="1" dirty="0"/>
              <a:t>1 Cont.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5BFBF61-AEDE-41B2-9EAF-FD6B81085602}" type="slidenum">
              <a:rPr lang="en-US" sz="1400"/>
              <a:pPr eaLnBrk="1" hangingPunct="1"/>
              <a:t>15</a:t>
            </a:fld>
            <a:endParaRPr lang="en-US" sz="1400"/>
          </a:p>
        </p:txBody>
      </p:sp>
      <p:sp>
        <p:nvSpPr>
          <p:cNvPr id="10247" name="Rectangle 6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0248" name="Text Box 9"/>
          <p:cNvSpPr txBox="1">
            <a:spLocks noChangeArrowheads="1"/>
          </p:cNvSpPr>
          <p:nvPr/>
        </p:nvSpPr>
        <p:spPr bwMode="auto">
          <a:xfrm>
            <a:off x="5280025" y="2286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pt-BR"/>
          </a:p>
        </p:txBody>
      </p:sp>
      <p:sp>
        <p:nvSpPr>
          <p:cNvPr id="10249" name="TextBox 12"/>
          <p:cNvSpPr txBox="1">
            <a:spLocks noChangeArrowheads="1"/>
          </p:cNvSpPr>
          <p:nvPr/>
        </p:nvSpPr>
        <p:spPr bwMode="auto">
          <a:xfrm>
            <a:off x="838200" y="2057400"/>
            <a:ext cx="7620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sz="2000" dirty="0"/>
              <a:t>O erro absoluto relativo aproximado </a:t>
            </a:r>
            <a:r>
              <a:rPr lang="pt-BR" sz="2000" dirty="0" smtClean="0"/>
              <a:t>      no </a:t>
            </a:r>
            <a:r>
              <a:rPr lang="pt-BR" sz="2000" dirty="0"/>
              <a:t>final da Iteração 2 é</a:t>
            </a:r>
          </a:p>
        </p:txBody>
      </p:sp>
      <p:graphicFrame>
        <p:nvGraphicFramePr>
          <p:cNvPr id="10242" name="Object 16"/>
          <p:cNvGraphicFramePr>
            <a:graphicFrameLocks noChangeAspect="1"/>
          </p:cNvGraphicFramePr>
          <p:nvPr/>
        </p:nvGraphicFramePr>
        <p:xfrm>
          <a:off x="1325563" y="2819400"/>
          <a:ext cx="3294062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Equation" r:id="rId4" imgW="1892160" imgH="1130040" progId="Equation.3">
                  <p:embed/>
                </p:oleObj>
              </mc:Choice>
              <mc:Fallback>
                <p:oleObj name="Equation" r:id="rId4" imgW="1892160" imgH="11300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2819400"/>
                        <a:ext cx="3294062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382931"/>
              </p:ext>
            </p:extLst>
          </p:nvPr>
        </p:nvGraphicFramePr>
        <p:xfrm>
          <a:off x="5029200" y="2028855"/>
          <a:ext cx="434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name="Equation" r:id="rId6" imgW="241200" imgH="253800" progId="Equation.3">
                  <p:embed/>
                </p:oleObj>
              </mc:Choice>
              <mc:Fallback>
                <p:oleObj name="Equation" r:id="rId6" imgW="241200" imgH="253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028855"/>
                        <a:ext cx="4349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TextBox 12"/>
          <p:cNvSpPr txBox="1">
            <a:spLocks noChangeArrowheads="1"/>
          </p:cNvSpPr>
          <p:nvPr/>
        </p:nvSpPr>
        <p:spPr bwMode="auto">
          <a:xfrm>
            <a:off x="914400" y="5105400"/>
            <a:ext cx="7620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pt-BR" sz="2000" dirty="0"/>
              <a:t>O número de dígitos significativos pelo menos corretos é 1, pois você precisa de um erro absoluto relativo aproximado de 5% ou menos</a:t>
            </a:r>
            <a:endParaRPr lang="en-US" sz="2200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Exemplo</a:t>
            </a:r>
            <a:r>
              <a:rPr lang="en-US" b="1" dirty="0" smtClean="0"/>
              <a:t> </a:t>
            </a:r>
            <a:r>
              <a:rPr lang="en-US" b="1" dirty="0"/>
              <a:t>1 Cont.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3EBDA29-7672-4B7E-9A4F-21081A91F7E1}" type="slidenum">
              <a:rPr lang="en-US" sz="1400"/>
              <a:pPr eaLnBrk="1" hangingPunct="1"/>
              <a:t>16</a:t>
            </a:fld>
            <a:endParaRPr lang="en-US" sz="1400"/>
          </a:p>
        </p:txBody>
      </p:sp>
      <p:sp>
        <p:nvSpPr>
          <p:cNvPr id="47109" name="Rectangle 30"/>
          <p:cNvSpPr>
            <a:spLocks noChangeArrowheads="1"/>
          </p:cNvSpPr>
          <p:nvPr/>
        </p:nvSpPr>
        <p:spPr bwMode="auto">
          <a:xfrm>
            <a:off x="3352800" y="2438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47110" name="Text Box 33"/>
          <p:cNvSpPr txBox="1">
            <a:spLocks noChangeArrowheads="1"/>
          </p:cNvSpPr>
          <p:nvPr/>
        </p:nvSpPr>
        <p:spPr bwMode="auto">
          <a:xfrm>
            <a:off x="5280025" y="2362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pt-BR"/>
          </a:p>
        </p:txBody>
      </p:sp>
      <p:pic>
        <p:nvPicPr>
          <p:cNvPr id="47111" name="Picture 3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828800"/>
            <a:ext cx="4800600" cy="429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2" name="Text Box 13"/>
          <p:cNvSpPr txBox="1">
            <a:spLocks noChangeArrowheads="1"/>
          </p:cNvSpPr>
          <p:nvPr/>
        </p:nvSpPr>
        <p:spPr bwMode="auto">
          <a:xfrm>
            <a:off x="2133600" y="6096000"/>
            <a:ext cx="5334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 b="1" dirty="0"/>
              <a:t>Figure 6</a:t>
            </a:r>
            <a:r>
              <a:rPr lang="en-US" sz="2000" dirty="0"/>
              <a:t> </a:t>
            </a:r>
            <a:r>
              <a:rPr lang="pt-BR" sz="2000" dirty="0" smtClean="0"/>
              <a:t>Gráfico de resultados da Iteração </a:t>
            </a:r>
            <a:r>
              <a:rPr lang="en-US" sz="2000" dirty="0" smtClean="0"/>
              <a:t>2</a:t>
            </a:r>
            <a:r>
              <a:rPr lang="en-US" sz="2000" dirty="0"/>
              <a:t>.</a:t>
            </a:r>
            <a:endParaRPr lang="en-US" sz="2000" b="1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Exemplo</a:t>
            </a:r>
            <a:r>
              <a:rPr lang="en-US" b="1" dirty="0" smtClean="0"/>
              <a:t> </a:t>
            </a:r>
            <a:r>
              <a:rPr lang="en-US" b="1" dirty="0"/>
              <a:t>1 Cont.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9D4F9D7-4903-42EA-80F9-119967BAB66B}" type="slidenum">
              <a:rPr lang="en-US" sz="1400"/>
              <a:pPr eaLnBrk="1" hangingPunct="1"/>
              <a:t>17</a:t>
            </a:fld>
            <a:endParaRPr lang="en-US" sz="1400"/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1271" name="Text Box 9"/>
          <p:cNvSpPr txBox="1">
            <a:spLocks noChangeArrowheads="1"/>
          </p:cNvSpPr>
          <p:nvPr/>
        </p:nvSpPr>
        <p:spPr bwMode="auto">
          <a:xfrm>
            <a:off x="5280025" y="2286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pt-BR"/>
          </a:p>
        </p:txBody>
      </p:sp>
      <p:sp>
        <p:nvSpPr>
          <p:cNvPr id="11272" name="TextBox 12"/>
          <p:cNvSpPr txBox="1">
            <a:spLocks noChangeArrowheads="1"/>
          </p:cNvSpPr>
          <p:nvPr/>
        </p:nvSpPr>
        <p:spPr bwMode="auto">
          <a:xfrm>
            <a:off x="533400" y="2370138"/>
            <a:ext cx="3886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sz="2000" u="sng" dirty="0"/>
              <a:t>Iteração 3</a:t>
            </a:r>
            <a:endParaRPr lang="pt-BR" sz="2000" dirty="0"/>
          </a:p>
          <a:p>
            <a:pPr algn="l"/>
            <a:r>
              <a:rPr lang="pt-BR" sz="2000" dirty="0"/>
              <a:t>A estimativa da raiz é</a:t>
            </a:r>
          </a:p>
        </p:txBody>
      </p:sp>
      <p:graphicFrame>
        <p:nvGraphicFramePr>
          <p:cNvPr id="11266" name="Object 16"/>
          <p:cNvGraphicFramePr>
            <a:graphicFrameLocks noChangeAspect="1"/>
          </p:cNvGraphicFramePr>
          <p:nvPr/>
        </p:nvGraphicFramePr>
        <p:xfrm>
          <a:off x="146050" y="3352800"/>
          <a:ext cx="8929688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Equation" r:id="rId4" imgW="6032160" imgH="1104840" progId="Equation.3">
                  <p:embed/>
                </p:oleObj>
              </mc:Choice>
              <mc:Fallback>
                <p:oleObj name="Equation" r:id="rId4" imgW="6032160" imgH="11048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3352800"/>
                        <a:ext cx="8929688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Exemplo</a:t>
            </a:r>
            <a:r>
              <a:rPr lang="en-US" b="1" dirty="0" smtClean="0"/>
              <a:t> </a:t>
            </a:r>
            <a:r>
              <a:rPr lang="en-US" b="1" dirty="0"/>
              <a:t>1 Cont.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B0390D7-F367-40B0-B418-D2C77A9553F4}" type="slidenum">
              <a:rPr lang="en-US" sz="1400"/>
              <a:pPr eaLnBrk="1" hangingPunct="1"/>
              <a:t>18</a:t>
            </a:fld>
            <a:endParaRPr lang="en-US" sz="1400"/>
          </a:p>
        </p:txBody>
      </p:sp>
      <p:sp>
        <p:nvSpPr>
          <p:cNvPr id="12295" name="Rectangle 6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5280025" y="2286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pt-BR"/>
          </a:p>
        </p:txBody>
      </p:sp>
      <p:sp>
        <p:nvSpPr>
          <p:cNvPr id="12297" name="TextBox 12"/>
          <p:cNvSpPr txBox="1">
            <a:spLocks noChangeArrowheads="1"/>
          </p:cNvSpPr>
          <p:nvPr/>
        </p:nvSpPr>
        <p:spPr bwMode="auto">
          <a:xfrm>
            <a:off x="838200" y="2057400"/>
            <a:ext cx="7620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sz="2000" dirty="0"/>
              <a:t>O erro absoluto relativo aproximado </a:t>
            </a:r>
            <a:r>
              <a:rPr lang="pt-BR" sz="2000" dirty="0" smtClean="0"/>
              <a:t>        no </a:t>
            </a:r>
            <a:r>
              <a:rPr lang="pt-BR" sz="2000" dirty="0"/>
              <a:t>final da Iteração 3 é</a:t>
            </a:r>
          </a:p>
        </p:txBody>
      </p:sp>
      <p:graphicFrame>
        <p:nvGraphicFramePr>
          <p:cNvPr id="12290" name="Object 16"/>
          <p:cNvGraphicFramePr>
            <a:graphicFrameLocks noChangeAspect="1"/>
          </p:cNvGraphicFramePr>
          <p:nvPr/>
        </p:nvGraphicFramePr>
        <p:xfrm>
          <a:off x="1325563" y="2819400"/>
          <a:ext cx="3294062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" name="Equation" r:id="rId4" imgW="1892160" imgH="1130040" progId="Equation.3">
                  <p:embed/>
                </p:oleObj>
              </mc:Choice>
              <mc:Fallback>
                <p:oleObj name="Equation" r:id="rId4" imgW="1892160" imgH="11300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2819400"/>
                        <a:ext cx="3294062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134394"/>
              </p:ext>
            </p:extLst>
          </p:nvPr>
        </p:nvGraphicFramePr>
        <p:xfrm>
          <a:off x="5116512" y="2057400"/>
          <a:ext cx="434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name="Equation" r:id="rId6" imgW="241200" imgH="253800" progId="Equation.3">
                  <p:embed/>
                </p:oleObj>
              </mc:Choice>
              <mc:Fallback>
                <p:oleObj name="Equation" r:id="rId6" imgW="241200" imgH="253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512" y="2057400"/>
                        <a:ext cx="4349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Exemplo</a:t>
            </a:r>
            <a:r>
              <a:rPr lang="en-US" b="1" dirty="0" smtClean="0"/>
              <a:t> </a:t>
            </a:r>
            <a:r>
              <a:rPr lang="en-US" b="1" dirty="0"/>
              <a:t>1 Cont.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C1FF043-3EEC-46FD-AA71-79231BA963B3}" type="slidenum">
              <a:rPr lang="en-US" sz="1400"/>
              <a:pPr eaLnBrk="1" hangingPunct="1"/>
              <a:t>19</a:t>
            </a:fld>
            <a:endParaRPr lang="en-US" sz="1400"/>
          </a:p>
        </p:txBody>
      </p:sp>
      <p:sp>
        <p:nvSpPr>
          <p:cNvPr id="48133" name="Rectangle 6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48134" name="Text Box 9"/>
          <p:cNvSpPr txBox="1">
            <a:spLocks noChangeArrowheads="1"/>
          </p:cNvSpPr>
          <p:nvPr/>
        </p:nvSpPr>
        <p:spPr bwMode="auto">
          <a:xfrm>
            <a:off x="5546725" y="21669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pic>
        <p:nvPicPr>
          <p:cNvPr id="48135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828800"/>
            <a:ext cx="50292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6" name="Text Box 13"/>
          <p:cNvSpPr txBox="1">
            <a:spLocks noChangeArrowheads="1"/>
          </p:cNvSpPr>
          <p:nvPr/>
        </p:nvSpPr>
        <p:spPr bwMode="auto">
          <a:xfrm>
            <a:off x="1828800" y="6096000"/>
            <a:ext cx="5410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 b="1" dirty="0"/>
              <a:t>Figure 7</a:t>
            </a:r>
            <a:r>
              <a:rPr lang="en-US" sz="2000" dirty="0"/>
              <a:t> </a:t>
            </a:r>
            <a:r>
              <a:rPr lang="pt-BR" sz="2000" dirty="0" smtClean="0"/>
              <a:t>Gráfico de resultados da Iteração </a:t>
            </a:r>
            <a:r>
              <a:rPr lang="en-US" sz="2000" dirty="0" smtClean="0"/>
              <a:t>3</a:t>
            </a:r>
            <a:r>
              <a:rPr lang="en-US" sz="2000" dirty="0"/>
              <a:t>.</a:t>
            </a:r>
            <a:endParaRPr lang="en-US" sz="2000" b="1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Exemplo</a:t>
            </a:r>
            <a:r>
              <a:rPr lang="en-US" b="1" dirty="0" smtClean="0"/>
              <a:t> </a:t>
            </a:r>
            <a:r>
              <a:rPr lang="en-US" b="1" dirty="0"/>
              <a:t>1 Cont.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Vantagens</a:t>
            </a:r>
            <a:endParaRPr lang="en-US" b="1" dirty="0"/>
          </a:p>
        </p:txBody>
      </p:sp>
      <p:sp>
        <p:nvSpPr>
          <p:cNvPr id="49157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895600"/>
            <a:ext cx="7772400" cy="1371600"/>
          </a:xfrm>
        </p:spPr>
        <p:txBody>
          <a:bodyPr>
            <a:normAutofit lnSpcReduction="10000"/>
          </a:bodyPr>
          <a:lstStyle/>
          <a:p>
            <a:r>
              <a:rPr lang="pt-BR" sz="2800" dirty="0"/>
              <a:t>Converge rápido, se convergir</a:t>
            </a:r>
          </a:p>
          <a:p>
            <a:r>
              <a:rPr lang="pt-BR" sz="2800" dirty="0"/>
              <a:t>Requer duas </a:t>
            </a:r>
            <a:r>
              <a:rPr lang="pt-BR" sz="2800" dirty="0" smtClean="0"/>
              <a:t>estimativas e a raiz não precisa estar entre elas.</a:t>
            </a:r>
            <a:endParaRPr lang="pt-BR" sz="2800" dirty="0"/>
          </a:p>
        </p:txBody>
      </p:sp>
      <p:sp>
        <p:nvSpPr>
          <p:cNvPr id="491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686C422-FCB7-4418-BD1C-FBE587FC2C80}" type="slidenum">
              <a:rPr lang="en-US" sz="1400"/>
              <a:pPr eaLnBrk="1" hangingPunct="1"/>
              <a:t>20</a:t>
            </a:fld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Inconvenientes</a:t>
            </a:r>
            <a:endParaRPr lang="en-US" dirty="0" smtClean="0"/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FA15438-5B25-439B-9C82-830C9FED99AE}" type="slidenum">
              <a:rPr lang="en-US" sz="1400"/>
              <a:pPr eaLnBrk="1" hangingPunct="1"/>
              <a:t>21</a:t>
            </a:fld>
            <a:endParaRPr lang="en-US" sz="1400"/>
          </a:p>
        </p:txBody>
      </p:sp>
      <p:sp>
        <p:nvSpPr>
          <p:cNvPr id="13319" name="Rectangle 3"/>
          <p:cNvSpPr>
            <a:spLocks noChangeArrowheads="1"/>
          </p:cNvSpPr>
          <p:nvPr/>
        </p:nvSpPr>
        <p:spPr bwMode="auto">
          <a:xfrm>
            <a:off x="2262188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3320" name="Text Box 4"/>
          <p:cNvSpPr txBox="1">
            <a:spLocks noChangeArrowheads="1"/>
          </p:cNvSpPr>
          <p:nvPr/>
        </p:nvSpPr>
        <p:spPr bwMode="auto">
          <a:xfrm>
            <a:off x="3276600" y="57912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 err="1" smtClean="0"/>
              <a:t>Divisão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zero</a:t>
            </a:r>
            <a:endParaRPr lang="en-US" dirty="0"/>
          </a:p>
        </p:txBody>
      </p:sp>
      <p:sp>
        <p:nvSpPr>
          <p:cNvPr id="13321" name="Text Box 5"/>
          <p:cNvSpPr txBox="1">
            <a:spLocks noChangeArrowheads="1"/>
          </p:cNvSpPr>
          <p:nvPr/>
        </p:nvSpPr>
        <p:spPr bwMode="auto">
          <a:xfrm>
            <a:off x="6537325" y="47577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3314" name="Object 6"/>
          <p:cNvGraphicFramePr>
            <a:graphicFrameLocks noChangeAspect="1"/>
          </p:cNvGraphicFramePr>
          <p:nvPr/>
        </p:nvGraphicFramePr>
        <p:xfrm>
          <a:off x="2057400" y="1981200"/>
          <a:ext cx="5334000" cy="384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3" name="Mathcad" r:id="rId4" imgW="5067360" imgH="3648240" progId="Mathcad">
                  <p:embed/>
                </p:oleObj>
              </mc:Choice>
              <mc:Fallback>
                <p:oleObj name="Mathcad" r:id="rId4" imgW="5067360" imgH="3648240" progId="Mathcad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81200"/>
                        <a:ext cx="5334000" cy="384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Text Box 7"/>
          <p:cNvSpPr txBox="1">
            <a:spLocks noChangeArrowheads="1"/>
          </p:cNvSpPr>
          <p:nvPr/>
        </p:nvSpPr>
        <p:spPr bwMode="auto">
          <a:xfrm>
            <a:off x="6270625" y="55546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pt-BR"/>
          </a:p>
        </p:txBody>
      </p:sp>
      <p:graphicFrame>
        <p:nvGraphicFramePr>
          <p:cNvPr id="13315" name="Object 8"/>
          <p:cNvGraphicFramePr>
            <a:graphicFrameLocks noChangeAspect="1"/>
          </p:cNvGraphicFramePr>
          <p:nvPr/>
        </p:nvGraphicFramePr>
        <p:xfrm>
          <a:off x="5943600" y="5562600"/>
          <a:ext cx="1079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Equation" r:id="rId6" imgW="1079280" imgH="215640" progId="Equation.3">
                  <p:embed/>
                </p:oleObj>
              </mc:Choice>
              <mc:Fallback>
                <p:oleObj name="Equation" r:id="rId6" imgW="107928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562600"/>
                        <a:ext cx="10795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1" y="624110"/>
            <a:ext cx="7315200" cy="1280890"/>
          </a:xfrm>
        </p:spPr>
        <p:txBody>
          <a:bodyPr/>
          <a:lstStyle/>
          <a:p>
            <a:r>
              <a:rPr lang="pt-BR" b="1" dirty="0"/>
              <a:t>Desvantagens (continuação)</a:t>
            </a: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B505CE0-2693-47BF-9AD5-5C5319B5BD6E}" type="slidenum">
              <a:rPr lang="en-US" sz="1400"/>
              <a:pPr eaLnBrk="1" hangingPunct="1"/>
              <a:t>22</a:t>
            </a:fld>
            <a:endParaRPr lang="en-US" sz="1400"/>
          </a:p>
        </p:txBody>
      </p:sp>
      <p:sp>
        <p:nvSpPr>
          <p:cNvPr id="14343" name="Rectangle 3"/>
          <p:cNvSpPr>
            <a:spLocks noChangeArrowheads="1"/>
          </p:cNvSpPr>
          <p:nvPr/>
        </p:nvSpPr>
        <p:spPr bwMode="auto">
          <a:xfrm>
            <a:off x="1824038" y="21288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4344" name="Rectangle 4"/>
          <p:cNvSpPr>
            <a:spLocks noChangeArrowheads="1"/>
          </p:cNvSpPr>
          <p:nvPr/>
        </p:nvSpPr>
        <p:spPr bwMode="auto">
          <a:xfrm>
            <a:off x="1952625" y="19335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4345" name="Text Box 5"/>
          <p:cNvSpPr txBox="1">
            <a:spLocks noChangeArrowheads="1"/>
          </p:cNvSpPr>
          <p:nvPr/>
        </p:nvSpPr>
        <p:spPr bwMode="auto">
          <a:xfrm>
            <a:off x="2590800" y="60198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 err="1" smtClean="0"/>
              <a:t>Pode</a:t>
            </a:r>
            <a:r>
              <a:rPr lang="en-US" dirty="0" smtClean="0"/>
              <a:t> “</a:t>
            </a:r>
            <a:r>
              <a:rPr lang="en-US" dirty="0" err="1" smtClean="0"/>
              <a:t>pular</a:t>
            </a:r>
            <a:r>
              <a:rPr lang="en-US" dirty="0" smtClean="0"/>
              <a:t>” </a:t>
            </a:r>
            <a:r>
              <a:rPr lang="en-US" dirty="0" err="1" smtClean="0"/>
              <a:t>raizes</a:t>
            </a:r>
            <a:endParaRPr lang="en-US" dirty="0"/>
          </a:p>
        </p:txBody>
      </p:sp>
      <p:sp>
        <p:nvSpPr>
          <p:cNvPr id="14346" name="Text Box 6"/>
          <p:cNvSpPr txBox="1">
            <a:spLocks noChangeArrowheads="1"/>
          </p:cNvSpPr>
          <p:nvPr/>
        </p:nvSpPr>
        <p:spPr bwMode="auto">
          <a:xfrm>
            <a:off x="6842125" y="47577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4338" name="Object 7"/>
          <p:cNvGraphicFramePr>
            <a:graphicFrameLocks noChangeAspect="1"/>
          </p:cNvGraphicFramePr>
          <p:nvPr/>
        </p:nvGraphicFramePr>
        <p:xfrm>
          <a:off x="1905000" y="1676400"/>
          <a:ext cx="5324475" cy="446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8" name="Mathcad" r:id="rId4" imgW="5324400" imgH="4467240" progId="Mathcad">
                  <p:embed/>
                </p:oleObj>
              </mc:Choice>
              <mc:Fallback>
                <p:oleObj name="Mathcad" r:id="rId4" imgW="5324400" imgH="4467240" progId="Mathcad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676400"/>
                        <a:ext cx="5324475" cy="446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7" name="Text Box 8"/>
          <p:cNvSpPr txBox="1">
            <a:spLocks noChangeArrowheads="1"/>
          </p:cNvSpPr>
          <p:nvPr/>
        </p:nvSpPr>
        <p:spPr bwMode="auto">
          <a:xfrm>
            <a:off x="6080125" y="54435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4339" name="Object 9"/>
          <p:cNvGraphicFramePr>
            <a:graphicFrameLocks noChangeAspect="1"/>
          </p:cNvGraphicFramePr>
          <p:nvPr/>
        </p:nvGraphicFramePr>
        <p:xfrm>
          <a:off x="5994400" y="5562600"/>
          <a:ext cx="977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9" name="Equation" r:id="rId6" imgW="977760" imgH="215640" progId="Equation.3">
                  <p:embed/>
                </p:oleObj>
              </mc:Choice>
              <mc:Fallback>
                <p:oleObj name="Equation" r:id="rId6" imgW="97776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5562600"/>
                        <a:ext cx="9779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200400"/>
            <a:ext cx="8229600" cy="762000"/>
          </a:xfrm>
        </p:spPr>
        <p:txBody>
          <a:bodyPr>
            <a:normAutofit lnSpcReduction="10000"/>
          </a:bodyPr>
          <a:lstStyle/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sz="6000" b="1" dirty="0" smtClean="0"/>
              <a:t>Obrigado!</a:t>
            </a:r>
            <a:endParaRPr lang="en-US" sz="6000" b="1" dirty="0" smtClean="0"/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en-US" sz="6000" b="1" dirty="0" smtClean="0"/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en-US" sz="4800" b="1" dirty="0" smtClean="0"/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en-US" sz="800" b="1" dirty="0" smtClean="0"/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en-US" sz="800" b="1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</Template>
  <TotalTime>1385</TotalTime>
  <Words>512</Words>
  <Application>Microsoft Office PowerPoint</Application>
  <PresentationFormat>Apresentação na tela (4:3)</PresentationFormat>
  <Paragraphs>103</Paragraphs>
  <Slides>23</Slides>
  <Notes>23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Servidores OLE inseridos</vt:lpstr>
      </vt:variant>
      <vt:variant>
        <vt:i4>4</vt:i4>
      </vt:variant>
      <vt:variant>
        <vt:lpstr>Títulos de slides</vt:lpstr>
      </vt:variant>
      <vt:variant>
        <vt:i4>23</vt:i4>
      </vt:variant>
    </vt:vector>
  </HeadingPairs>
  <TitlesOfParts>
    <vt:vector size="35" baseType="lpstr">
      <vt:lpstr>Tahoma</vt:lpstr>
      <vt:lpstr>Arial</vt:lpstr>
      <vt:lpstr>Wingdings</vt:lpstr>
      <vt:lpstr>Times New Roman</vt:lpstr>
      <vt:lpstr>Verdana</vt:lpstr>
      <vt:lpstr>1_Blends</vt:lpstr>
      <vt:lpstr>Blends</vt:lpstr>
      <vt:lpstr>Cacho</vt:lpstr>
      <vt:lpstr>Microsoft Equation 3.0</vt:lpstr>
      <vt:lpstr>Microsoft Word Picture</vt:lpstr>
      <vt:lpstr>Mathcad Document</vt:lpstr>
      <vt:lpstr>Bitmap Image</vt:lpstr>
      <vt:lpstr>Método da Secante</vt:lpstr>
      <vt:lpstr>Método Secante - Derivação</vt:lpstr>
      <vt:lpstr>Método da Secante - Derivação</vt:lpstr>
      <vt:lpstr>Algoritmo para o Método da Secante</vt:lpstr>
      <vt:lpstr>Passo 1</vt:lpstr>
      <vt:lpstr>Passo 2</vt:lpstr>
      <vt:lpstr>Example 1</vt:lpstr>
      <vt:lpstr>Exemplo 1 Cont.</vt:lpstr>
      <vt:lpstr>Exemplo 1 Cont.</vt:lpstr>
      <vt:lpstr>Exemplo 1 Cont.</vt:lpstr>
      <vt:lpstr>Exemplo 1 Cont.</vt:lpstr>
      <vt:lpstr>Exemplo 1 Cont.</vt:lpstr>
      <vt:lpstr>Exemplo 1 Cont.</vt:lpstr>
      <vt:lpstr>Exemplo 1 Cont.</vt:lpstr>
      <vt:lpstr>Exemplo 1 Cont.</vt:lpstr>
      <vt:lpstr>Exemplo 1 Cont.</vt:lpstr>
      <vt:lpstr>Exemplo 1 Cont.</vt:lpstr>
      <vt:lpstr>Exemplo 1 Cont.</vt:lpstr>
      <vt:lpstr>Exemplo 1 Cont.</vt:lpstr>
      <vt:lpstr>Vantagens</vt:lpstr>
      <vt:lpstr>Inconvenientes</vt:lpstr>
      <vt:lpstr>Desvantagens (continuação)</vt:lpstr>
      <vt:lpstr>Apresentação do PowerPoint</vt:lpstr>
    </vt:vector>
  </TitlesOfParts>
  <Company>Holistic Numerical Methods Institute</Company>
  <LinksUpToDate>false</LinksUpToDate>
  <SharedDoc>false</SharedDoc>
  <HyperlinkBase>http://numericalmethods.eng.usf.edu/mcd/gen/03nle/mcd_gen_nle_ppt_secant.ppt</HyperlinkBase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Secant Method Nonlinear Equations</dc:title>
  <dc:subject>Nonlinear Equations</dc:subject>
  <dc:creator>Autar Kaw, Jai Paul</dc:creator>
  <cp:keywords>Power Point Secant Method Nonlinear Equations</cp:keywords>
  <dc:description>A power point presentation to show how the Secant method of finding roots of a nonlinear equation works.</dc:description>
  <cp:lastModifiedBy>antonio tavernard</cp:lastModifiedBy>
  <cp:revision>134</cp:revision>
  <cp:lastPrinted>1999-03-26T19:03:37Z</cp:lastPrinted>
  <dcterms:created xsi:type="dcterms:W3CDTF">1998-11-18T16:33:10Z</dcterms:created>
  <dcterms:modified xsi:type="dcterms:W3CDTF">2020-09-18T13:54:42Z</dcterms:modified>
  <cp:category>General Engineering</cp:category>
</cp:coreProperties>
</file>