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456" r:id="rId3"/>
    <p:sldId id="331" r:id="rId4"/>
    <p:sldId id="455" r:id="rId5"/>
    <p:sldId id="309" r:id="rId6"/>
    <p:sldId id="449" r:id="rId7"/>
    <p:sldId id="450" r:id="rId8"/>
    <p:sldId id="451" r:id="rId9"/>
    <p:sldId id="453" r:id="rId10"/>
    <p:sldId id="452" r:id="rId11"/>
    <p:sldId id="454" r:id="rId12"/>
    <p:sldId id="448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21" autoAdjust="0"/>
  </p:normalViewPr>
  <p:slideViewPr>
    <p:cSldViewPr>
      <p:cViewPr varScale="1">
        <p:scale>
          <a:sx n="107" d="100"/>
          <a:sy n="107" d="100"/>
        </p:scale>
        <p:origin x="7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EF72F-A3F2-4D76-9513-ED6653A5ADFF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0E6AE-3CD2-4C09-9F52-11F5B3237FB3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36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03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8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43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4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21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4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57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77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19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09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7189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285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160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271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806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30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B880A-FD61-4C52-8E6C-B9960E845A35}" type="datetimeFigureOut">
              <a:rPr lang="zh-CN" altLang="en-US" smtClean="0"/>
              <a:pPr/>
              <a:t>2020/9/30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D18CF31-ABC1-4363-8EFE-1076D5256338}" type="slidenum">
              <a:rPr lang="zh-CN" altLang="en-US" smtClean="0"/>
              <a:pPr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69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91680" y="548680"/>
            <a:ext cx="7272808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Minimização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Método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da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Seção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dourada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619672" y="4509120"/>
            <a:ext cx="6600451" cy="1126283"/>
          </a:xfrm>
        </p:spPr>
        <p:txBody>
          <a:bodyPr/>
          <a:lstStyle/>
          <a:p>
            <a:r>
              <a:rPr lang="pt-BR" dirty="0" smtClean="0"/>
              <a:t>Prof. Antonio Tavernard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1"/>
          <p:cNvSpPr>
            <a:spLocks noGrp="1"/>
          </p:cNvSpPr>
          <p:nvPr>
            <p:ph idx="1"/>
          </p:nvPr>
        </p:nvSpPr>
        <p:spPr>
          <a:xfrm>
            <a:off x="1439863" y="678164"/>
            <a:ext cx="6563072" cy="46064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6" name="Picture 2" descr="C:\Users\Leon\Desktop\VELJKO_VELJKO\MOJE\SLIKE\s0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524" y="1710173"/>
            <a:ext cx="2047875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:\Users\Leon\Desktop\VELJKO_VELJKO\MOJE\SLIKE\s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798367"/>
            <a:ext cx="14859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C:\Users\Leon\Desktop\VELJKO_VELJKO\MOJE\SLIKE\s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391" y="3817417"/>
            <a:ext cx="150495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:\Users\Leon\Desktop\VELJKO_VELJKO\MOJE\SLIKE\s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798367"/>
            <a:ext cx="11525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C:\Users\Leon\Desktop\VELJKO_VELJKO\MOJE\SLIKE\s5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486" y="3903142"/>
            <a:ext cx="21812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1480828" y="1387008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 </a:t>
            </a:r>
            <a:r>
              <a:rPr lang="pt-BR" dirty="0"/>
              <a:t>método da seção dourada usa </a:t>
            </a:r>
            <a:r>
              <a:rPr lang="pt-BR" dirty="0" smtClean="0"/>
              <a:t>redução constante</a:t>
            </a:r>
            <a:endParaRPr lang="pt-BR" dirty="0"/>
          </a:p>
          <a:p>
            <a:r>
              <a:rPr lang="pt-BR" dirty="0" smtClean="0"/>
              <a:t>Intervalo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1247254" y="2990380"/>
            <a:ext cx="7163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Que pode ser visto em diferentes aspectos de proporção da geometria à arquitetura.</a:t>
            </a:r>
          </a:p>
        </p:txBody>
      </p:sp>
    </p:spTree>
    <p:extLst>
      <p:ext uri="{BB962C8B-B14F-4D97-AF65-F5344CB8AC3E}">
        <p14:creationId xmlns:p14="http://schemas.microsoft.com/office/powerpoint/2010/main" val="217964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596" y="617509"/>
            <a:ext cx="8229600" cy="867524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Antecedentes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históricos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de 0,618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571612"/>
            <a:ext cx="8229600" cy="30095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altLang="zh-CN" sz="2100" dirty="0">
                <a:solidFill>
                  <a:schemeClr val="tx1"/>
                </a:solidFill>
              </a:rPr>
              <a:t>Arquitetos da Grécia Antiga acreditavam que um edifício com os lados d e b satisfazia a </a:t>
            </a:r>
            <a:r>
              <a:rPr lang="pt-BR" altLang="zh-CN" sz="2100" dirty="0">
                <a:solidFill>
                  <a:schemeClr val="tx1"/>
                </a:solidFill>
              </a:rPr>
              <a:t>relação</a:t>
            </a:r>
            <a:endParaRPr lang="en-US" altLang="zh-CN" sz="21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chemeClr val="tx1"/>
                </a:solidFill>
              </a:rPr>
              <a:t> </a:t>
            </a:r>
          </a:p>
          <a:p>
            <a:pPr>
              <a:buNone/>
            </a:pPr>
            <a:endParaRPr lang="en-US" altLang="zh-CN" sz="2100" dirty="0">
              <a:solidFill>
                <a:schemeClr val="tx1"/>
              </a:solidFill>
            </a:endParaRPr>
          </a:p>
          <a:p>
            <a:pPr>
              <a:buNone/>
            </a:pPr>
            <a:endParaRPr lang="pt-BR" altLang="zh-CN" sz="2100" dirty="0">
              <a:solidFill>
                <a:schemeClr val="tx1"/>
              </a:solidFill>
            </a:endParaRPr>
          </a:p>
          <a:p>
            <a:pPr>
              <a:buNone/>
            </a:pPr>
            <a:endParaRPr lang="pt-BR" altLang="zh-CN" sz="2100" dirty="0">
              <a:solidFill>
                <a:schemeClr val="tx1"/>
              </a:solidFill>
            </a:endParaRPr>
          </a:p>
          <a:p>
            <a:pPr>
              <a:buNone/>
            </a:pPr>
            <a:endParaRPr lang="pt-BR" altLang="zh-CN" sz="21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pt-BR" altLang="zh-CN" sz="2100" dirty="0">
                <a:solidFill>
                  <a:schemeClr val="tx1"/>
                </a:solidFill>
              </a:rPr>
              <a:t>terá </a:t>
            </a:r>
            <a:r>
              <a:rPr lang="pt-BR" altLang="zh-CN" sz="2100" dirty="0">
                <a:solidFill>
                  <a:schemeClr val="tx1"/>
                </a:solidFill>
              </a:rPr>
              <a:t>as propriedades mais agradáveis</a:t>
            </a:r>
            <a:r>
              <a:rPr lang="pt-BR" altLang="zh-CN" sz="2100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pt-BR" altLang="zh-CN" dirty="0"/>
          </a:p>
          <a:p>
            <a:pPr>
              <a:buNone/>
            </a:pPr>
            <a:r>
              <a:rPr lang="pt-BR" altLang="zh-CN" dirty="0" smtClean="0"/>
              <a:t>     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813851"/>
              </p:ext>
            </p:extLst>
          </p:nvPr>
        </p:nvGraphicFramePr>
        <p:xfrm>
          <a:off x="2195736" y="2433428"/>
          <a:ext cx="1845866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1" name="Equation" r:id="rId3" imgW="1130040" imgH="393480" progId="Equation.3">
                  <p:embed/>
                </p:oleObj>
              </mc:Choice>
              <mc:Fallback>
                <p:oleObj name="Equation" r:id="rId3" imgW="11300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433428"/>
                        <a:ext cx="1845866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8115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43396" y="2156459"/>
            <a:ext cx="2500330" cy="147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tângulo 4"/>
          <p:cNvSpPr/>
          <p:nvPr/>
        </p:nvSpPr>
        <p:spPr>
          <a:xfrm>
            <a:off x="500034" y="4150312"/>
            <a:ext cx="82951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altLang="zh-CN" sz="1500" dirty="0"/>
              <a:t>Também é encontrado na geometria de Euclides que a divisão de um segmento de linha em duas partes desiguais de modo que a razão da parte maior para o todo seja igual à razão do menor para o maior, sendo conhecida como seção áurea ou média áurea.</a:t>
            </a:r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Seção</a:t>
            </a:r>
            <a:r>
              <a:rPr lang="en-US" dirty="0" smtClean="0"/>
              <a:t> </a:t>
            </a:r>
            <a:r>
              <a:rPr lang="en-US" dirty="0" err="1" smtClean="0"/>
              <a:t>dourada</a:t>
            </a: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5000" y="2027312"/>
            <a:ext cx="221932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59155" y="1898649"/>
            <a:ext cx="200977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5000" y="4465712"/>
            <a:ext cx="20097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59155" y="4337049"/>
            <a:ext cx="19526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419600" y="2636912"/>
            <a:ext cx="2002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f(d) &gt; f(b)</a:t>
            </a:r>
          </a:p>
          <a:p>
            <a:r>
              <a:rPr lang="en-US" dirty="0" smtClean="0"/>
              <a:t>    d &gt; b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347830" y="2960077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95800" y="5073724"/>
            <a:ext cx="171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f(d) &lt; f(b)</a:t>
            </a:r>
          </a:p>
          <a:p>
            <a:r>
              <a:rPr lang="en-US" dirty="0" smtClean="0"/>
              <a:t>    b &gt; d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374464" y="5418867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tângulo 3"/>
          <p:cNvSpPr/>
          <p:nvPr/>
        </p:nvSpPr>
        <p:spPr>
          <a:xfrm>
            <a:off x="2555776" y="3314065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3698751" y="2946474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3616017" y="2900373"/>
            <a:ext cx="3706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x2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499904" y="3227237"/>
            <a:ext cx="3706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x1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016313" y="2153852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3939018" y="2081303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2195736" y="2110393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6809690" y="1964199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8352906" y="2817811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7233352" y="3139224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2118441" y="2101880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a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732395" y="1964199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a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8275611" y="2771189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b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7156057" y="3124125"/>
            <a:ext cx="3706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x2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2158066" y="4581128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/>
        </p:nvSpPr>
        <p:spPr>
          <a:xfrm>
            <a:off x="2563783" y="5720055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3732432" y="5292227"/>
            <a:ext cx="216024" cy="253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3013791" y="6184130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2123575" y="4522947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a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2499904" y="5690964"/>
            <a:ext cx="3706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x1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3681737" y="5250695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7156057" y="5573860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/>
          <p:cNvSpPr/>
          <p:nvPr/>
        </p:nvSpPr>
        <p:spPr>
          <a:xfrm>
            <a:off x="7564042" y="6013542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/>
          <p:cNvSpPr/>
          <p:nvPr/>
        </p:nvSpPr>
        <p:spPr>
          <a:xfrm>
            <a:off x="8352906" y="5148930"/>
            <a:ext cx="216024" cy="234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/>
          <p:cNvSpPr txBox="1"/>
          <p:nvPr/>
        </p:nvSpPr>
        <p:spPr>
          <a:xfrm>
            <a:off x="7116432" y="5539389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a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8313281" y="5104501"/>
            <a:ext cx="2952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945120" y="6157194"/>
            <a:ext cx="3706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x2</a:t>
            </a:r>
            <a:endParaRPr lang="pt-BR" sz="1300" b="1" dirty="0">
              <a:solidFill>
                <a:srgbClr val="0070C0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486747" y="5997286"/>
            <a:ext cx="3706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00" b="1" dirty="0" smtClean="0">
                <a:solidFill>
                  <a:srgbClr val="0070C0"/>
                </a:solidFill>
              </a:rPr>
              <a:t>x1</a:t>
            </a:r>
            <a:endParaRPr lang="pt-BR" sz="13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 smtClean="0"/>
              <a:t>Algoritmo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9632" y="6380698"/>
            <a:ext cx="7043758" cy="46670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Grafico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método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da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secção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dourada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9506" name="Picture 2" descr="E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39285" y="1256202"/>
            <a:ext cx="6374406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3569" y="2708920"/>
            <a:ext cx="7030431" cy="336279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051720" y="1700808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Determinar o mínimo da função abaixo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3130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5696" y="1340768"/>
            <a:ext cx="6480720" cy="5406376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15231" cy="716658"/>
          </a:xfrm>
        </p:spPr>
        <p:txBody>
          <a:bodyPr/>
          <a:lstStyle/>
          <a:p>
            <a:r>
              <a:rPr lang="pt-BR" dirty="0" smtClean="0"/>
              <a:t>Iteração 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580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3736" y="1280592"/>
            <a:ext cx="7130752" cy="5391544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15231" cy="716658"/>
          </a:xfrm>
        </p:spPr>
        <p:txBody>
          <a:bodyPr/>
          <a:lstStyle/>
          <a:p>
            <a:r>
              <a:rPr lang="pt-BR" dirty="0" smtClean="0"/>
              <a:t>Iteração 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343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3688" y="1268760"/>
            <a:ext cx="6697010" cy="168616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7704" y="2780928"/>
            <a:ext cx="5356570" cy="3521449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15231" cy="716658"/>
          </a:xfrm>
        </p:spPr>
        <p:txBody>
          <a:bodyPr/>
          <a:lstStyle/>
          <a:p>
            <a:r>
              <a:rPr lang="pt-BR" dirty="0" smtClean="0"/>
              <a:t>Iteração 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502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3648" y="1268760"/>
            <a:ext cx="7493429" cy="5256584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15231" cy="716658"/>
          </a:xfrm>
        </p:spPr>
        <p:txBody>
          <a:bodyPr/>
          <a:lstStyle/>
          <a:p>
            <a:r>
              <a:rPr lang="pt-BR" dirty="0" smtClean="0"/>
              <a:t>Iteração 4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0606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5696" y="1340768"/>
            <a:ext cx="6120680" cy="4738047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15231" cy="716658"/>
          </a:xfrm>
        </p:spPr>
        <p:txBody>
          <a:bodyPr/>
          <a:lstStyle/>
          <a:p>
            <a:r>
              <a:rPr lang="pt-BR" dirty="0" smtClean="0"/>
              <a:t>Iteração 5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20916" y="6315758"/>
            <a:ext cx="7163800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8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21455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6600" b="1" i="1" dirty="0" smtClean="0">
                <a:latin typeface="Times New Roman" pitchFamily="18" charset="0"/>
                <a:cs typeface="Times New Roman" pitchFamily="18" charset="0"/>
              </a:rPr>
              <a:t>Obrigado!</a:t>
            </a:r>
            <a:endParaRPr lang="zh-CN" altLang="en-US" sz="66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4642</TotalTime>
  <Words>167</Words>
  <Application>Microsoft Office PowerPoint</Application>
  <PresentationFormat>Apresentação na tela (4:3)</PresentationFormat>
  <Paragraphs>46</Paragraphs>
  <Slides>12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宋体</vt:lpstr>
      <vt:lpstr>Arial</vt:lpstr>
      <vt:lpstr>Calibri</vt:lpstr>
      <vt:lpstr>Century Gothic</vt:lpstr>
      <vt:lpstr>HY중고딕</vt:lpstr>
      <vt:lpstr>Times New Roman</vt:lpstr>
      <vt:lpstr>Wingdings 3</vt:lpstr>
      <vt:lpstr>幼圆</vt:lpstr>
      <vt:lpstr>Cacho</vt:lpstr>
      <vt:lpstr>Equation</vt:lpstr>
      <vt:lpstr>Minimização Método da Seção dourada </vt:lpstr>
      <vt:lpstr>Apresentação do PowerPoint</vt:lpstr>
      <vt:lpstr>Antecedentes históricos de 0,618</vt:lpstr>
      <vt:lpstr>Seção dourada</vt:lpstr>
      <vt:lpstr>Algoritmo</vt:lpstr>
      <vt:lpstr>Exemplo</vt:lpstr>
      <vt:lpstr>Iteração 1</vt:lpstr>
      <vt:lpstr>Iteração 2</vt:lpstr>
      <vt:lpstr>Iteração 3</vt:lpstr>
      <vt:lpstr>Iteração 4</vt:lpstr>
      <vt:lpstr>Iteração 5</vt:lpstr>
      <vt:lpstr>Obrigado!</vt:lpstr>
    </vt:vector>
  </TitlesOfParts>
  <Company>pku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寻优算法</dc:title>
  <dc:creator>chen</dc:creator>
  <cp:lastModifiedBy>antonio tavernard</cp:lastModifiedBy>
  <cp:revision>295</cp:revision>
  <dcterms:created xsi:type="dcterms:W3CDTF">2009-03-10T07:14:08Z</dcterms:created>
  <dcterms:modified xsi:type="dcterms:W3CDTF">2020-09-30T14:25:20Z</dcterms:modified>
</cp:coreProperties>
</file>