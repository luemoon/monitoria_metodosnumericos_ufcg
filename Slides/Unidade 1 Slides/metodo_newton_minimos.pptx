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673" r:id="rId3"/>
  </p:sldMasterIdLst>
  <p:notesMasterIdLst>
    <p:notesMasterId r:id="rId14"/>
  </p:notesMasterIdLst>
  <p:sldIdLst>
    <p:sldId id="277" r:id="rId4"/>
    <p:sldId id="264" r:id="rId5"/>
    <p:sldId id="265" r:id="rId6"/>
    <p:sldId id="266" r:id="rId7"/>
    <p:sldId id="270" r:id="rId8"/>
    <p:sldId id="267" r:id="rId9"/>
    <p:sldId id="271" r:id="rId10"/>
    <p:sldId id="268" r:id="rId11"/>
    <p:sldId id="272" r:id="rId12"/>
    <p:sldId id="275" r:id="rId13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685"/>
    <a:srgbClr val="FFFFB7"/>
    <a:srgbClr val="E45C00"/>
    <a:srgbClr val="F2C3A0"/>
    <a:srgbClr val="F3C8A7"/>
    <a:srgbClr val="FDE8BF"/>
    <a:srgbClr val="B30000"/>
    <a:srgbClr val="0073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595" autoAdjust="0"/>
  </p:normalViewPr>
  <p:slideViewPr>
    <p:cSldViewPr>
      <p:cViewPr varScale="1">
        <p:scale>
          <a:sx n="110" d="100"/>
          <a:sy n="110" d="100"/>
        </p:scale>
        <p:origin x="2622" y="78"/>
      </p:cViewPr>
      <p:guideLst>
        <p:guide orient="horz" pos="1632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3454D8-71D6-45BD-BB53-82A36519D49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569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AB7A1-34EB-4E99-AA3B-55843C18756A}" type="slidenum">
              <a:rPr lang="en-US"/>
              <a:pPr/>
              <a:t>1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21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9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18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3363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5613" y="1143000"/>
            <a:ext cx="4108450" cy="5410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16463" y="1143000"/>
            <a:ext cx="4108450" cy="5410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3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85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74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50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97108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7021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97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58775"/>
            <a:ext cx="2108200" cy="61944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5613" y="358775"/>
            <a:ext cx="6173787" cy="61944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195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11465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8106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4974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83013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90330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25491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54383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9981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78731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88725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6179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888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65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8542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948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7656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716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065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503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1968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553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11837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0633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61950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198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7406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4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143000"/>
            <a:ext cx="83693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84200" y="358775"/>
            <a:ext cx="83058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8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82" name="Text Box 10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2919573E-35FB-4AA8-B3FF-BC004E82CE3E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indent="3175" algn="l" rtl="0" fontAlgn="base">
        <a:spcBef>
          <a:spcPct val="20000"/>
        </a:spcBef>
        <a:spcAft>
          <a:spcPct val="0"/>
        </a:spcAft>
        <a:tabLst>
          <a:tab pos="346075" algn="l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tabLst>
          <a:tab pos="346075" algn="l"/>
        </a:tabLs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1925" indent="-228600" algn="l" rtl="0" fontAlgn="base">
        <a:spcBef>
          <a:spcPct val="20000"/>
        </a:spcBef>
        <a:spcAft>
          <a:spcPct val="0"/>
        </a:spcAft>
        <a:tabLst>
          <a:tab pos="346075" algn="l"/>
        </a:tabLst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tabLst>
          <a:tab pos="34607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 descr="Picture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endParaRPr lang="pt-BR"/>
          </a:p>
        </p:txBody>
      </p:sp>
      <p:sp>
        <p:nvSpPr>
          <p:cNvPr id="1638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3847" name="Text Box 7"/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96E429DD-96D9-4963-9937-05CBDF52F22B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  <p:sp>
        <p:nvSpPr>
          <p:cNvPr id="1638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pt-BR"/>
          </a:p>
        </p:txBody>
      </p:sp>
      <p:pic>
        <p:nvPicPr>
          <p:cNvPr id="163849" name="Picture 9" descr="Picture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5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851" name="Text Box 11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BCE672FA-3943-4A78-830C-8D161203D374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rgbClr val="0073AE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073A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34" name="Text Box 11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BCE672FA-3943-4A78-830C-8D161203D374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0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429000"/>
            <a:ext cx="6589199" cy="1280890"/>
          </a:xfrm>
        </p:spPr>
        <p:txBody>
          <a:bodyPr/>
          <a:lstStyle/>
          <a:p>
            <a:pPr algn="ctr"/>
            <a:r>
              <a:rPr lang="en-US" dirty="0" err="1" smtClean="0"/>
              <a:t>Método</a:t>
            </a:r>
            <a:r>
              <a:rPr lang="en-US" dirty="0" smtClean="0"/>
              <a:t> de Newton</a:t>
            </a:r>
            <a:br>
              <a:rPr lang="en-US" dirty="0" smtClean="0"/>
            </a:br>
            <a:r>
              <a:rPr lang="en-US" dirty="0" smtClean="0"/>
              <a:t>para </a:t>
            </a:r>
            <a:r>
              <a:rPr lang="en-US" dirty="0" err="1" smtClean="0"/>
              <a:t>míminos</a:t>
            </a:r>
            <a:r>
              <a:rPr lang="en-US" dirty="0" smtClean="0"/>
              <a:t> de </a:t>
            </a:r>
            <a:r>
              <a:rPr lang="en-US" dirty="0" err="1" smtClean="0"/>
              <a:t>funções</a:t>
            </a:r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19200" y="838200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5000" dirty="0" err="1" smtClean="0"/>
              <a:t>Métodos</a:t>
            </a:r>
            <a:r>
              <a:rPr lang="en-US" sz="5000" dirty="0" smtClean="0"/>
              <a:t> </a:t>
            </a:r>
            <a:r>
              <a:rPr lang="en-US" sz="5000" dirty="0" err="1" smtClean="0"/>
              <a:t>Numéricos</a:t>
            </a:r>
            <a:endParaRPr lang="en-US" sz="50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219200" y="5577110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 smtClean="0"/>
              <a:t>Prof. Antonio Tavernard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Determine o mínimo da função</a:t>
            </a:r>
            <a:endParaRPr lang="pt-BR" dirty="0"/>
          </a:p>
          <a:p>
            <a:endParaRPr lang="en-US" sz="1200" dirty="0"/>
          </a:p>
          <a:p>
            <a:r>
              <a:rPr lang="en-US" dirty="0"/>
              <a:t>		</a:t>
            </a:r>
            <a:r>
              <a:rPr lang="pt-BR" i="1" dirty="0"/>
              <a:t>f</a:t>
            </a:r>
            <a:r>
              <a:rPr lang="pt-BR" dirty="0"/>
              <a:t>(</a:t>
            </a:r>
            <a:r>
              <a:rPr lang="pt-BR" i="1" dirty="0"/>
              <a:t>x</a:t>
            </a:r>
            <a:r>
              <a:rPr lang="pt-BR" dirty="0"/>
              <a:t>) := </a:t>
            </a:r>
            <a:r>
              <a:rPr lang="pt-BR" i="1" dirty="0" err="1" smtClean="0"/>
              <a:t>exp</a:t>
            </a:r>
            <a:r>
              <a:rPr lang="pt-BR" i="1" dirty="0" smtClean="0"/>
              <a:t>(x) </a:t>
            </a:r>
            <a:r>
              <a:rPr lang="pt-BR" dirty="0"/>
              <a:t>− 5⋅</a:t>
            </a:r>
            <a:r>
              <a:rPr lang="pt-BR" i="1" dirty="0" smtClean="0"/>
              <a:t>x</a:t>
            </a:r>
            <a:r>
              <a:rPr lang="pt-BR" baseline="30000" dirty="0"/>
              <a:t>2</a:t>
            </a:r>
            <a:endParaRPr lang="en-US" sz="1200" dirty="0"/>
          </a:p>
          <a:p>
            <a:endParaRPr lang="en-US" sz="1200" dirty="0"/>
          </a:p>
          <a:p>
            <a:r>
              <a:rPr lang="pt-BR" dirty="0" smtClean="0"/>
              <a:t>Como você resolveria esta questão?</a:t>
            </a:r>
            <a:endParaRPr lang="pt-BR" dirty="0"/>
          </a:p>
          <a:p>
            <a:endParaRPr lang="en-US" dirty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Plotando um gráfico</a:t>
            </a:r>
            <a:r>
              <a:rPr lang="pt-BR" dirty="0"/>
              <a:t>, e depois </a:t>
            </a:r>
            <a:r>
              <a:rPr lang="pt-BR" dirty="0" smtClean="0"/>
              <a:t>verificando o resultado visualmente, temos.</a:t>
            </a:r>
            <a:endParaRPr lang="pt-B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  <a:p>
            <a:r>
              <a:rPr lang="pt-BR" dirty="0"/>
              <a:t>Vemos que </a:t>
            </a:r>
            <a:r>
              <a:rPr lang="pt-BR" dirty="0" smtClean="0"/>
              <a:t>a solução</a:t>
            </a:r>
            <a:r>
              <a:rPr lang="pt-BR" dirty="0"/>
              <a:t> </a:t>
            </a:r>
            <a:r>
              <a:rPr lang="pt-BR" dirty="0" smtClean="0"/>
              <a:t>está entre </a:t>
            </a:r>
            <a:r>
              <a:rPr lang="pt-BR" i="1" dirty="0" smtClean="0"/>
              <a:t>x</a:t>
            </a:r>
            <a:r>
              <a:rPr lang="pt-BR" dirty="0"/>
              <a:t> = </a:t>
            </a:r>
            <a:r>
              <a:rPr lang="pt-BR" dirty="0" smtClean="0"/>
              <a:t>3 e x=4.</a:t>
            </a:r>
            <a:r>
              <a:rPr lang="pt-BR" dirty="0"/>
              <a:t> Ampliar mostra que </a:t>
            </a:r>
            <a:r>
              <a:rPr lang="pt-BR" dirty="0" smtClean="0"/>
              <a:t>o mínimo é aproximadamente 3.58.</a:t>
            </a:r>
            <a:r>
              <a:rPr lang="pt-BR" dirty="0"/>
              <a:t> Se precisarmos de mais precisão, poderíamos aumentar o zoom repetidamente, mas isso se torna cansativo.</a:t>
            </a:r>
          </a:p>
        </p:txBody>
      </p:sp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4251325" y="4346575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b="1"/>
              <a:t>Figure 1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89093"/>
            <a:ext cx="2387650" cy="1657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</a:t>
            </a:r>
            <a:r>
              <a:rPr lang="en-US" sz="3000" dirty="0" smtClean="0"/>
              <a:t>Newton para </a:t>
            </a:r>
            <a:r>
              <a:rPr lang="en-US" sz="3000" dirty="0" err="1" smtClean="0"/>
              <a:t>mínimos</a:t>
            </a:r>
            <a:r>
              <a:rPr lang="en-US" sz="3000" dirty="0" smtClean="0"/>
              <a:t> </a:t>
            </a:r>
            <a:endParaRPr lang="en-US" sz="3000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 smtClean="0"/>
              <a:t>Sabemos que a raiz da derivada nos dá os pontos críticos da função, ou seja on</a:t>
            </a:r>
            <a:r>
              <a:rPr lang="pt-BR" sz="2000" dirty="0" smtClean="0"/>
              <a:t>de a inclinação é nula.</a:t>
            </a:r>
          </a:p>
          <a:p>
            <a:r>
              <a:rPr lang="pt-BR" sz="2000" dirty="0" smtClean="0"/>
              <a:t>Logo determinar as raízes da derivada, estaremos determinado os pontos de máximo e mínimo da função</a:t>
            </a:r>
            <a:endParaRPr lang="pt-BR" sz="2000" dirty="0" smtClean="0"/>
          </a:p>
          <a:p>
            <a:r>
              <a:rPr lang="en-US" sz="2000" dirty="0" err="1" smtClean="0"/>
              <a:t>Finalmente</a:t>
            </a:r>
            <a:r>
              <a:rPr lang="en-US" sz="2000" dirty="0" smtClean="0"/>
              <a:t>, </a:t>
            </a:r>
            <a:r>
              <a:rPr lang="en-US" sz="2000" dirty="0" err="1" smtClean="0"/>
              <a:t>podemos</a:t>
            </a:r>
            <a:r>
              <a:rPr lang="en-US" sz="2000" dirty="0" smtClean="0"/>
              <a:t> </a:t>
            </a:r>
            <a:r>
              <a:rPr lang="en-US" sz="2000" dirty="0" err="1" smtClean="0"/>
              <a:t>utilizar</a:t>
            </a:r>
            <a:r>
              <a:rPr lang="en-US" sz="2000" dirty="0" smtClean="0"/>
              <a:t> o </a:t>
            </a:r>
            <a:r>
              <a:rPr lang="en-US" sz="2000" dirty="0" err="1" smtClean="0"/>
              <a:t>método</a:t>
            </a:r>
            <a:r>
              <a:rPr lang="en-US" sz="2000" dirty="0" smtClean="0"/>
              <a:t> de newton, </a:t>
            </a:r>
            <a:r>
              <a:rPr lang="en-US" sz="2000" dirty="0" err="1" smtClean="0"/>
              <a:t>modifincado</a:t>
            </a:r>
            <a:r>
              <a:rPr lang="en-US" sz="2000" dirty="0" smtClean="0"/>
              <a:t>-o para </a:t>
            </a:r>
            <a:r>
              <a:rPr lang="en-US" sz="2000" dirty="0" err="1" smtClean="0"/>
              <a:t>encontrar</a:t>
            </a:r>
            <a:r>
              <a:rPr lang="en-US" sz="2000" dirty="0" smtClean="0"/>
              <a:t> a </a:t>
            </a:r>
            <a:r>
              <a:rPr lang="en-US" sz="2000" dirty="0" err="1" smtClean="0"/>
              <a:t>raiz</a:t>
            </a:r>
            <a:r>
              <a:rPr lang="en-US" sz="2000" dirty="0" smtClean="0"/>
              <a:t> da </a:t>
            </a:r>
            <a:r>
              <a:rPr lang="en-US" sz="2000" dirty="0" err="1" smtClean="0"/>
              <a:t>derivada</a:t>
            </a:r>
            <a:r>
              <a:rPr lang="en-US" sz="2000" dirty="0" smtClean="0"/>
              <a:t> da </a:t>
            </a:r>
            <a:r>
              <a:rPr lang="en-US" sz="2000" dirty="0" err="1" smtClean="0"/>
              <a:t>função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1462088"/>
            <a:ext cx="8226425" cy="5256212"/>
          </a:xfrm>
          <a:noFill/>
        </p:spPr>
        <p:txBody>
          <a:bodyPr/>
          <a:lstStyle/>
          <a:p>
            <a:r>
              <a:rPr lang="pt-BR" dirty="0"/>
              <a:t>A geometria por trás do método de Newton é mostrada na Figura 2, onde a raiz que estamos tentando encontrar é </a:t>
            </a:r>
            <a:r>
              <a:rPr lang="pt-BR" dirty="0" smtClean="0"/>
              <a:t>chamada</a:t>
            </a:r>
            <a:r>
              <a:rPr lang="pt-BR" dirty="0"/>
              <a:t> </a:t>
            </a:r>
            <a:r>
              <a:rPr lang="pt-BR" dirty="0" smtClean="0"/>
              <a:t>de </a:t>
            </a:r>
            <a:r>
              <a:rPr lang="pt-BR" i="1" dirty="0" smtClean="0"/>
              <a:t>r</a:t>
            </a:r>
            <a:r>
              <a:rPr lang="pt-BR" dirty="0"/>
              <a:t> 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t-BR" dirty="0"/>
              <a:t>Começamos com uma primeira aproximação </a:t>
            </a:r>
            <a:r>
              <a:rPr lang="pt-BR" i="1" dirty="0" smtClean="0"/>
              <a:t>x</a:t>
            </a:r>
            <a:r>
              <a:rPr lang="pt-BR" dirty="0" smtClean="0"/>
              <a:t>1</a:t>
            </a:r>
            <a:r>
              <a:rPr lang="pt-BR" dirty="0"/>
              <a:t>, que </a:t>
            </a:r>
            <a:r>
              <a:rPr lang="pt-BR" dirty="0" smtClean="0"/>
              <a:t>nada mais é que uma estimativa inicial, </a:t>
            </a:r>
            <a:r>
              <a:rPr lang="pt-BR" dirty="0"/>
              <a:t>ou a partir de um esboço do gráfico de </a:t>
            </a:r>
            <a:r>
              <a:rPr lang="pt-BR" i="1" dirty="0"/>
              <a:t>f</a:t>
            </a:r>
            <a:r>
              <a:rPr lang="pt-BR" dirty="0"/>
              <a:t> , ou de um gráfico gerado por computador de </a:t>
            </a:r>
            <a:r>
              <a:rPr lang="pt-BR" i="1" dirty="0"/>
              <a:t>f</a:t>
            </a:r>
            <a:r>
              <a:rPr lang="pt-BR" dirty="0"/>
              <a:t> .</a:t>
            </a:r>
          </a:p>
        </p:txBody>
      </p:sp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10533"/>
            <a:ext cx="2916237" cy="2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4038600" y="4313177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Figure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000" dirty="0"/>
              <a:t>Considere a reta tangente L à curva y = </a:t>
            </a:r>
            <a:r>
              <a:rPr lang="pt-BR" sz="2000" dirty="0" smtClean="0"/>
              <a:t>f</a:t>
            </a:r>
            <a:r>
              <a:rPr lang="pt-BR" sz="2000" dirty="0" smtClean="0"/>
              <a:t>’</a:t>
            </a:r>
            <a:r>
              <a:rPr lang="pt-BR" sz="2000" dirty="0" smtClean="0"/>
              <a:t>(</a:t>
            </a:r>
            <a:r>
              <a:rPr lang="pt-BR" sz="2000" dirty="0"/>
              <a:t> x ) no ponto ( x 1, </a:t>
            </a:r>
            <a:r>
              <a:rPr lang="pt-BR" sz="2000" dirty="0" smtClean="0"/>
              <a:t>f’(</a:t>
            </a:r>
            <a:r>
              <a:rPr lang="pt-BR" sz="2000" dirty="0"/>
              <a:t> x 1)) e observe o que a reta L intercepta o </a:t>
            </a:r>
            <a:r>
              <a:rPr lang="pt-BR" sz="2000" dirty="0" smtClean="0"/>
              <a:t>eixo x </a:t>
            </a:r>
            <a:r>
              <a:rPr lang="pt-BR" sz="2000" dirty="0"/>
              <a:t>em x2.</a:t>
            </a:r>
          </a:p>
          <a:p>
            <a:endParaRPr lang="pt-BR" sz="2000" dirty="0"/>
          </a:p>
          <a:p>
            <a:r>
              <a:rPr lang="pt-BR" sz="2000" dirty="0"/>
              <a:t>A ideia por trás do método de Newton é </a:t>
            </a:r>
            <a:r>
              <a:rPr lang="pt-BR" sz="2000" dirty="0" smtClean="0"/>
              <a:t>que a melhor estimativa para a raiz da equação é dada pelo raiz da equação da reta tangente L, ou seja, onde L intercepta o eixo x, que neste caso é x2. </a:t>
            </a:r>
            <a:r>
              <a:rPr lang="pt-BR" sz="2000" dirty="0"/>
              <a:t> Como a tangente é uma linha, podemos encontrar facilmente </a:t>
            </a:r>
            <a:r>
              <a:rPr lang="pt-BR" sz="2000" dirty="0" smtClean="0"/>
              <a:t>sua raiz.</a:t>
            </a:r>
          </a:p>
          <a:p>
            <a:endParaRPr lang="pt-BR" sz="2000" dirty="0"/>
          </a:p>
          <a:p>
            <a:r>
              <a:rPr lang="pt-BR" sz="2000" dirty="0"/>
              <a:t>Para encontrar uma fórmula para </a:t>
            </a:r>
            <a:r>
              <a:rPr lang="pt-BR" sz="2000" i="1" dirty="0" smtClean="0"/>
              <a:t>x</a:t>
            </a:r>
            <a:r>
              <a:rPr lang="pt-BR" sz="2000" dirty="0" smtClean="0"/>
              <a:t>2 </a:t>
            </a:r>
            <a:r>
              <a:rPr lang="pt-BR" sz="2000" dirty="0"/>
              <a:t>em termos de </a:t>
            </a:r>
            <a:r>
              <a:rPr lang="pt-BR" sz="2000" i="1" dirty="0" smtClean="0"/>
              <a:t>x</a:t>
            </a:r>
            <a:r>
              <a:rPr lang="pt-BR" sz="2000" dirty="0" smtClean="0"/>
              <a:t>1</a:t>
            </a:r>
            <a:r>
              <a:rPr lang="pt-BR" sz="2000" dirty="0"/>
              <a:t>, usamos o fato de que a inclinação de </a:t>
            </a:r>
            <a:r>
              <a:rPr lang="pt-BR" sz="2000" i="1" dirty="0"/>
              <a:t>L</a:t>
            </a:r>
            <a:r>
              <a:rPr lang="pt-BR" sz="2000" dirty="0"/>
              <a:t> é </a:t>
            </a:r>
            <a:r>
              <a:rPr lang="en-US" sz="2000" i="1" smtClean="0"/>
              <a:t> </a:t>
            </a:r>
            <a:r>
              <a:rPr lang="en-US" sz="2000" i="1" smtClean="0"/>
              <a:t>f’’</a:t>
            </a:r>
            <a:r>
              <a:rPr lang="pt-BR" sz="2000" smtClean="0"/>
              <a:t>(</a:t>
            </a:r>
            <a:r>
              <a:rPr lang="pt-BR" sz="2000" i="1" smtClean="0"/>
              <a:t>x</a:t>
            </a:r>
            <a:r>
              <a:rPr lang="pt-BR" sz="2000" smtClean="0"/>
              <a:t>1</a:t>
            </a:r>
            <a:r>
              <a:rPr lang="pt-BR" sz="2000" dirty="0"/>
              <a:t>), então sua equação é</a:t>
            </a:r>
          </a:p>
          <a:p>
            <a:endParaRPr lang="en-US" sz="800" dirty="0"/>
          </a:p>
          <a:p>
            <a:r>
              <a:rPr lang="en-US" i="1" dirty="0"/>
              <a:t>			y</a:t>
            </a:r>
            <a:r>
              <a:rPr lang="en-US" dirty="0"/>
              <a:t> – </a:t>
            </a:r>
            <a:r>
              <a:rPr lang="en-US" i="1" dirty="0" smtClean="0"/>
              <a:t>f</a:t>
            </a:r>
            <a:r>
              <a:rPr lang="en-US" dirty="0">
                <a:sym typeface="Symbol" panose="05050102010706020507" pitchFamily="18" charset="2"/>
              </a:rPr>
              <a:t> 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baseline="-25000" dirty="0" smtClean="0"/>
              <a:t>1</a:t>
            </a:r>
            <a:r>
              <a:rPr lang="en-US" dirty="0"/>
              <a:t>) = </a:t>
            </a:r>
            <a:r>
              <a:rPr lang="en-US" i="1" dirty="0"/>
              <a:t>f</a:t>
            </a:r>
            <a:r>
              <a:rPr lang="en-US" sz="800" i="1" dirty="0"/>
              <a:t> </a:t>
            </a:r>
            <a:r>
              <a:rPr lang="en-US" sz="800" dirty="0"/>
              <a:t> </a:t>
            </a:r>
            <a:r>
              <a:rPr lang="en-US" dirty="0">
                <a:sym typeface="Symbol" panose="05050102010706020507" pitchFamily="18" charset="2"/>
              </a:rPr>
              <a:t> </a:t>
            </a:r>
            <a:r>
              <a:rPr lang="en-US" dirty="0" smtClean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–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2900" dirty="0"/>
              <a:t>Dado </a:t>
            </a:r>
            <a:r>
              <a:rPr lang="en-US" sz="2900" dirty="0" err="1"/>
              <a:t>que</a:t>
            </a:r>
            <a:r>
              <a:rPr lang="en-US" sz="2900" dirty="0"/>
              <a:t> x2 é a </a:t>
            </a:r>
            <a:r>
              <a:rPr lang="en-US" sz="2900" dirty="0" err="1"/>
              <a:t>raiz</a:t>
            </a:r>
            <a:r>
              <a:rPr lang="en-US" sz="2900" dirty="0"/>
              <a:t> de L, </a:t>
            </a:r>
            <a:r>
              <a:rPr lang="en-US" sz="2900" dirty="0" err="1"/>
              <a:t>definimos</a:t>
            </a:r>
            <a:r>
              <a:rPr lang="en-US" sz="2900" dirty="0"/>
              <a:t> y </a:t>
            </a:r>
            <a:r>
              <a:rPr lang="en-US" sz="2900" dirty="0"/>
              <a:t>= 0 </a:t>
            </a:r>
            <a:r>
              <a:rPr lang="en-US" sz="2900" dirty="0"/>
              <a:t>e </a:t>
            </a:r>
            <a:r>
              <a:rPr lang="en-US" sz="2900" dirty="0" err="1"/>
              <a:t>obtemos</a:t>
            </a:r>
            <a:r>
              <a:rPr lang="en-US" sz="2900" dirty="0"/>
              <a:t> </a:t>
            </a:r>
            <a:endParaRPr lang="en-US" sz="2900" dirty="0"/>
          </a:p>
          <a:p>
            <a:endParaRPr lang="en-US" sz="2900" dirty="0"/>
          </a:p>
          <a:p>
            <a:r>
              <a:rPr lang="en-US" sz="2900" dirty="0"/>
              <a:t>		0 – </a:t>
            </a:r>
            <a:r>
              <a:rPr lang="en-US" sz="2900" dirty="0" smtClean="0"/>
              <a:t>f’(</a:t>
            </a:r>
            <a:r>
              <a:rPr lang="en-US" sz="2900" dirty="0"/>
              <a:t>x1) = </a:t>
            </a:r>
            <a:r>
              <a:rPr lang="en-US" sz="2900" dirty="0" smtClean="0"/>
              <a:t>f’’(x1</a:t>
            </a:r>
            <a:r>
              <a:rPr lang="en-US" sz="2900" dirty="0"/>
              <a:t>)(x2 – x1)</a:t>
            </a:r>
          </a:p>
          <a:p>
            <a:endParaRPr lang="en-US" sz="2000" dirty="0"/>
          </a:p>
          <a:p>
            <a:r>
              <a:rPr lang="en-US" sz="2000" dirty="0" smtClean="0"/>
              <a:t>Se </a:t>
            </a:r>
            <a:r>
              <a:rPr lang="en-US" sz="2000" i="1" dirty="0"/>
              <a:t>f</a:t>
            </a:r>
            <a:r>
              <a:rPr lang="en-US" sz="2000" dirty="0"/>
              <a:t>  </a:t>
            </a:r>
            <a:r>
              <a:rPr lang="en-US" sz="2000" dirty="0" smtClean="0"/>
              <a:t>‘</a:t>
            </a:r>
            <a:r>
              <a:rPr lang="en-US" sz="2000" dirty="0" smtClean="0">
                <a:sym typeface="Symbol" panose="05050102010706020507" pitchFamily="18" charset="2"/>
              </a:rPr>
              <a:t>’</a:t>
            </a:r>
            <a:r>
              <a:rPr lang="en-US" sz="2000" dirty="0" smtClean="0">
                <a:cs typeface="Arial" panose="020B0604020202020204" pitchFamily="34" charset="0"/>
              </a:rPr>
              <a:t>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  <a:r>
              <a:rPr lang="en-US" sz="2000" dirty="0">
                <a:sym typeface="Symbol" panose="05050102010706020507" pitchFamily="18" charset="2"/>
              </a:rPr>
              <a:t></a:t>
            </a:r>
            <a:r>
              <a:rPr lang="en-US" sz="2000" dirty="0"/>
              <a:t> 0, </a:t>
            </a:r>
            <a:r>
              <a:rPr lang="pt-BR" sz="2000" dirty="0"/>
              <a:t>podemos resolver esta equação para </a:t>
            </a:r>
            <a:r>
              <a:rPr lang="en-US" sz="2000" i="1" dirty="0" smtClean="0"/>
              <a:t>x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4500" dirty="0" smtClean="0"/>
          </a:p>
          <a:p>
            <a:pPr marL="0" indent="0">
              <a:buNone/>
            </a:pPr>
            <a:r>
              <a:rPr lang="en-US" sz="4500" dirty="0"/>
              <a:t>	</a:t>
            </a:r>
            <a:r>
              <a:rPr lang="en-US" sz="4500" dirty="0" smtClean="0"/>
              <a:t>X2 = x1 – f’(x1) / f’’(x1)</a:t>
            </a:r>
            <a:endParaRPr lang="en-US" sz="45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900" dirty="0"/>
              <a:t>Agora </a:t>
            </a:r>
            <a:r>
              <a:rPr lang="en-US" sz="2900" dirty="0" err="1"/>
              <a:t>podemos</a:t>
            </a:r>
            <a:r>
              <a:rPr lang="en-US" sz="2900" dirty="0"/>
              <a:t> </a:t>
            </a:r>
            <a:r>
              <a:rPr lang="en-US" sz="2900" dirty="0" err="1"/>
              <a:t>verificar</a:t>
            </a:r>
            <a:r>
              <a:rPr lang="en-US" sz="2900" dirty="0"/>
              <a:t> se x2 é </a:t>
            </a:r>
            <a:r>
              <a:rPr lang="en-US" sz="2900" dirty="0" err="1"/>
              <a:t>realmente</a:t>
            </a:r>
            <a:r>
              <a:rPr lang="en-US" sz="2900" dirty="0"/>
              <a:t> a </a:t>
            </a:r>
            <a:r>
              <a:rPr lang="en-US" sz="2900" dirty="0" err="1"/>
              <a:t>raiz</a:t>
            </a:r>
            <a:r>
              <a:rPr lang="en-US" sz="2900" dirty="0"/>
              <a:t>, </a:t>
            </a:r>
            <a:r>
              <a:rPr lang="en-US" sz="2900" dirty="0" err="1"/>
              <a:t>caso</a:t>
            </a:r>
            <a:r>
              <a:rPr lang="en-US" sz="2900" dirty="0"/>
              <a:t> </a:t>
            </a:r>
            <a:r>
              <a:rPr lang="en-US" sz="2900" dirty="0" err="1"/>
              <a:t>não</a:t>
            </a:r>
            <a:r>
              <a:rPr lang="en-US" sz="2900" dirty="0"/>
              <a:t> </a:t>
            </a:r>
            <a:r>
              <a:rPr lang="en-US" sz="2900" dirty="0" err="1"/>
              <a:t>seja</a:t>
            </a:r>
            <a:r>
              <a:rPr lang="en-US" sz="2900" dirty="0"/>
              <a:t>, </a:t>
            </a:r>
            <a:r>
              <a:rPr lang="en-US" sz="2900" dirty="0" err="1"/>
              <a:t>podemos</a:t>
            </a:r>
            <a:r>
              <a:rPr lang="en-US" sz="2900" dirty="0"/>
              <a:t> </a:t>
            </a:r>
            <a:r>
              <a:rPr lang="en-US" sz="2900" dirty="0" err="1"/>
              <a:t>usar</a:t>
            </a:r>
            <a:r>
              <a:rPr lang="en-US" sz="2900" dirty="0"/>
              <a:t> x2 </a:t>
            </a:r>
            <a:r>
              <a:rPr lang="en-US" sz="2900" dirty="0"/>
              <a:t>as </a:t>
            </a:r>
            <a:r>
              <a:rPr lang="en-US" sz="2900" dirty="0" err="1"/>
              <a:t>uma</a:t>
            </a:r>
            <a:r>
              <a:rPr lang="en-US" sz="2900" dirty="0"/>
              <a:t> </a:t>
            </a:r>
            <a:r>
              <a:rPr lang="en-US" sz="2900" dirty="0" err="1"/>
              <a:t>segunda</a:t>
            </a:r>
            <a:r>
              <a:rPr lang="en-US" sz="2900" dirty="0"/>
              <a:t> estimative para </a:t>
            </a:r>
            <a:r>
              <a:rPr lang="en-US" sz="2900" dirty="0" err="1"/>
              <a:t>encontrar</a:t>
            </a:r>
            <a:r>
              <a:rPr lang="en-US" sz="2900" dirty="0"/>
              <a:t> a </a:t>
            </a:r>
            <a:r>
              <a:rPr lang="en-US" sz="2900" dirty="0" err="1"/>
              <a:t>raiz</a:t>
            </a:r>
            <a:r>
              <a:rPr lang="en-US" sz="2900" dirty="0"/>
              <a:t> r.</a:t>
            </a:r>
            <a:endParaRPr lang="en-US" sz="2900" dirty="0"/>
          </a:p>
          <a:p>
            <a:endParaRPr lang="en-US" sz="2900" dirty="0"/>
          </a:p>
          <a:p>
            <a:r>
              <a:rPr lang="pt-BR" sz="2900" dirty="0"/>
              <a:t>A seguir, repetimos este procedimento com </a:t>
            </a:r>
            <a:r>
              <a:rPr lang="pt-BR" sz="2900" dirty="0"/>
              <a:t>x1 </a:t>
            </a:r>
            <a:r>
              <a:rPr lang="pt-BR" sz="2900" dirty="0"/>
              <a:t>substituído pela segunda aproximação </a:t>
            </a:r>
            <a:r>
              <a:rPr lang="pt-BR" sz="2900" dirty="0"/>
              <a:t>x2</a:t>
            </a:r>
            <a:r>
              <a:rPr lang="pt-BR" sz="2900" dirty="0"/>
              <a:t>, usando a reta tangente em ( </a:t>
            </a:r>
            <a:r>
              <a:rPr lang="pt-BR" sz="2900" dirty="0"/>
              <a:t>x2</a:t>
            </a:r>
            <a:r>
              <a:rPr lang="pt-BR" sz="2900" dirty="0"/>
              <a:t>, </a:t>
            </a:r>
            <a:r>
              <a:rPr lang="pt-BR" sz="2900" dirty="0"/>
              <a:t>f(x2</a:t>
            </a:r>
            <a:r>
              <a:rPr lang="pt-BR" sz="2900" dirty="0"/>
              <a:t>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473514"/>
            <a:ext cx="6591985" cy="3777622"/>
          </a:xfrm>
        </p:spPr>
        <p:txBody>
          <a:bodyPr>
            <a:normAutofit/>
          </a:bodyPr>
          <a:lstStyle/>
          <a:p>
            <a:r>
              <a:rPr lang="en-US" dirty="0" err="1" smtClean="0"/>
              <a:t>Isto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dá</a:t>
            </a:r>
            <a:r>
              <a:rPr lang="en-US" dirty="0" smtClean="0"/>
              <a:t> a Terceira </a:t>
            </a:r>
            <a:r>
              <a:rPr lang="en-US" dirty="0" err="1" smtClean="0"/>
              <a:t>aproximação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X3 </a:t>
            </a:r>
            <a:r>
              <a:rPr lang="en-US" dirty="0"/>
              <a:t>= </a:t>
            </a:r>
            <a:r>
              <a:rPr lang="en-US" dirty="0" smtClean="0"/>
              <a:t>x2 </a:t>
            </a:r>
            <a:r>
              <a:rPr lang="en-US" dirty="0"/>
              <a:t>– f’(</a:t>
            </a:r>
            <a:r>
              <a:rPr lang="en-US" dirty="0" smtClean="0"/>
              <a:t>x2) </a:t>
            </a:r>
            <a:r>
              <a:rPr lang="en-US" dirty="0"/>
              <a:t>/ f’’(</a:t>
            </a:r>
            <a:r>
              <a:rPr lang="en-US" dirty="0" smtClean="0"/>
              <a:t>x2)</a:t>
            </a:r>
            <a:endParaRPr lang="en-US" sz="1800" dirty="0"/>
          </a:p>
          <a:p>
            <a:r>
              <a:rPr lang="pt-BR" dirty="0"/>
              <a:t>Se continuarmos repetindo esse processo, obteremos uma sequência de aproximações </a:t>
            </a:r>
            <a:r>
              <a:rPr lang="pt-BR" i="1" dirty="0" smtClean="0"/>
              <a:t>x</a:t>
            </a:r>
            <a:r>
              <a:rPr lang="pt-BR" dirty="0" smtClean="0"/>
              <a:t>1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2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3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4</a:t>
            </a:r>
            <a:r>
              <a:rPr lang="pt-BR" dirty="0"/>
              <a:t>,. . . conforme mostrado na Figura 3.</a:t>
            </a:r>
          </a:p>
        </p:txBody>
      </p:sp>
      <p:pic>
        <p:nvPicPr>
          <p:cNvPr id="1546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7" y="3962400"/>
            <a:ext cx="287972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4364170" y="6238875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Figure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 err="1"/>
              <a:t>Método</a:t>
            </a:r>
            <a:r>
              <a:rPr lang="en-US" sz="3000" dirty="0"/>
              <a:t> de Newton para </a:t>
            </a:r>
            <a:r>
              <a:rPr lang="en-US" sz="3000" dirty="0" err="1"/>
              <a:t>mínimos</a:t>
            </a:r>
            <a:r>
              <a:rPr lang="en-US" sz="3000" dirty="0"/>
              <a:t> </a:t>
            </a:r>
            <a:endParaRPr lang="en-US" sz="3000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62088"/>
            <a:ext cx="8534400" cy="5256212"/>
          </a:xfrm>
        </p:spPr>
        <p:txBody>
          <a:bodyPr/>
          <a:lstStyle/>
          <a:p>
            <a:r>
              <a:rPr lang="pt-BR" sz="2000" dirty="0" smtClean="0"/>
              <a:t>Em geral, se o </a:t>
            </a:r>
            <a:r>
              <a:rPr lang="pt-BR" sz="2000" i="1" dirty="0" smtClean="0"/>
              <a:t>n</a:t>
            </a:r>
            <a:r>
              <a:rPr lang="pt-BR" sz="2000" dirty="0" smtClean="0"/>
              <a:t> </a:t>
            </a:r>
            <a:r>
              <a:rPr lang="pt-BR" sz="2000" dirty="0" err="1" smtClean="0"/>
              <a:t>th</a:t>
            </a:r>
            <a:r>
              <a:rPr lang="pt-BR" sz="2000" dirty="0" smtClean="0"/>
              <a:t> aproximação é </a:t>
            </a:r>
            <a:r>
              <a:rPr lang="pt-BR" sz="2000" i="1" dirty="0" err="1" smtClean="0"/>
              <a:t>xn</a:t>
            </a:r>
            <a:r>
              <a:rPr lang="pt-BR" sz="2000" dirty="0" smtClean="0"/>
              <a:t> e </a:t>
            </a:r>
            <a:r>
              <a:rPr lang="en-US" sz="2000" i="1" dirty="0" smtClean="0"/>
              <a:t>f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anose="05050102010706020507" pitchFamily="18" charset="2"/>
              </a:rPr>
              <a:t></a:t>
            </a:r>
            <a:r>
              <a:rPr lang="en-US" sz="2000" dirty="0" smtClean="0">
                <a:cs typeface="Arial" panose="020B0604020202020204" pitchFamily="34" charset="0"/>
              </a:rPr>
              <a:t>(</a:t>
            </a:r>
            <a:r>
              <a:rPr lang="en-US" sz="2000" i="1" dirty="0" err="1" smtClean="0"/>
              <a:t>x</a:t>
            </a:r>
            <a:r>
              <a:rPr lang="en-US" sz="2000" i="1" baseline="-25000" dirty="0" err="1" smtClean="0"/>
              <a:t>n</a:t>
            </a:r>
            <a:r>
              <a:rPr lang="en-US" sz="2000" dirty="0" smtClean="0"/>
              <a:t>) </a:t>
            </a:r>
            <a:r>
              <a:rPr lang="en-US" sz="2000" dirty="0" smtClean="0">
                <a:sym typeface="Symbol" panose="05050102010706020507" pitchFamily="18" charset="2"/>
              </a:rPr>
              <a:t></a:t>
            </a:r>
            <a:r>
              <a:rPr lang="en-US" sz="2000" dirty="0" smtClean="0"/>
              <a:t> 0, </a:t>
            </a:r>
            <a:r>
              <a:rPr lang="pt-BR" sz="2000" dirty="0" smtClean="0"/>
              <a:t>então o próximo é dado por aproximação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Xn+1 </a:t>
            </a:r>
            <a:r>
              <a:rPr lang="en-US" sz="2000" dirty="0"/>
              <a:t>= </a:t>
            </a:r>
            <a:r>
              <a:rPr lang="en-US" sz="2000" dirty="0" err="1" smtClean="0"/>
              <a:t>xn</a:t>
            </a:r>
            <a:r>
              <a:rPr lang="en-US" sz="2000" dirty="0" smtClean="0"/>
              <a:t> </a:t>
            </a:r>
            <a:r>
              <a:rPr lang="en-US" sz="2000" dirty="0"/>
              <a:t>– f’(</a:t>
            </a:r>
            <a:r>
              <a:rPr lang="en-US" sz="2000" dirty="0" err="1" smtClean="0"/>
              <a:t>xn</a:t>
            </a:r>
            <a:r>
              <a:rPr lang="en-US" sz="2000" dirty="0" smtClean="0"/>
              <a:t>) </a:t>
            </a:r>
            <a:r>
              <a:rPr lang="en-US" sz="2000" dirty="0"/>
              <a:t>/ f’’(</a:t>
            </a:r>
            <a:r>
              <a:rPr lang="en-US" sz="2000" dirty="0" err="1" smtClean="0"/>
              <a:t>xn</a:t>
            </a:r>
            <a:r>
              <a:rPr lang="en-US" sz="2000" dirty="0" smtClean="0"/>
              <a:t>)</a:t>
            </a:r>
            <a:endParaRPr lang="en-US" sz="2000" dirty="0"/>
          </a:p>
          <a:p>
            <a:pPr marL="0" indent="0">
              <a:buNone/>
            </a:pPr>
            <a:endParaRPr lang="pt-BR" sz="2000" dirty="0"/>
          </a:p>
          <a:p>
            <a:r>
              <a:rPr lang="pt-BR" sz="2000" dirty="0" smtClean="0"/>
              <a:t>Se os números </a:t>
            </a:r>
            <a:r>
              <a:rPr lang="pt-BR" sz="2000" i="1" dirty="0" err="1" smtClean="0"/>
              <a:t>xn</a:t>
            </a:r>
            <a:r>
              <a:rPr lang="pt-BR" sz="2000" dirty="0" smtClean="0"/>
              <a:t> se tornam cada vez mais próximos e </a:t>
            </a:r>
            <a:r>
              <a:rPr lang="pt-BR" sz="2000" i="1" dirty="0" smtClean="0"/>
              <a:t>r</a:t>
            </a:r>
            <a:r>
              <a:rPr lang="pt-BR" sz="2000" dirty="0" smtClean="0"/>
              <a:t> conforme </a:t>
            </a:r>
            <a:r>
              <a:rPr lang="pt-BR" sz="2000" i="1" dirty="0" smtClean="0"/>
              <a:t>n</a:t>
            </a:r>
            <a:r>
              <a:rPr lang="pt-BR" sz="2000" dirty="0" smtClean="0"/>
              <a:t> se </a:t>
            </a:r>
            <a:r>
              <a:rPr lang="pt-BR" sz="2000" dirty="0"/>
              <a:t>torna</a:t>
            </a:r>
            <a:r>
              <a:rPr lang="pt-BR" sz="2000" dirty="0" smtClean="0"/>
              <a:t> grande, então dizemos que a sequência </a:t>
            </a:r>
            <a:r>
              <a:rPr lang="pt-BR" sz="2000" i="1" dirty="0" smtClean="0"/>
              <a:t>converge </a:t>
            </a:r>
            <a:r>
              <a:rPr lang="pt-BR" sz="2000" dirty="0" smtClean="0"/>
              <a:t>para </a:t>
            </a:r>
            <a:r>
              <a:rPr lang="pt-BR" sz="2000" i="1" dirty="0" smtClean="0"/>
              <a:t>r e</a:t>
            </a:r>
            <a:r>
              <a:rPr lang="pt-BR" sz="2000" dirty="0" smtClean="0"/>
              <a:t> podemos dizer que</a:t>
            </a:r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587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105400"/>
            <a:ext cx="16271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352800"/>
            <a:ext cx="6589199" cy="1280890"/>
          </a:xfrm>
        </p:spPr>
        <p:txBody>
          <a:bodyPr/>
          <a:lstStyle/>
          <a:p>
            <a:r>
              <a:rPr lang="en-US" dirty="0" err="1" smtClean="0"/>
              <a:t>Vamos</a:t>
            </a:r>
            <a:r>
              <a:rPr lang="en-US" dirty="0" smtClean="0"/>
              <a:t> para o </a:t>
            </a:r>
            <a:r>
              <a:rPr lang="en-US" dirty="0" err="1" smtClean="0"/>
              <a:t>exemplo</a:t>
            </a:r>
            <a:endParaRPr lang="en-US" i="1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3000" smtClean="0"/>
              <a:t>Método de Newton para mínimos 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calc</Template>
  <TotalTime>1664</TotalTime>
  <Words>199</Words>
  <Application>Microsoft Office PowerPoint</Application>
  <PresentationFormat>Apresentação na tela (4:3)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Century Gothic</vt:lpstr>
      <vt:lpstr>Symbol</vt:lpstr>
      <vt:lpstr>Wingdings</vt:lpstr>
      <vt:lpstr>Wingdings 3</vt:lpstr>
      <vt:lpstr>calc</vt:lpstr>
      <vt:lpstr>McKBAlgP8</vt:lpstr>
      <vt:lpstr>Cacho</vt:lpstr>
      <vt:lpstr>Método de Newton para míminos de funções</vt:lpstr>
      <vt:lpstr>Método de Newton para mínimos </vt:lpstr>
      <vt:lpstr>Método de Newton para mínimos </vt:lpstr>
      <vt:lpstr>Método de Newton para mínimos </vt:lpstr>
      <vt:lpstr>Método de Newton para mínimos </vt:lpstr>
      <vt:lpstr>Método de Newton para mínimos </vt:lpstr>
      <vt:lpstr>Método de Newton para mínimos </vt:lpstr>
      <vt:lpstr>Método de Newton para mínimos </vt:lpstr>
      <vt:lpstr>Método de Newton para mínimos </vt:lpstr>
      <vt:lpstr>Vamos para o exemplo</vt:lpstr>
    </vt:vector>
  </TitlesOfParts>
  <Company>eee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antonio tavernard</cp:lastModifiedBy>
  <cp:revision>423</cp:revision>
  <dcterms:created xsi:type="dcterms:W3CDTF">2007-01-13T07:19:09Z</dcterms:created>
  <dcterms:modified xsi:type="dcterms:W3CDTF">2020-09-25T18:56:35Z</dcterms:modified>
</cp:coreProperties>
</file>