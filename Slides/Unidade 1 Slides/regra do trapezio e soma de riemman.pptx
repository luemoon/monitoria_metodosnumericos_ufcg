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0" r:id="rId2"/>
    <p:sldMasterId id="2147483690" r:id="rId3"/>
  </p:sldMasterIdLst>
  <p:notesMasterIdLst>
    <p:notesMasterId r:id="rId23"/>
  </p:notesMasterIdLst>
  <p:sldIdLst>
    <p:sldId id="389" r:id="rId4"/>
    <p:sldId id="313" r:id="rId5"/>
    <p:sldId id="316" r:id="rId6"/>
    <p:sldId id="318" r:id="rId7"/>
    <p:sldId id="319" r:id="rId8"/>
    <p:sldId id="322" r:id="rId9"/>
    <p:sldId id="323" r:id="rId10"/>
    <p:sldId id="336" r:id="rId11"/>
    <p:sldId id="338" r:id="rId12"/>
    <p:sldId id="337" r:id="rId13"/>
    <p:sldId id="339" r:id="rId14"/>
    <p:sldId id="340" r:id="rId15"/>
    <p:sldId id="373" r:id="rId16"/>
    <p:sldId id="374" r:id="rId17"/>
    <p:sldId id="375" r:id="rId18"/>
    <p:sldId id="376" r:id="rId19"/>
    <p:sldId id="377" r:id="rId20"/>
    <p:sldId id="378" r:id="rId21"/>
    <p:sldId id="385" r:id="rId22"/>
  </p:sldIdLst>
  <p:sldSz cx="9144000" cy="6858000" type="screen4x3"/>
  <p:notesSz cx="6858000" cy="9144000"/>
  <p:custDataLst>
    <p:tags r:id="rId24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40">
          <p15:clr>
            <a:srgbClr val="A4A3A4"/>
          </p15:clr>
        </p15:guide>
        <p15:guide id="2" pos="33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685"/>
    <a:srgbClr val="FFFFB7"/>
    <a:srgbClr val="E45C00"/>
    <a:srgbClr val="F2C3A0"/>
    <a:srgbClr val="F3C8A7"/>
    <a:srgbClr val="FDE8BF"/>
    <a:srgbClr val="B30000"/>
    <a:srgbClr val="00B9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236" autoAdjust="0"/>
    <p:restoredTop sz="94581" autoAdjust="0"/>
  </p:normalViewPr>
  <p:slideViewPr>
    <p:cSldViewPr>
      <p:cViewPr varScale="1">
        <p:scale>
          <a:sx n="111" d="100"/>
          <a:sy n="111" d="100"/>
        </p:scale>
        <p:origin x="90" y="186"/>
      </p:cViewPr>
      <p:guideLst>
        <p:guide orient="horz" pos="1440"/>
        <p:guide pos="3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4" d="100"/>
          <a:sy n="54" d="100"/>
        </p:scale>
        <p:origin x="-1746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gs" Target="tags/tag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xmlns="" id="{B8CE12E8-7018-4AB1-A78C-526AEE8C2B6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xmlns="" id="{7765EBF2-C2A9-47A9-A6FF-4665B71CD64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5301" name="Rectangle 5">
            <a:extLst>
              <a:ext uri="{FF2B5EF4-FFF2-40B4-BE49-F238E27FC236}">
                <a16:creationId xmlns:a16="http://schemas.microsoft.com/office/drawing/2014/main" xmlns="" id="{A079C420-B63E-424B-B4BB-A72A31D0D31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55302" name="Rectangle 6">
            <a:extLst>
              <a:ext uri="{FF2B5EF4-FFF2-40B4-BE49-F238E27FC236}">
                <a16:creationId xmlns:a16="http://schemas.microsoft.com/office/drawing/2014/main" xmlns="" id="{8796DA0B-9F8A-45D9-8110-A501C85D3EA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5303" name="Rectangle 7">
            <a:extLst>
              <a:ext uri="{FF2B5EF4-FFF2-40B4-BE49-F238E27FC236}">
                <a16:creationId xmlns:a16="http://schemas.microsoft.com/office/drawing/2014/main" xmlns="" id="{AAD83B6F-A8AA-4BC1-A699-579BDD4707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58F744B7-645C-4E5E-8AA0-89A4D1B7B392}" type="slidenum">
              <a:rPr lang="en-US" altLang="en-US"/>
              <a:pPr>
                <a:defRPr/>
              </a:pPr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688734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634296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13009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00562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5613" y="1143000"/>
            <a:ext cx="4108450" cy="5410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16463" y="1143000"/>
            <a:ext cx="4108450" cy="5410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55482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01547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16859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673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9613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29351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21884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358775"/>
            <a:ext cx="2108200" cy="61944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5613" y="358775"/>
            <a:ext cx="6173787" cy="61944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056902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xmlns="" id="{61797630-EF6A-4B12-AE18-0B2A8E16E8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xmlns="" id="{365EED44-828F-4CBA-92D1-8318DA5B8B7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xmlns="" id="{7FDC7EAA-58F6-487C-ABC1-540E3A4B50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14713069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xmlns="" id="{61797630-EF6A-4B12-AE18-0B2A8E16E8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xmlns="" id="{365EED44-828F-4CBA-92D1-8318DA5B8B7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xmlns="" id="{7FDC7EAA-58F6-487C-ABC1-540E3A4B50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03925041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xmlns="" id="{61797630-EF6A-4B12-AE18-0B2A8E16E8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xmlns="" id="{365EED44-828F-4CBA-92D1-8318DA5B8B7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xmlns="" id="{7FDC7EAA-58F6-487C-ABC1-540E3A4B50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8694120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62088"/>
            <a:ext cx="4038600" cy="52562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62088"/>
            <a:ext cx="4038600" cy="52562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61797630-EF6A-4B12-AE18-0B2A8E16E8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365EED44-828F-4CBA-92D1-8318DA5B8B7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xmlns="" id="{7FDC7EAA-58F6-487C-ABC1-540E3A4B50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66552040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xmlns="" id="{61797630-EF6A-4B12-AE18-0B2A8E16E8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xmlns="" id="{365EED44-828F-4CBA-92D1-8318DA5B8B7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7FDC7EAA-58F6-487C-ABC1-540E3A4B50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5266657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xmlns="" id="{61797630-EF6A-4B12-AE18-0B2A8E16E8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xmlns="" id="{365EED44-828F-4CBA-92D1-8318DA5B8B7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xmlns="" id="{7FDC7EAA-58F6-487C-ABC1-540E3A4B50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53207741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xmlns="" id="{61797630-EF6A-4B12-AE18-0B2A8E16E8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xmlns="" id="{365EED44-828F-4CBA-92D1-8318DA5B8B7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xmlns="" id="{7FDC7EAA-58F6-487C-ABC1-540E3A4B50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6609669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61797630-EF6A-4B12-AE18-0B2A8E16E8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365EED44-828F-4CBA-92D1-8318DA5B8B7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xmlns="" id="{7FDC7EAA-58F6-487C-ABC1-540E3A4B50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7928622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61797630-EF6A-4B12-AE18-0B2A8E16E8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365EED44-828F-4CBA-92D1-8318DA5B8B7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xmlns="" id="{7FDC7EAA-58F6-487C-ABC1-540E3A4B50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11626528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xmlns="" id="{61797630-EF6A-4B12-AE18-0B2A8E16E8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xmlns="" id="{365EED44-828F-4CBA-92D1-8318DA5B8B7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xmlns="" id="{7FDC7EAA-58F6-487C-ABC1-540E3A4B50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0277131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04000" y="228600"/>
            <a:ext cx="2082800" cy="64897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5600" y="228600"/>
            <a:ext cx="6096000" cy="64897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xmlns="" id="{61797630-EF6A-4B12-AE18-0B2A8E16E8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xmlns="" id="{365EED44-828F-4CBA-92D1-8318DA5B8B7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xmlns="" id="{7FDC7EAA-58F6-487C-ABC1-540E3A4B50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5592986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92838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10170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5263061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30148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6674798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903196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129510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83568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1321454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741182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230242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274976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06638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4331899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281939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4149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5613" y="1143000"/>
            <a:ext cx="8369300" cy="541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584200" y="358775"/>
            <a:ext cx="8305800" cy="585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DE8B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8" name="Text Box 10">
            <a:extLst>
              <a:ext uri="{FF2B5EF4-FFF2-40B4-BE49-F238E27FC236}">
                <a16:creationId xmlns:a16="http://schemas.microsoft.com/office/drawing/2014/main" xmlns="" id="{B9E8B73E-9FFE-4171-AE3A-D132B797781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496300" y="6388100"/>
            <a:ext cx="6477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fld id="{0F491E78-554B-42EA-A80A-9A1187788B33}" type="slidenum">
              <a:rPr lang="en-US" altLang="en-US" smtClean="0"/>
              <a:pPr eaLnBrk="1" hangingPunct="1">
                <a:spcBef>
                  <a:spcPct val="50000"/>
                </a:spcBef>
                <a:defRPr/>
              </a:pPr>
              <a:t>‹nº›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pitchFamily="34" charset="0"/>
        </a:defRPr>
      </a:lvl9pPr>
    </p:titleStyle>
    <p:bodyStyle>
      <a:lvl1pPr indent="3175" algn="l" rtl="0" eaLnBrk="0" fontAlgn="base" hangingPunct="0">
        <a:spcBef>
          <a:spcPct val="20000"/>
        </a:spcBef>
        <a:spcAft>
          <a:spcPct val="0"/>
        </a:spcAft>
        <a:tabLst>
          <a:tab pos="346075" algn="l"/>
        </a:tabLst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tabLst>
          <a:tab pos="346075" algn="l"/>
        </a:tabLst>
        <a:defRPr sz="2800">
          <a:solidFill>
            <a:schemeClr val="tx1"/>
          </a:solidFill>
          <a:latin typeface="+mn-lt"/>
        </a:defRPr>
      </a:lvl2pPr>
      <a:lvl3pPr marL="1431925" indent="-228600" algn="l" rtl="0" eaLnBrk="0" fontAlgn="base" hangingPunct="0">
        <a:spcBef>
          <a:spcPct val="20000"/>
        </a:spcBef>
        <a:spcAft>
          <a:spcPct val="0"/>
        </a:spcAft>
        <a:tabLst>
          <a:tab pos="346075" algn="l"/>
        </a:tabLst>
        <a:defRPr sz="2800">
          <a:solidFill>
            <a:schemeClr val="tx1"/>
          </a:solidFill>
          <a:latin typeface="+mn-lt"/>
        </a:defRPr>
      </a:lvl3pPr>
      <a:lvl4pPr marL="1774825" indent="-228600" algn="l" rtl="0" eaLnBrk="0" fontAlgn="base" hangingPunct="0">
        <a:spcBef>
          <a:spcPct val="20000"/>
        </a:spcBef>
        <a:spcAft>
          <a:spcPct val="0"/>
        </a:spcAft>
        <a:buChar char="–"/>
        <a:tabLst>
          <a:tab pos="346075" algn="l"/>
        </a:tabLst>
        <a:defRPr sz="2000">
          <a:solidFill>
            <a:schemeClr val="tx1"/>
          </a:solidFill>
          <a:latin typeface="+mn-lt"/>
        </a:defRPr>
      </a:lvl4pPr>
      <a:lvl5pPr marL="2117725" indent="-228600" algn="l" rtl="0" eaLnBrk="0" fontAlgn="base" hangingPunct="0">
        <a:spcBef>
          <a:spcPct val="20000"/>
        </a:spcBef>
        <a:spcAft>
          <a:spcPct val="0"/>
        </a:spcAft>
        <a:buChar char="»"/>
        <a:tabLst>
          <a:tab pos="346075" algn="l"/>
        </a:tabLst>
        <a:defRPr sz="2000">
          <a:solidFill>
            <a:schemeClr val="tx1"/>
          </a:solidFill>
          <a:latin typeface="+mn-lt"/>
        </a:defRPr>
      </a:lvl5pPr>
      <a:lvl6pPr marL="2574925" indent="-228600" algn="l" rtl="0" fontAlgn="base">
        <a:spcBef>
          <a:spcPct val="20000"/>
        </a:spcBef>
        <a:spcAft>
          <a:spcPct val="0"/>
        </a:spcAft>
        <a:buChar char="»"/>
        <a:tabLst>
          <a:tab pos="346075" algn="l"/>
        </a:tabLst>
        <a:defRPr sz="2000">
          <a:solidFill>
            <a:schemeClr val="tx1"/>
          </a:solidFill>
          <a:latin typeface="+mn-lt"/>
        </a:defRPr>
      </a:lvl6pPr>
      <a:lvl7pPr marL="3032125" indent="-228600" algn="l" rtl="0" fontAlgn="base">
        <a:spcBef>
          <a:spcPct val="20000"/>
        </a:spcBef>
        <a:spcAft>
          <a:spcPct val="0"/>
        </a:spcAft>
        <a:buChar char="»"/>
        <a:tabLst>
          <a:tab pos="346075" algn="l"/>
        </a:tabLst>
        <a:defRPr sz="2000">
          <a:solidFill>
            <a:schemeClr val="tx1"/>
          </a:solidFill>
          <a:latin typeface="+mn-lt"/>
        </a:defRPr>
      </a:lvl7pPr>
      <a:lvl8pPr marL="3489325" indent="-228600" algn="l" rtl="0" fontAlgn="base">
        <a:spcBef>
          <a:spcPct val="20000"/>
        </a:spcBef>
        <a:spcAft>
          <a:spcPct val="0"/>
        </a:spcAft>
        <a:buChar char="»"/>
        <a:tabLst>
          <a:tab pos="346075" algn="l"/>
        </a:tabLst>
        <a:defRPr sz="2000">
          <a:solidFill>
            <a:schemeClr val="tx1"/>
          </a:solidFill>
          <a:latin typeface="+mn-lt"/>
        </a:defRPr>
      </a:lvl8pPr>
      <a:lvl9pPr marL="3946525" indent="-228600" algn="l" rtl="0" fontAlgn="base">
        <a:spcBef>
          <a:spcPct val="20000"/>
        </a:spcBef>
        <a:spcAft>
          <a:spcPct val="0"/>
        </a:spcAft>
        <a:buChar char="»"/>
        <a:tabLst>
          <a:tab pos="346075" algn="l"/>
        </a:tabLst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icture1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2" t="-10527" r="948"/>
          <a:stretch>
            <a:fillRect/>
          </a:stretch>
        </p:blipFill>
        <p:spPr bwMode="auto">
          <a:xfrm>
            <a:off x="301625" y="427038"/>
            <a:ext cx="8613775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Text Box 3">
            <a:extLst>
              <a:ext uri="{FF2B5EF4-FFF2-40B4-BE49-F238E27FC236}">
                <a16:creationId xmlns:a16="http://schemas.microsoft.com/office/drawing/2014/main" xmlns="" id="{E4F807D9-888B-4656-9351-502C17311D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6019800"/>
            <a:ext cx="1219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endParaRPr lang="en-US" alt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462088"/>
            <a:ext cx="8229600" cy="5256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</p:txBody>
      </p:sp>
      <p:sp>
        <p:nvSpPr>
          <p:cNvPr id="226309" name="Rectangle 5">
            <a:extLst>
              <a:ext uri="{FF2B5EF4-FFF2-40B4-BE49-F238E27FC236}">
                <a16:creationId xmlns:a16="http://schemas.microsoft.com/office/drawing/2014/main" xmlns="" id="{61797630-EF6A-4B12-AE18-0B2A8E16E87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26310" name="Rectangle 6">
            <a:extLst>
              <a:ext uri="{FF2B5EF4-FFF2-40B4-BE49-F238E27FC236}">
                <a16:creationId xmlns:a16="http://schemas.microsoft.com/office/drawing/2014/main" xmlns="" id="{365EED44-828F-4CBA-92D1-8318DA5B8B7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55" name="Text Box 7">
            <a:extLst>
              <a:ext uri="{FF2B5EF4-FFF2-40B4-BE49-F238E27FC236}">
                <a16:creationId xmlns:a16="http://schemas.microsoft.com/office/drawing/2014/main" xmlns="" id="{4151954E-86A4-4701-8D71-A1214F8031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6300" y="6388100"/>
            <a:ext cx="6477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fld id="{521A0319-0F02-4604-882B-F7F38578BC78}" type="slidenum">
              <a:rPr lang="en-US" altLang="en-US" smtClean="0"/>
              <a:pPr eaLnBrk="1" hangingPunct="1">
                <a:spcBef>
                  <a:spcPct val="50000"/>
                </a:spcBef>
                <a:defRPr/>
              </a:pPr>
              <a:t>‹nº›</a:t>
            </a:fld>
            <a:endParaRPr lang="en-US" altLang="en-US"/>
          </a:p>
        </p:txBody>
      </p:sp>
      <p:sp>
        <p:nvSpPr>
          <p:cNvPr id="226312" name="Rectangle 8">
            <a:extLst>
              <a:ext uri="{FF2B5EF4-FFF2-40B4-BE49-F238E27FC236}">
                <a16:creationId xmlns:a16="http://schemas.microsoft.com/office/drawing/2014/main" xmlns="" id="{7FDC7EAA-58F6-487C-ABC1-540E3A4B50F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endParaRPr lang="en-US" altLang="en-US"/>
          </a:p>
        </p:txBody>
      </p:sp>
      <p:pic>
        <p:nvPicPr>
          <p:cNvPr id="2057" name="Picture 9" descr="Picture2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" y="228600"/>
            <a:ext cx="1270000" cy="74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8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355600" y="2286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2059" name="Text Box 11">
            <a:extLst>
              <a:ext uri="{FF2B5EF4-FFF2-40B4-BE49-F238E27FC236}">
                <a16:creationId xmlns:a16="http://schemas.microsoft.com/office/drawing/2014/main" xmlns="" id="{D7DFE61E-09CE-4854-80F3-2BBE7CA6D63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496300" y="6388100"/>
            <a:ext cx="6477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fld id="{3744CD72-0BF0-4FBE-BFD1-F51B897ADA44}" type="slidenum">
              <a:rPr lang="en-US" altLang="en-US" smtClean="0"/>
              <a:pPr eaLnBrk="1" hangingPunct="1">
                <a:spcBef>
                  <a:spcPct val="50000"/>
                </a:spcBef>
                <a:defRPr/>
              </a:pPr>
              <a:t>‹nº›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ransition/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pitchFamily="34" charset="0"/>
        </a:defRPr>
      </a:lvl9pPr>
    </p:titleStyle>
    <p:bodyStyle>
      <a:lvl1pPr algn="l" rtl="0" eaLnBrk="0" fontAlgn="base" hangingPunct="0">
        <a:spcBef>
          <a:spcPct val="20000"/>
        </a:spcBef>
        <a:spcAft>
          <a:spcPct val="0"/>
        </a:spcAft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400">
          <a:solidFill>
            <a:srgbClr val="0073AE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rgbClr val="0073AE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–"/>
        <a:defRPr sz="2000">
          <a:solidFill>
            <a:srgbClr val="0073AE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–"/>
        <a:defRPr sz="2000">
          <a:solidFill>
            <a:srgbClr val="0073AE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–"/>
        <a:defRPr sz="2000">
          <a:solidFill>
            <a:srgbClr val="0073AE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–"/>
        <a:defRPr sz="2000">
          <a:solidFill>
            <a:srgbClr val="0073AE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9FFFB4-400D-1240-AB24-6F86C96D4DFB}" type="datetimeFigureOut">
              <a:rPr lang="en-US" dirty="0"/>
              <a:t>11/11/2020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34" name="Text Box 11">
            <a:extLst>
              <a:ext uri="{FF2B5EF4-FFF2-40B4-BE49-F238E27FC236}">
                <a16:creationId xmlns:a16="http://schemas.microsoft.com/office/drawing/2014/main" xmlns="" id="{D7DFE61E-09CE-4854-80F3-2BBE7CA6D63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496300" y="6388100"/>
            <a:ext cx="6477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fld id="{3744CD72-0BF0-4FBE-BFD1-F51B897ADA44}" type="slidenum">
              <a:rPr lang="en-US" altLang="en-US" smtClean="0"/>
              <a:pPr eaLnBrk="1" hangingPunct="1">
                <a:spcBef>
                  <a:spcPct val="50000"/>
                </a:spcBef>
                <a:defRPr/>
              </a:pPr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4155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5.w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tags" Target="../tags/tag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wmf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wmf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3.w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2335402" y="1143000"/>
            <a:ext cx="4977645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600" dirty="0" smtClean="0"/>
              <a:t>Integrais definidas</a:t>
            </a:r>
            <a:endParaRPr lang="pt-BR" sz="4600" dirty="0"/>
          </a:p>
        </p:txBody>
      </p:sp>
      <p:sp>
        <p:nvSpPr>
          <p:cNvPr id="3" name="Subtítulo 1"/>
          <p:cNvSpPr>
            <a:spLocks noGrp="1"/>
          </p:cNvSpPr>
          <p:nvPr>
            <p:ph type="subTitle" idx="1"/>
          </p:nvPr>
        </p:nvSpPr>
        <p:spPr>
          <a:xfrm>
            <a:off x="1524000" y="4572000"/>
            <a:ext cx="6600451" cy="1126283"/>
          </a:xfrm>
        </p:spPr>
        <p:txBody>
          <a:bodyPr/>
          <a:lstStyle/>
          <a:p>
            <a:r>
              <a:rPr lang="pt-BR" dirty="0" smtClean="0"/>
              <a:t>Prof. Antonio Tavernard</a:t>
            </a:r>
            <a:endParaRPr lang="pt-BR" dirty="0"/>
          </a:p>
        </p:txBody>
      </p:sp>
      <p:sp>
        <p:nvSpPr>
          <p:cNvPr id="5" name="CaixaDeTexto 4"/>
          <p:cNvSpPr txBox="1"/>
          <p:nvPr/>
        </p:nvSpPr>
        <p:spPr>
          <a:xfrm>
            <a:off x="3429000" y="2081480"/>
            <a:ext cx="23791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 smtClean="0"/>
              <a:t>Soma de </a:t>
            </a:r>
            <a:r>
              <a:rPr lang="pt-BR" sz="2000" dirty="0" err="1" smtClean="0"/>
              <a:t>Riemman</a:t>
            </a:r>
            <a:endParaRPr lang="pt-BR" sz="2000" dirty="0" smtClean="0"/>
          </a:p>
          <a:p>
            <a:r>
              <a:rPr lang="pt-BR" sz="2000" dirty="0" smtClean="0"/>
              <a:t>Regra do Trapézio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699328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A integral </a:t>
            </a:r>
            <a:r>
              <a:rPr lang="en-US" altLang="en-US" dirty="0" err="1" smtClean="0"/>
              <a:t>definida</a:t>
            </a:r>
            <a:endParaRPr lang="en-US" altLang="en-US" dirty="0" smtClean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1942415" y="2133600"/>
            <a:ext cx="6591985" cy="4495800"/>
          </a:xfrm>
          <a:noFill/>
        </p:spPr>
        <p:txBody>
          <a:bodyPr>
            <a:normAutofit/>
          </a:bodyPr>
          <a:lstStyle/>
          <a:p>
            <a:pPr eaLnBrk="1" hangingPunct="1"/>
            <a:endParaRPr lang="en-US" altLang="en-US" b="1" dirty="0" smtClean="0"/>
          </a:p>
          <a:p>
            <a:pPr eaLnBrk="1" hangingPunct="1"/>
            <a:endParaRPr lang="en-US" altLang="en-US" b="1" dirty="0" smtClean="0"/>
          </a:p>
          <a:p>
            <a:pPr eaLnBrk="1" hangingPunct="1"/>
            <a:endParaRPr lang="en-US" altLang="en-US" b="1" dirty="0" smtClean="0"/>
          </a:p>
          <a:p>
            <a:pPr eaLnBrk="1" hangingPunct="1"/>
            <a:endParaRPr lang="en-US" altLang="en-US" b="1" dirty="0" smtClean="0"/>
          </a:p>
          <a:p>
            <a:pPr eaLnBrk="1" hangingPunct="1"/>
            <a:endParaRPr lang="en-US" altLang="en-US" b="1" dirty="0" smtClean="0"/>
          </a:p>
          <a:p>
            <a:pPr eaLnBrk="1" hangingPunct="1"/>
            <a:endParaRPr lang="en-US" altLang="en-US" sz="2800" b="1" dirty="0" smtClean="0"/>
          </a:p>
          <a:p>
            <a:pPr eaLnBrk="1" hangingPunct="1"/>
            <a:endParaRPr lang="en-US" altLang="en-US" sz="2800" b="1" dirty="0" smtClean="0"/>
          </a:p>
          <a:p>
            <a:pPr eaLnBrk="1" hangingPunct="1"/>
            <a:endParaRPr lang="en-US" altLang="en-US" sz="1800" b="1" dirty="0" smtClean="0"/>
          </a:p>
          <a:p>
            <a:r>
              <a:rPr lang="en-US" altLang="en-US" sz="1100" b="1" dirty="0" smtClean="0"/>
              <a:t>Note 1: </a:t>
            </a:r>
            <a:r>
              <a:rPr lang="pt-BR" sz="1100" dirty="0" smtClean="0"/>
              <a:t>O </a:t>
            </a:r>
            <a:r>
              <a:rPr lang="pt-BR" sz="1100" dirty="0"/>
              <a:t>símbolo </a:t>
            </a:r>
            <a:r>
              <a:rPr lang="en-US" altLang="en-US" sz="1100" b="1" dirty="0">
                <a:sym typeface="Symbol" panose="05050102010706020507" pitchFamily="18" charset="2"/>
              </a:rPr>
              <a:t></a:t>
            </a:r>
            <a:r>
              <a:rPr lang="en-US" altLang="en-US" sz="1100" dirty="0"/>
              <a:t> </a:t>
            </a:r>
            <a:r>
              <a:rPr lang="pt-BR" sz="1100" dirty="0"/>
              <a:t> foi introduzido por Leibniz e é chamado de </a:t>
            </a:r>
            <a:r>
              <a:rPr lang="pt-BR" sz="1100" b="1" dirty="0"/>
              <a:t>sinal integral</a:t>
            </a:r>
            <a:r>
              <a:rPr lang="pt-BR" sz="1100" dirty="0"/>
              <a:t> </a:t>
            </a:r>
            <a:r>
              <a:rPr lang="pt-BR" sz="1100" dirty="0" smtClean="0"/>
              <a:t>.</a:t>
            </a:r>
            <a:r>
              <a:rPr lang="pt-BR" sz="1100" dirty="0"/>
              <a:t> É um </a:t>
            </a:r>
            <a:r>
              <a:rPr lang="pt-BR" sz="1100" i="1" dirty="0"/>
              <a:t>S</a:t>
            </a:r>
            <a:r>
              <a:rPr lang="pt-BR" sz="1100" dirty="0"/>
              <a:t> alongado e foi escolhido porque uma integral é um limite de somas.</a:t>
            </a:r>
          </a:p>
          <a:p>
            <a:endParaRPr lang="en-US" altLang="en-US" sz="1100" dirty="0" smtClean="0">
              <a:solidFill>
                <a:srgbClr val="7030A0"/>
              </a:solidFill>
            </a:endParaRPr>
          </a:p>
        </p:txBody>
      </p:sp>
      <p:pic>
        <p:nvPicPr>
          <p:cNvPr id="7172" name="Picture 9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600200"/>
            <a:ext cx="8023225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E45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1256615" y="1350004"/>
            <a:ext cx="6591985" cy="3777622"/>
          </a:xfrm>
          <a:noFill/>
        </p:spPr>
        <p:txBody>
          <a:bodyPr/>
          <a:lstStyle/>
          <a:p>
            <a:r>
              <a:rPr lang="pt-BR" dirty="0"/>
              <a:t>A integral definida pode ser aproximada a qualquer grau desejado de precisão por uma soma de </a:t>
            </a:r>
            <a:r>
              <a:rPr lang="pt-BR" dirty="0" err="1"/>
              <a:t>Riemann</a:t>
            </a:r>
            <a:r>
              <a:rPr lang="pt-BR" dirty="0"/>
              <a:t>.</a:t>
            </a:r>
          </a:p>
          <a:p>
            <a:r>
              <a:rPr lang="pt-BR" dirty="0"/>
              <a:t>A soma de </a:t>
            </a:r>
            <a:r>
              <a:rPr lang="pt-BR" dirty="0" err="1"/>
              <a:t>Riemann</a:t>
            </a:r>
            <a:r>
              <a:rPr lang="pt-BR" dirty="0"/>
              <a:t> </a:t>
            </a:r>
            <a:r>
              <a:rPr lang="pt-BR" dirty="0" smtClean="0"/>
              <a:t>pode ser </a:t>
            </a:r>
            <a:r>
              <a:rPr lang="pt-BR" dirty="0"/>
              <a:t>interpretado como uma soma de áreas de retângulos aproximados.</a:t>
            </a:r>
          </a:p>
        </p:txBody>
      </p:sp>
      <p:sp>
        <p:nvSpPr>
          <p:cNvPr id="10244" name="Text Box 9"/>
          <p:cNvSpPr txBox="1">
            <a:spLocks noChangeArrowheads="1"/>
          </p:cNvSpPr>
          <p:nvPr/>
        </p:nvSpPr>
        <p:spPr bwMode="auto">
          <a:xfrm>
            <a:off x="5607825" y="4755335"/>
            <a:ext cx="350128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E45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rgbClr val="0073AE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rgbClr val="0073AE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rgbClr val="0073AE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rgbClr val="0073AE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rgbClr val="0073AE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rgbClr val="0073AE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400" dirty="0" smtClean="0"/>
              <a:t>Se </a:t>
            </a:r>
            <a:r>
              <a:rPr lang="en-US" altLang="en-US" sz="1400" i="1" dirty="0"/>
              <a:t>f</a:t>
            </a:r>
            <a:r>
              <a:rPr lang="en-US" altLang="en-US" sz="400" i="1" dirty="0"/>
              <a:t> </a:t>
            </a:r>
            <a:r>
              <a:rPr lang="en-US" altLang="en-US" sz="1400" dirty="0"/>
              <a:t>(</a:t>
            </a:r>
            <a:r>
              <a:rPr lang="en-US" altLang="en-US" sz="1400" i="1" dirty="0"/>
              <a:t>x</a:t>
            </a:r>
            <a:r>
              <a:rPr lang="en-US" altLang="en-US" sz="1400" dirty="0"/>
              <a:t>) </a:t>
            </a:r>
            <a:r>
              <a:rPr lang="en-US" altLang="en-US" sz="1400" b="1" dirty="0">
                <a:sym typeface="Symbol" panose="05050102010706020507" pitchFamily="18" charset="2"/>
              </a:rPr>
              <a:t></a:t>
            </a:r>
            <a:r>
              <a:rPr lang="en-US" altLang="en-US" sz="1400" dirty="0"/>
              <a:t> 0, </a:t>
            </a:r>
            <a:r>
              <a:rPr lang="en-US" altLang="en-US" sz="1400" dirty="0" smtClean="0"/>
              <a:t>a soma de Riemann </a:t>
            </a:r>
            <a:r>
              <a:rPr lang="en-US" altLang="en-US" sz="1400" dirty="0" smtClean="0">
                <a:sym typeface="Symbol" panose="05050102010706020507" pitchFamily="18" charset="2"/>
              </a:rPr>
              <a:t></a:t>
            </a:r>
            <a:r>
              <a:rPr lang="en-US" altLang="en-US" sz="1400" i="1" dirty="0"/>
              <a:t>f</a:t>
            </a:r>
            <a:r>
              <a:rPr lang="en-US" altLang="en-US" sz="400" i="1" dirty="0"/>
              <a:t> </a:t>
            </a:r>
            <a:r>
              <a:rPr lang="en-US" altLang="en-US" sz="1400" dirty="0"/>
              <a:t>(</a:t>
            </a:r>
            <a:r>
              <a:rPr lang="en-US" altLang="en-US" sz="1400" i="1" dirty="0"/>
              <a:t>x</a:t>
            </a:r>
            <a:r>
              <a:rPr lang="en-US" altLang="en-US" sz="1400" i="1" baseline="-25000" dirty="0"/>
              <a:t>i</a:t>
            </a:r>
            <a:r>
              <a:rPr lang="en-US" altLang="en-US" sz="1400" dirty="0"/>
              <a:t>*) </a:t>
            </a:r>
            <a:r>
              <a:rPr lang="en-US" altLang="en-US" sz="1400" dirty="0">
                <a:sym typeface="Symbol" panose="05050102010706020507" pitchFamily="18" charset="2"/>
              </a:rPr>
              <a:t></a:t>
            </a:r>
            <a:r>
              <a:rPr lang="en-US" altLang="en-US" sz="1400" i="1" dirty="0"/>
              <a:t>x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1400" dirty="0" smtClean="0"/>
              <a:t>É a soma das areas dos </a:t>
            </a:r>
            <a:r>
              <a:rPr lang="en-US" altLang="en-US" sz="1400" dirty="0" err="1" smtClean="0"/>
              <a:t>retangulos</a:t>
            </a:r>
            <a:r>
              <a:rPr lang="en-US" altLang="en-US" sz="1400" dirty="0" smtClean="0"/>
              <a:t>.</a:t>
            </a:r>
            <a:endParaRPr lang="en-US" altLang="en-US" sz="1400" dirty="0"/>
          </a:p>
        </p:txBody>
      </p:sp>
      <p:pic>
        <p:nvPicPr>
          <p:cNvPr id="10245" name="Picture 10" descr="7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3090672"/>
            <a:ext cx="3132793" cy="166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6" name="Rectangle 1"/>
          <p:cNvSpPr>
            <a:spLocks noChangeArrowheads="1"/>
          </p:cNvSpPr>
          <p:nvPr/>
        </p:nvSpPr>
        <p:spPr bwMode="auto">
          <a:xfrm>
            <a:off x="533400" y="5516563"/>
            <a:ext cx="73152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rgbClr val="0073AE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rgbClr val="0073AE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rgbClr val="0073AE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rgbClr val="0073AE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rgbClr val="0073AE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rgbClr val="0073AE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dirty="0"/>
              <a:t>A integral definida </a:t>
            </a:r>
            <a:r>
              <a:rPr lang="pt-BR" dirty="0" smtClean="0"/>
              <a:t>                  pode </a:t>
            </a:r>
            <a:r>
              <a:rPr lang="pt-BR" dirty="0"/>
              <a:t>ser interpretada como a área sob a curva </a:t>
            </a:r>
            <a:r>
              <a:rPr lang="pt-BR" i="1" dirty="0"/>
              <a:t>y</a:t>
            </a:r>
            <a:r>
              <a:rPr lang="pt-BR" dirty="0"/>
              <a:t> = </a:t>
            </a:r>
            <a:r>
              <a:rPr lang="pt-BR" i="1" dirty="0"/>
              <a:t>f</a:t>
            </a:r>
            <a:r>
              <a:rPr lang="pt-BR" dirty="0"/>
              <a:t> </a:t>
            </a:r>
            <a:r>
              <a:rPr lang="pt-BR" dirty="0" smtClean="0"/>
              <a:t>(</a:t>
            </a:r>
            <a:r>
              <a:rPr lang="pt-BR" i="1" dirty="0" smtClean="0"/>
              <a:t>x</a:t>
            </a:r>
            <a:r>
              <a:rPr lang="pt-BR" dirty="0" smtClean="0"/>
              <a:t>) </a:t>
            </a:r>
            <a:r>
              <a:rPr lang="pt-BR" dirty="0"/>
              <a:t>de </a:t>
            </a:r>
            <a:r>
              <a:rPr lang="pt-BR" i="1" dirty="0" smtClean="0"/>
              <a:t>[</a:t>
            </a:r>
            <a:r>
              <a:rPr lang="pt-BR" i="1" dirty="0" err="1" smtClean="0"/>
              <a:t>a,b</a:t>
            </a:r>
            <a:r>
              <a:rPr lang="pt-BR" i="1" dirty="0" smtClean="0"/>
              <a:t>]</a:t>
            </a:r>
            <a:endParaRPr lang="pt-BR" dirty="0"/>
          </a:p>
        </p:txBody>
      </p:sp>
      <p:pic>
        <p:nvPicPr>
          <p:cNvPr id="10247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0881" y="5563347"/>
            <a:ext cx="1462088" cy="412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E45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1447800" y="590555"/>
            <a:ext cx="6589199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altLang="en-US" dirty="0" smtClean="0"/>
              <a:t>A integral </a:t>
            </a:r>
            <a:r>
              <a:rPr lang="en-US" altLang="en-US" dirty="0" err="1" smtClean="0"/>
              <a:t>definida</a:t>
            </a:r>
            <a:endParaRPr lang="en-US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1219200" y="1524000"/>
            <a:ext cx="6591985" cy="3777622"/>
          </a:xfrm>
          <a:noFill/>
        </p:spPr>
        <p:txBody>
          <a:bodyPr/>
          <a:lstStyle/>
          <a:p>
            <a:r>
              <a:rPr lang="pt-BR" dirty="0"/>
              <a:t>Se </a:t>
            </a:r>
            <a:r>
              <a:rPr lang="pt-BR" i="1" dirty="0"/>
              <a:t>f</a:t>
            </a:r>
            <a:r>
              <a:rPr lang="pt-BR" dirty="0"/>
              <a:t> assumir valores positivos e negativos, a soma de </a:t>
            </a:r>
            <a:r>
              <a:rPr lang="pt-BR" dirty="0" err="1"/>
              <a:t>Riemann</a:t>
            </a:r>
            <a:r>
              <a:rPr lang="pt-BR" dirty="0"/>
              <a:t> é a soma das áreas dos retângulos que se encontram acima do eixo </a:t>
            </a:r>
            <a:r>
              <a:rPr lang="pt-BR" i="1" dirty="0"/>
              <a:t>x</a:t>
            </a:r>
            <a:r>
              <a:rPr lang="pt-BR" dirty="0"/>
              <a:t> e as </a:t>
            </a:r>
            <a:r>
              <a:rPr lang="pt-BR" i="1" dirty="0"/>
              <a:t>negativas</a:t>
            </a:r>
            <a:r>
              <a:rPr lang="pt-BR" dirty="0"/>
              <a:t> das áreas dos retângulos que se encontram abaixo do eixo </a:t>
            </a:r>
            <a:r>
              <a:rPr lang="pt-BR" i="1" dirty="0"/>
              <a:t>x</a:t>
            </a:r>
            <a:r>
              <a:rPr lang="pt-BR" dirty="0"/>
              <a:t> (as áreas do retângulos azuis </a:t>
            </a:r>
            <a:r>
              <a:rPr lang="pt-BR" b="1" i="1" dirty="0"/>
              <a:t>menos</a:t>
            </a:r>
            <a:r>
              <a:rPr lang="pt-BR" i="1" dirty="0"/>
              <a:t> </a:t>
            </a:r>
            <a:r>
              <a:rPr lang="pt-BR" dirty="0"/>
              <a:t>as áreas dos retângulos dourados).</a:t>
            </a:r>
          </a:p>
        </p:txBody>
      </p:sp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4126255" y="5419218"/>
            <a:ext cx="7778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E45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rgbClr val="0073AE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rgbClr val="0073AE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rgbClr val="0073AE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rgbClr val="0073AE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rgbClr val="0073AE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rgbClr val="0073AE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en-US" altLang="en-US" sz="1200" b="1"/>
              <a:t>Figure 3</a:t>
            </a:r>
          </a:p>
        </p:txBody>
      </p:sp>
      <p:sp>
        <p:nvSpPr>
          <p:cNvPr id="11269" name="Text Box 5"/>
          <p:cNvSpPr txBox="1">
            <a:spLocks noChangeArrowheads="1"/>
          </p:cNvSpPr>
          <p:nvPr/>
        </p:nvSpPr>
        <p:spPr bwMode="auto">
          <a:xfrm>
            <a:off x="3176930" y="5701793"/>
            <a:ext cx="28194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E45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rgbClr val="0073AE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rgbClr val="0073AE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rgbClr val="0073AE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rgbClr val="0073AE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rgbClr val="0073AE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rgbClr val="0073AE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400" dirty="0">
                <a:sym typeface="Symbol" panose="05050102010706020507" pitchFamily="18" charset="2"/>
              </a:rPr>
              <a:t></a:t>
            </a:r>
            <a:r>
              <a:rPr lang="en-US" altLang="en-US" sz="1400" i="1" dirty="0"/>
              <a:t>f</a:t>
            </a:r>
            <a:r>
              <a:rPr lang="en-US" altLang="en-US" sz="400" i="1" dirty="0"/>
              <a:t> </a:t>
            </a:r>
            <a:r>
              <a:rPr lang="en-US" altLang="en-US" sz="1400" dirty="0"/>
              <a:t>(</a:t>
            </a:r>
            <a:r>
              <a:rPr lang="en-US" altLang="en-US" sz="1400" i="1" dirty="0"/>
              <a:t>x</a:t>
            </a:r>
            <a:r>
              <a:rPr lang="en-US" altLang="en-US" sz="1400" i="1" baseline="-25000" dirty="0"/>
              <a:t>i</a:t>
            </a:r>
            <a:r>
              <a:rPr lang="en-US" altLang="en-US" sz="1400" dirty="0"/>
              <a:t>*) </a:t>
            </a:r>
            <a:r>
              <a:rPr lang="en-US" altLang="en-US" sz="1400" dirty="0">
                <a:sym typeface="Symbol" panose="05050102010706020507" pitchFamily="18" charset="2"/>
              </a:rPr>
              <a:t></a:t>
            </a:r>
            <a:r>
              <a:rPr lang="en-US" altLang="en-US" sz="1400" i="1" dirty="0"/>
              <a:t>x</a:t>
            </a:r>
            <a:r>
              <a:rPr lang="en-US" altLang="en-US" sz="1400" dirty="0"/>
              <a:t> </a:t>
            </a:r>
            <a:r>
              <a:rPr lang="en-US" altLang="en-US" sz="1400" dirty="0" smtClean="0"/>
              <a:t>é </a:t>
            </a:r>
            <a:r>
              <a:rPr lang="en-US" altLang="en-US" sz="1400" dirty="0" err="1" smtClean="0"/>
              <a:t>uma</a:t>
            </a:r>
            <a:r>
              <a:rPr lang="en-US" altLang="en-US" sz="1400" dirty="0" smtClean="0"/>
              <a:t> </a:t>
            </a:r>
            <a:r>
              <a:rPr lang="en-US" altLang="en-US" sz="1400" dirty="0" err="1" smtClean="0"/>
              <a:t>aproximaçã</a:t>
            </a:r>
            <a:r>
              <a:rPr lang="en-US" altLang="en-US" sz="1400" dirty="0" smtClean="0"/>
              <a:t> da area</a:t>
            </a:r>
            <a:endParaRPr lang="en-US" altLang="en-US" sz="1400" dirty="0"/>
          </a:p>
        </p:txBody>
      </p:sp>
      <p:pic>
        <p:nvPicPr>
          <p:cNvPr id="11270" name="Picture 9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7429" y="3524856"/>
            <a:ext cx="4835525" cy="1919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E45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A integral </a:t>
            </a:r>
            <a:r>
              <a:rPr lang="en-US" altLang="en-US" dirty="0" err="1" smtClean="0"/>
              <a:t>definida</a:t>
            </a:r>
            <a:endParaRPr lang="en-US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1226795" y="1591782"/>
            <a:ext cx="6591985" cy="3777622"/>
          </a:xfrm>
          <a:noFill/>
        </p:spPr>
        <p:txBody>
          <a:bodyPr/>
          <a:lstStyle/>
          <a:p>
            <a:r>
              <a:rPr lang="pt-BR" dirty="0"/>
              <a:t>Quando tomamos o limite dessas somas de </a:t>
            </a:r>
            <a:r>
              <a:rPr lang="pt-BR" dirty="0" err="1"/>
              <a:t>Riemann</a:t>
            </a:r>
            <a:r>
              <a:rPr lang="pt-BR" dirty="0"/>
              <a:t>, obtemos a situação ilustrada na Figura 4. Uma integral definida pode ser interpretada como uma </a:t>
            </a:r>
            <a:r>
              <a:rPr lang="pt-BR" b="1" dirty="0"/>
              <a:t>área líquida:</a:t>
            </a:r>
            <a:endParaRPr lang="pt-BR" dirty="0"/>
          </a:p>
          <a:p>
            <a:pPr eaLnBrk="1" hangingPunct="1">
              <a:lnSpc>
                <a:spcPct val="115000"/>
              </a:lnSpc>
            </a:pPr>
            <a:endParaRPr lang="en-US" altLang="en-US" dirty="0" smtClean="0"/>
          </a:p>
          <a:p>
            <a:pPr eaLnBrk="1" hangingPunct="1">
              <a:lnSpc>
                <a:spcPct val="110000"/>
              </a:lnSpc>
            </a:pPr>
            <a:endParaRPr lang="en-US" altLang="en-US" dirty="0" smtClean="0"/>
          </a:p>
          <a:p>
            <a:pPr eaLnBrk="1" hangingPunct="1">
              <a:lnSpc>
                <a:spcPct val="110000"/>
              </a:lnSpc>
            </a:pPr>
            <a:endParaRPr lang="en-US" altLang="en-US" dirty="0" smtClean="0"/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3904885" y="5406436"/>
            <a:ext cx="69923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E45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rgbClr val="0073AE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rgbClr val="0073AE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rgbClr val="0073AE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rgbClr val="0073AE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rgbClr val="0073AE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rgbClr val="0073AE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en-US" altLang="en-US" sz="1200" b="1" dirty="0"/>
              <a:t>Figure </a:t>
            </a:r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3016251" y="5730286"/>
            <a:ext cx="2819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E45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rgbClr val="0073AE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rgbClr val="0073AE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rgbClr val="0073AE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rgbClr val="0073AE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rgbClr val="0073AE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rgbClr val="0073AE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400" dirty="0"/>
              <a:t>                    </a:t>
            </a:r>
            <a:r>
              <a:rPr lang="en-US" altLang="en-US" sz="1400" dirty="0" smtClean="0"/>
              <a:t>é a  area </a:t>
            </a:r>
            <a:r>
              <a:rPr lang="en-US" altLang="en-US" sz="1400" dirty="0" err="1" smtClean="0"/>
              <a:t>liquida</a:t>
            </a:r>
            <a:r>
              <a:rPr lang="en-US" altLang="en-US" sz="1400" dirty="0" smtClean="0"/>
              <a:t>.</a:t>
            </a:r>
            <a:endParaRPr lang="en-US" altLang="en-US" sz="1400" dirty="0"/>
          </a:p>
        </p:txBody>
      </p:sp>
      <p:pic>
        <p:nvPicPr>
          <p:cNvPr id="12294" name="Picture 7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3576499"/>
            <a:ext cx="4241800" cy="169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E45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5" name="Picture 8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793" y="2875756"/>
            <a:ext cx="3198813" cy="639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E45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6" name="Picture 9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1" y="5758861"/>
            <a:ext cx="804862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E45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A integral </a:t>
            </a:r>
            <a:r>
              <a:rPr lang="en-US" altLang="en-US" dirty="0" err="1" smtClean="0"/>
              <a:t>definida</a:t>
            </a:r>
            <a:endParaRPr lang="en-US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1447800"/>
            <a:ext cx="6591985" cy="3777622"/>
          </a:xfrm>
          <a:noFill/>
        </p:spPr>
        <p:txBody>
          <a:bodyPr/>
          <a:lstStyle/>
          <a:p>
            <a:pPr eaLnBrk="1" hangingPunct="1">
              <a:lnSpc>
                <a:spcPct val="115000"/>
              </a:lnSpc>
            </a:pPr>
            <a:r>
              <a:rPr lang="en-US" altLang="en-US" dirty="0" smtClean="0"/>
              <a:t>O </a:t>
            </a:r>
            <a:r>
              <a:rPr lang="en-US" altLang="en-US" dirty="0" err="1" smtClean="0"/>
              <a:t>teorema</a:t>
            </a:r>
            <a:r>
              <a:rPr lang="en-US" altLang="en-US" dirty="0" smtClean="0"/>
              <a:t> é</a:t>
            </a:r>
            <a:endParaRPr lang="en-US" altLang="en-US" dirty="0" smtClean="0"/>
          </a:p>
        </p:txBody>
      </p:sp>
      <p:pic>
        <p:nvPicPr>
          <p:cNvPr id="13316" name="Picture 7" descr="Picture3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950355"/>
            <a:ext cx="8948738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7" name="Rectangle 1"/>
          <p:cNvSpPr>
            <a:spLocks noChangeArrowheads="1"/>
          </p:cNvSpPr>
          <p:nvPr/>
        </p:nvSpPr>
        <p:spPr bwMode="auto">
          <a:xfrm>
            <a:off x="2133600" y="4495800"/>
            <a:ext cx="4572000" cy="170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rgbClr val="0073AE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rgbClr val="0073AE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rgbClr val="0073AE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rgbClr val="0073AE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rgbClr val="0073AE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rgbClr val="0073AE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25000"/>
              </a:lnSpc>
              <a:spcBef>
                <a:spcPct val="0"/>
              </a:spcBef>
            </a:pPr>
            <a:r>
              <a:rPr lang="en-US" altLang="en-US" sz="2800" dirty="0" err="1" smtClean="0"/>
              <a:t>Substituimos</a:t>
            </a:r>
            <a:r>
              <a:rPr lang="en-US" altLang="en-US" sz="2800" dirty="0" smtClean="0"/>
              <a:t> </a:t>
            </a:r>
            <a:r>
              <a:rPr lang="en-US" altLang="en-US" sz="2800" dirty="0" err="1" smtClean="0"/>
              <a:t>lim</a:t>
            </a:r>
            <a:r>
              <a:rPr lang="en-US" altLang="en-US" sz="2800" dirty="0" smtClean="0"/>
              <a:t> </a:t>
            </a:r>
            <a:r>
              <a:rPr lang="en-US" altLang="en-US" sz="2800" dirty="0">
                <a:sym typeface="Symbol" panose="05050102010706020507" pitchFamily="18" charset="2"/>
              </a:rPr>
              <a:t></a:t>
            </a:r>
            <a:r>
              <a:rPr lang="en-US" altLang="en-US" sz="2800" dirty="0"/>
              <a:t> </a:t>
            </a:r>
            <a:r>
              <a:rPr lang="en-US" altLang="en-US" sz="2800" dirty="0" err="1" smtClean="0"/>
              <a:t>por</a:t>
            </a:r>
            <a:r>
              <a:rPr lang="en-US" altLang="en-US" sz="2800" dirty="0" smtClean="0"/>
              <a:t> </a:t>
            </a:r>
            <a:r>
              <a:rPr lang="en-US" altLang="en-US" sz="2800" b="1" dirty="0" smtClean="0">
                <a:sym typeface="Symbol" panose="05050102010706020507" pitchFamily="18" charset="2"/>
              </a:rPr>
              <a:t></a:t>
            </a:r>
            <a:r>
              <a:rPr lang="en-US" altLang="en-US" sz="2800" dirty="0"/>
              <a:t>, </a:t>
            </a:r>
          </a:p>
          <a:p>
            <a:pPr algn="ctr" eaLnBrk="1" hangingPunct="1">
              <a:lnSpc>
                <a:spcPct val="125000"/>
              </a:lnSpc>
              <a:spcBef>
                <a:spcPct val="0"/>
              </a:spcBef>
            </a:pPr>
            <a:r>
              <a:rPr lang="en-US" altLang="en-US" sz="2800" i="1" dirty="0"/>
              <a:t>x</a:t>
            </a:r>
            <a:r>
              <a:rPr lang="en-US" altLang="en-US" sz="2800" i="1" baseline="-25000" dirty="0"/>
              <a:t>i</a:t>
            </a:r>
            <a:r>
              <a:rPr lang="en-US" altLang="en-US" sz="2800" dirty="0"/>
              <a:t> </a:t>
            </a:r>
            <a:r>
              <a:rPr lang="en-US" altLang="en-US" sz="2800" dirty="0" err="1" smtClean="0"/>
              <a:t>por</a:t>
            </a:r>
            <a:r>
              <a:rPr lang="en-US" altLang="en-US" sz="2800" dirty="0" smtClean="0"/>
              <a:t> </a:t>
            </a:r>
            <a:r>
              <a:rPr lang="en-US" altLang="en-US" sz="2800" i="1" dirty="0" smtClean="0"/>
              <a:t>x</a:t>
            </a:r>
            <a:r>
              <a:rPr lang="en-US" altLang="en-US" sz="2800" dirty="0"/>
              <a:t>, </a:t>
            </a:r>
          </a:p>
          <a:p>
            <a:pPr algn="ctr" eaLnBrk="1" hangingPunct="1">
              <a:lnSpc>
                <a:spcPct val="125000"/>
              </a:lnSpc>
              <a:spcBef>
                <a:spcPct val="0"/>
              </a:spcBef>
            </a:pPr>
            <a:r>
              <a:rPr lang="en-US" altLang="en-US" sz="2800" dirty="0" smtClean="0"/>
              <a:t>E </a:t>
            </a:r>
            <a:r>
              <a:rPr lang="en-US" altLang="en-US" sz="2800" dirty="0" smtClean="0">
                <a:sym typeface="Symbol" panose="05050102010706020507" pitchFamily="18" charset="2"/>
              </a:rPr>
              <a:t></a:t>
            </a:r>
            <a:r>
              <a:rPr lang="en-US" altLang="en-US" sz="2800" i="1" dirty="0"/>
              <a:t>x </a:t>
            </a:r>
            <a:r>
              <a:rPr lang="en-US" altLang="en-US" sz="2800" i="1" dirty="0" err="1" smtClean="0"/>
              <a:t>por</a:t>
            </a:r>
            <a:r>
              <a:rPr lang="en-US" altLang="en-US" sz="2800" i="1" dirty="0" smtClean="0"/>
              <a:t> dx</a:t>
            </a:r>
            <a:r>
              <a:rPr lang="en-US" altLang="en-US" sz="2800" dirty="0"/>
              <a:t>.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A integral </a:t>
            </a:r>
            <a:r>
              <a:rPr lang="en-US" altLang="en-US" dirty="0" err="1" smtClean="0"/>
              <a:t>definida</a:t>
            </a:r>
            <a:endParaRPr lang="en-US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err="1" smtClean="0"/>
              <a:t>Examplo</a:t>
            </a:r>
            <a:r>
              <a:rPr lang="en-US" altLang="en-US" dirty="0" smtClean="0"/>
              <a:t> </a:t>
            </a:r>
            <a:r>
              <a:rPr lang="en-US" altLang="en-US" dirty="0" smtClean="0"/>
              <a:t>1</a:t>
            </a:r>
            <a:endParaRPr lang="en-US" altLang="en-US" i="1" dirty="0" smtClean="0"/>
          </a:p>
        </p:txBody>
      </p:sp>
      <p:sp>
        <p:nvSpPr>
          <p:cNvPr id="188419" name="Rectangle 3"/>
          <p:cNvSpPr>
            <a:spLocks noGrp="1" noChangeArrowheads="1"/>
          </p:cNvSpPr>
          <p:nvPr>
            <p:ph idx="1"/>
          </p:nvPr>
        </p:nvSpPr>
        <p:spPr>
          <a:xfrm>
            <a:off x="1219200" y="1752600"/>
            <a:ext cx="6591985" cy="3777622"/>
          </a:xfrm>
          <a:noFill/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dirty="0" err="1" smtClean="0"/>
              <a:t>expressar</a:t>
            </a:r>
            <a:endParaRPr lang="en-US" altLang="en-US" dirty="0" smtClean="0"/>
          </a:p>
          <a:p>
            <a:pPr eaLnBrk="1" hangingPunct="1"/>
            <a:endParaRPr lang="en-US" altLang="en-US" i="1" dirty="0" smtClean="0"/>
          </a:p>
          <a:p>
            <a:pPr eaLnBrk="1" hangingPunct="1"/>
            <a:endParaRPr lang="en-US" altLang="en-US" sz="1200" dirty="0" smtClean="0"/>
          </a:p>
          <a:p>
            <a:pPr marL="0" indent="0">
              <a:buNone/>
            </a:pPr>
            <a:r>
              <a:rPr lang="pt-BR" dirty="0"/>
              <a:t>como uma integral no intervalo</a:t>
            </a:r>
            <a:r>
              <a:rPr lang="en-US" altLang="en-US" dirty="0" smtClean="0"/>
              <a:t>[0</a:t>
            </a:r>
            <a:r>
              <a:rPr lang="en-US" altLang="en-US" dirty="0" smtClean="0"/>
              <a:t>, </a:t>
            </a:r>
            <a:r>
              <a:rPr lang="en-US" altLang="en-US" dirty="0" smtClean="0">
                <a:sym typeface="Symbol" panose="05050102010706020507" pitchFamily="18" charset="2"/>
              </a:rPr>
              <a:t></a:t>
            </a:r>
            <a:r>
              <a:rPr lang="en-US" altLang="en-US" dirty="0" smtClean="0"/>
              <a:t>].</a:t>
            </a:r>
          </a:p>
          <a:p>
            <a:pPr eaLnBrk="1" hangingPunct="1"/>
            <a:endParaRPr lang="en-US" altLang="en-US" sz="1200" dirty="0" smtClean="0">
              <a:solidFill>
                <a:srgbClr val="0073AE"/>
              </a:solidFill>
            </a:endParaRPr>
          </a:p>
          <a:p>
            <a:pPr eaLnBrk="1" hangingPunct="1"/>
            <a:r>
              <a:rPr lang="en-US" altLang="en-US" dirty="0" err="1" smtClean="0">
                <a:solidFill>
                  <a:srgbClr val="0073AE"/>
                </a:solidFill>
              </a:rPr>
              <a:t>solução</a:t>
            </a:r>
            <a:r>
              <a:rPr lang="en-US" altLang="en-US" dirty="0" smtClean="0">
                <a:solidFill>
                  <a:srgbClr val="0073AE"/>
                </a:solidFill>
              </a:rPr>
              <a:t>:</a:t>
            </a:r>
            <a:endParaRPr lang="en-US" altLang="en-US" dirty="0" smtClean="0">
              <a:solidFill>
                <a:srgbClr val="0073AE"/>
              </a:solidFill>
            </a:endParaRPr>
          </a:p>
          <a:p>
            <a:pPr eaLnBrk="1" hangingPunct="1"/>
            <a:r>
              <a:rPr lang="en-US" altLang="en-US" i="1" dirty="0" smtClean="0"/>
              <a:t>f</a:t>
            </a:r>
            <a:r>
              <a:rPr lang="en-US" altLang="en-US" sz="400" i="1" dirty="0" smtClean="0"/>
              <a:t> </a:t>
            </a:r>
            <a:r>
              <a:rPr lang="en-US" altLang="en-US" dirty="0" smtClean="0"/>
              <a:t>(</a:t>
            </a:r>
            <a:r>
              <a:rPr lang="en-US" altLang="en-US" i="1" dirty="0" smtClean="0"/>
              <a:t>x</a:t>
            </a:r>
            <a:r>
              <a:rPr lang="en-US" altLang="en-US" dirty="0" smtClean="0"/>
              <a:t>) = </a:t>
            </a:r>
            <a:r>
              <a:rPr lang="en-US" altLang="en-US" i="1" dirty="0" smtClean="0"/>
              <a:t>x</a:t>
            </a:r>
            <a:r>
              <a:rPr lang="en-US" altLang="en-US" baseline="30000" dirty="0" smtClean="0"/>
              <a:t>3 </a:t>
            </a:r>
            <a:r>
              <a:rPr lang="en-US" altLang="en-US" dirty="0" smtClean="0"/>
              <a:t>+ </a:t>
            </a:r>
            <a:r>
              <a:rPr lang="en-US" altLang="en-US" i="1" dirty="0" smtClean="0"/>
              <a:t>x </a:t>
            </a:r>
            <a:r>
              <a:rPr lang="en-US" altLang="en-US" dirty="0" smtClean="0"/>
              <a:t>sin </a:t>
            </a:r>
            <a:r>
              <a:rPr lang="en-US" altLang="en-US" i="1" dirty="0" smtClean="0"/>
              <a:t>x</a:t>
            </a:r>
            <a:r>
              <a:rPr lang="en-US" altLang="en-US" dirty="0" smtClean="0"/>
              <a:t>.  </a:t>
            </a:r>
            <a:r>
              <a:rPr lang="en-US" altLang="en-US" dirty="0" smtClean="0"/>
              <a:t>Com  </a:t>
            </a:r>
            <a:r>
              <a:rPr lang="en-US" altLang="en-US" i="1" dirty="0" smtClean="0"/>
              <a:t>a</a:t>
            </a:r>
            <a:r>
              <a:rPr lang="en-US" altLang="en-US" dirty="0" smtClean="0"/>
              <a:t> </a:t>
            </a:r>
            <a:r>
              <a:rPr lang="en-US" altLang="en-US" dirty="0" smtClean="0"/>
              <a:t>= 0 </a:t>
            </a:r>
            <a:r>
              <a:rPr lang="en-US" altLang="en-US" dirty="0" smtClean="0"/>
              <a:t>e </a:t>
            </a:r>
            <a:r>
              <a:rPr lang="en-US" altLang="en-US" i="1" dirty="0" smtClean="0"/>
              <a:t>b</a:t>
            </a:r>
            <a:r>
              <a:rPr lang="en-US" altLang="en-US" dirty="0" smtClean="0"/>
              <a:t> </a:t>
            </a:r>
            <a:r>
              <a:rPr lang="en-US" altLang="en-US" dirty="0" smtClean="0"/>
              <a:t>= </a:t>
            </a:r>
            <a:r>
              <a:rPr lang="en-US" altLang="en-US" dirty="0" smtClean="0">
                <a:sym typeface="Symbol" panose="05050102010706020507" pitchFamily="18" charset="2"/>
              </a:rPr>
              <a:t></a:t>
            </a:r>
            <a:r>
              <a:rPr lang="en-US" altLang="en-US" dirty="0" smtClean="0"/>
              <a:t>.   </a:t>
            </a:r>
          </a:p>
          <a:p>
            <a:pPr eaLnBrk="1" hangingPunct="1"/>
            <a:endParaRPr lang="en-US" altLang="en-US" dirty="0" smtClean="0"/>
          </a:p>
          <a:p>
            <a:pPr marL="0" indent="0" eaLnBrk="1" hangingPunct="1">
              <a:buNone/>
            </a:pPr>
            <a:r>
              <a:rPr lang="en-US" altLang="en-US" dirty="0" smtClean="0"/>
              <a:t>logo,</a:t>
            </a:r>
            <a:endParaRPr lang="en-US" altLang="en-US" dirty="0" smtClean="0"/>
          </a:p>
        </p:txBody>
      </p:sp>
      <p:pic>
        <p:nvPicPr>
          <p:cNvPr id="14340" name="Picture 8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543843"/>
            <a:ext cx="3748087" cy="72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E45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8425" name="Picture 9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9170" y="5334000"/>
            <a:ext cx="6837363" cy="712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E45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8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8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188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88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88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decel="100000" fill="hold"/>
                                        <p:tgtEl>
                                          <p:spTgt spid="188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884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884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900" decel="100000" fill="hold"/>
                                        <p:tgtEl>
                                          <p:spTgt spid="1884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884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884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900" decel="100000" fill="hold"/>
                                        <p:tgtEl>
                                          <p:spTgt spid="1884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884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609600" y="3124200"/>
            <a:ext cx="8226425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E45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rgbClr val="0073AE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rgbClr val="0073AE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rgbClr val="0073AE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rgbClr val="0073AE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rgbClr val="0073AE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rgbClr val="0073AE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en-US" altLang="en-US" sz="4000" dirty="0" smtClean="0">
                <a:solidFill>
                  <a:srgbClr val="00B9F1"/>
                </a:solidFill>
                <a:latin typeface="UniversLTStd-BoldCn" charset="0"/>
              </a:rPr>
              <a:t>A </a:t>
            </a:r>
            <a:r>
              <a:rPr lang="en-US" altLang="en-US" sz="4000" dirty="0" err="1" smtClean="0">
                <a:solidFill>
                  <a:srgbClr val="00B9F1"/>
                </a:solidFill>
                <a:latin typeface="UniversLTStd-BoldCn" charset="0"/>
              </a:rPr>
              <a:t>regra</a:t>
            </a:r>
            <a:r>
              <a:rPr lang="en-US" altLang="en-US" sz="4000" dirty="0" smtClean="0">
                <a:solidFill>
                  <a:srgbClr val="00B9F1"/>
                </a:solidFill>
                <a:latin typeface="UniversLTStd-BoldCn" charset="0"/>
              </a:rPr>
              <a:t> do </a:t>
            </a:r>
            <a:r>
              <a:rPr lang="en-US" altLang="en-US" sz="4000" dirty="0" err="1" smtClean="0">
                <a:solidFill>
                  <a:srgbClr val="00B9F1"/>
                </a:solidFill>
                <a:latin typeface="UniversLTStd-BoldCn" charset="0"/>
              </a:rPr>
              <a:t>ponto</a:t>
            </a:r>
            <a:r>
              <a:rPr lang="en-US" altLang="en-US" sz="4000" dirty="0" smtClean="0">
                <a:solidFill>
                  <a:srgbClr val="00B9F1"/>
                </a:solidFill>
                <a:latin typeface="UniversLTStd-BoldCn" charset="0"/>
              </a:rPr>
              <a:t> </a:t>
            </a:r>
            <a:r>
              <a:rPr lang="en-US" altLang="en-US" sz="4000" dirty="0" err="1" smtClean="0">
                <a:solidFill>
                  <a:srgbClr val="00B9F1"/>
                </a:solidFill>
                <a:latin typeface="UniversLTStd-BoldCn" charset="0"/>
              </a:rPr>
              <a:t>médio</a:t>
            </a:r>
            <a:endParaRPr lang="en-US" altLang="en-US" sz="4000" dirty="0">
              <a:solidFill>
                <a:srgbClr val="00B9F1"/>
              </a:solidFill>
              <a:latin typeface="UniversLTStd-BoldCn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The Midpoint Rule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1324425" y="1692589"/>
            <a:ext cx="6591985" cy="3777622"/>
          </a:xfrm>
        </p:spPr>
        <p:txBody>
          <a:bodyPr/>
          <a:lstStyle/>
          <a:p>
            <a:r>
              <a:rPr lang="pt-BR" dirty="0"/>
              <a:t>Qualquer soma de </a:t>
            </a:r>
            <a:r>
              <a:rPr lang="pt-BR" dirty="0" err="1"/>
              <a:t>Riemann</a:t>
            </a:r>
            <a:r>
              <a:rPr lang="pt-BR" dirty="0"/>
              <a:t> é uma aproximação de uma integral, mas se usarmos os pontos médios, obteremos a seguinte aproximação.</a:t>
            </a:r>
          </a:p>
        </p:txBody>
      </p:sp>
      <p:pic>
        <p:nvPicPr>
          <p:cNvPr id="17412" name="Picture 6" descr="Picture7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581400"/>
            <a:ext cx="8326437" cy="2249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A </a:t>
            </a:r>
            <a:r>
              <a:rPr lang="en-US" altLang="en-US" dirty="0" err="1" smtClean="0"/>
              <a:t>regra</a:t>
            </a:r>
            <a:r>
              <a:rPr lang="en-US" altLang="en-US" dirty="0" smtClean="0"/>
              <a:t> do </a:t>
            </a:r>
            <a:r>
              <a:rPr lang="en-US" altLang="en-US" dirty="0" err="1" smtClean="0"/>
              <a:t>ponto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médio</a:t>
            </a:r>
            <a:endParaRPr lang="en-US" altLang="en-US" dirty="0" smtClean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1219200" y="1905000"/>
            <a:ext cx="6591985" cy="3777622"/>
          </a:xfrm>
          <a:noFill/>
        </p:spPr>
        <p:txBody>
          <a:bodyPr/>
          <a:lstStyle/>
          <a:p>
            <a:r>
              <a:rPr lang="pt-BR" dirty="0" err="1"/>
              <a:t>Freqüentemente</a:t>
            </a:r>
            <a:r>
              <a:rPr lang="pt-BR" dirty="0"/>
              <a:t>, escolhemos o ponto  </a:t>
            </a:r>
            <a:r>
              <a:rPr lang="pt-BR" i="1" dirty="0" smtClean="0"/>
              <a:t>xi</a:t>
            </a:r>
            <a:r>
              <a:rPr lang="pt-BR" dirty="0" smtClean="0"/>
              <a:t>* </a:t>
            </a:r>
            <a:r>
              <a:rPr lang="pt-BR" dirty="0"/>
              <a:t>para ser </a:t>
            </a:r>
            <a:r>
              <a:rPr lang="pt-BR" dirty="0" smtClean="0"/>
              <a:t> a média no </a:t>
            </a:r>
            <a:r>
              <a:rPr lang="pt-BR" i="1" dirty="0" smtClean="0"/>
              <a:t>i-</a:t>
            </a:r>
            <a:r>
              <a:rPr lang="pt-BR" dirty="0" err="1" smtClean="0"/>
              <a:t>ésimo</a:t>
            </a:r>
            <a:r>
              <a:rPr lang="pt-BR" dirty="0" smtClean="0"/>
              <a:t> </a:t>
            </a:r>
            <a:r>
              <a:rPr lang="pt-BR" dirty="0"/>
              <a:t>subintervalo porque é conveniente para calcular </a:t>
            </a:r>
            <a:r>
              <a:rPr lang="pt-BR" dirty="0" smtClean="0"/>
              <a:t>os retângulos.</a:t>
            </a:r>
          </a:p>
          <a:p>
            <a:endParaRPr lang="pt-BR" dirty="0"/>
          </a:p>
          <a:p>
            <a:r>
              <a:rPr lang="pt-BR" dirty="0"/>
              <a:t>Mas se o objetivo é encontrar uma </a:t>
            </a:r>
            <a:r>
              <a:rPr lang="pt-BR" i="1" dirty="0"/>
              <a:t>aproximação</a:t>
            </a:r>
            <a:r>
              <a:rPr lang="pt-BR" dirty="0"/>
              <a:t> de uma integral, geralmente é melhor escolher </a:t>
            </a:r>
            <a:r>
              <a:rPr lang="pt-BR" i="1" dirty="0" smtClean="0"/>
              <a:t>xi</a:t>
            </a:r>
            <a:r>
              <a:rPr lang="pt-BR" dirty="0" smtClean="0"/>
              <a:t>* </a:t>
            </a:r>
            <a:r>
              <a:rPr lang="pt-BR" dirty="0"/>
              <a:t>como o ponto médio do intervalo, que denotamos por</a:t>
            </a:r>
          </a:p>
        </p:txBody>
      </p:sp>
      <p:pic>
        <p:nvPicPr>
          <p:cNvPr id="18436" name="Picture 6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3886200"/>
            <a:ext cx="411163" cy="334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E45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err="1" smtClean="0"/>
              <a:t>Examplo</a:t>
            </a:r>
            <a:r>
              <a:rPr lang="en-US" altLang="en-US" dirty="0" smtClean="0"/>
              <a:t> 1</a:t>
            </a:r>
            <a:endParaRPr lang="en-US" altLang="en-US" i="1" dirty="0" smtClean="0"/>
          </a:p>
        </p:txBody>
      </p:sp>
      <p:sp>
        <p:nvSpPr>
          <p:cNvPr id="205827" name="Rectangle 3"/>
          <p:cNvSpPr>
            <a:spLocks noGrp="1" noChangeArrowheads="1"/>
          </p:cNvSpPr>
          <p:nvPr>
            <p:ph idx="1"/>
          </p:nvPr>
        </p:nvSpPr>
        <p:spPr>
          <a:xfrm>
            <a:off x="1219200" y="1450719"/>
            <a:ext cx="6591985" cy="3777622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Use a regra do ponto médio com </a:t>
            </a:r>
            <a:r>
              <a:rPr lang="pt-BR" i="1" dirty="0"/>
              <a:t>n</a:t>
            </a:r>
            <a:r>
              <a:rPr lang="pt-BR" dirty="0"/>
              <a:t> = 5 para </a:t>
            </a:r>
            <a:r>
              <a:rPr lang="pt-BR" dirty="0" smtClean="0"/>
              <a:t>aproximar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Solução:</a:t>
            </a:r>
          </a:p>
          <a:p>
            <a:pPr marL="0" indent="0">
              <a:buNone/>
            </a:pPr>
            <a:r>
              <a:rPr lang="pt-BR" dirty="0"/>
              <a:t>Os pontos finais dos cinco subintervalos são 1, 1.2, 1.4, 1.6, 1.8 e 2.0,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então </a:t>
            </a:r>
            <a:r>
              <a:rPr lang="pt-BR" dirty="0"/>
              <a:t>os pontos médios são 1.1, 1.3, 1.5, 1.7 e 1.9</a:t>
            </a:r>
            <a:r>
              <a:rPr lang="pt-BR" dirty="0" smtClean="0"/>
              <a:t>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A largura dos subintervalos é  </a:t>
            </a:r>
            <a:r>
              <a:rPr lang="pt-BR" i="1" dirty="0"/>
              <a:t>x</a:t>
            </a:r>
            <a:r>
              <a:rPr lang="pt-BR" dirty="0"/>
              <a:t> = (2 - 1) / 5 </a:t>
            </a:r>
            <a:r>
              <a:rPr lang="pt-BR" dirty="0" smtClean="0"/>
              <a:t>= 1/5    então </a:t>
            </a:r>
            <a:r>
              <a:rPr lang="pt-BR" dirty="0"/>
              <a:t>a Regra do Ponto Médio dá</a:t>
            </a:r>
          </a:p>
        </p:txBody>
      </p:sp>
      <p:pic>
        <p:nvPicPr>
          <p:cNvPr id="19460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307" y="1371600"/>
            <a:ext cx="937673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E45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834" name="Picture 10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630" y="4998512"/>
            <a:ext cx="7499350" cy="6178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E45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58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58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2058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058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DE8BF"/>
                </a:solidFill>
              </a14:hiddenFill>
            </a:ext>
          </a:extLst>
        </p:spPr>
        <p:txBody>
          <a:bodyPr/>
          <a:lstStyle/>
          <a:p>
            <a:pPr eaLnBrk="1" hangingPunct="1"/>
            <a:r>
              <a:rPr lang="en-US" altLang="en-US" dirty="0" err="1" smtClean="0"/>
              <a:t>Examplo</a:t>
            </a:r>
            <a:r>
              <a:rPr lang="en-US" altLang="en-US" dirty="0" smtClean="0"/>
              <a:t> </a:t>
            </a:r>
            <a:r>
              <a:rPr lang="en-US" altLang="en-US" dirty="0"/>
              <a:t>1</a:t>
            </a:r>
            <a:r>
              <a:rPr lang="en-US" altLang="en-US" dirty="0" smtClean="0"/>
              <a:t> </a:t>
            </a:r>
            <a:r>
              <a:rPr lang="en-US" altLang="en-US" dirty="0" smtClean="0"/>
              <a:t>– </a:t>
            </a:r>
            <a:r>
              <a:rPr lang="en-US" altLang="en-US" i="1" dirty="0" err="1" smtClean="0"/>
              <a:t>Solução</a:t>
            </a:r>
            <a:endParaRPr lang="en-US" altLang="en-US" i="1" dirty="0" smtClean="0"/>
          </a:p>
        </p:txBody>
      </p:sp>
      <p:sp>
        <p:nvSpPr>
          <p:cNvPr id="206851" name="Text Box 3"/>
          <p:cNvSpPr txBox="1">
            <a:spLocks noChangeArrowheads="1"/>
          </p:cNvSpPr>
          <p:nvPr/>
        </p:nvSpPr>
        <p:spPr bwMode="auto">
          <a:xfrm>
            <a:off x="455613" y="1462088"/>
            <a:ext cx="8226425" cy="5256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E45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rgbClr val="0073AE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rgbClr val="0073AE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rgbClr val="0073AE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rgbClr val="0073AE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rgbClr val="0073AE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rgbClr val="0073AE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</a:pPr>
            <a:r>
              <a:rPr lang="en-US" altLang="en-US" dirty="0"/>
              <a:t> 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</a:pPr>
            <a:endParaRPr lang="en-US" altLang="en-US" dirty="0"/>
          </a:p>
          <a:p>
            <a:pPr eaLnBrk="1" hangingPunct="1">
              <a:lnSpc>
                <a:spcPct val="125000"/>
              </a:lnSpc>
              <a:spcBef>
                <a:spcPct val="0"/>
              </a:spcBef>
            </a:pPr>
            <a:endParaRPr lang="en-US" altLang="en-US" dirty="0"/>
          </a:p>
          <a:p>
            <a:pPr eaLnBrk="1" hangingPunct="1">
              <a:lnSpc>
                <a:spcPct val="125000"/>
              </a:lnSpc>
              <a:spcBef>
                <a:spcPct val="0"/>
              </a:spcBef>
            </a:pPr>
            <a:r>
              <a:rPr lang="en-US" altLang="en-US" dirty="0"/>
              <a:t>              </a:t>
            </a:r>
            <a:r>
              <a:rPr lang="en-US" altLang="en-US" b="1" dirty="0">
                <a:solidFill>
                  <a:srgbClr val="000000"/>
                </a:solidFill>
                <a:cs typeface="Times New Roman" panose="02020603050405020304" pitchFamily="18" charset="0"/>
              </a:rPr>
              <a:t>≈</a:t>
            </a:r>
            <a:r>
              <a:rPr lang="en-US" altLang="en-US" dirty="0"/>
              <a:t>  0.691908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</a:pPr>
            <a:endParaRPr lang="en-US" altLang="en-US" dirty="0"/>
          </a:p>
        </p:txBody>
      </p:sp>
      <p:pic>
        <p:nvPicPr>
          <p:cNvPr id="20484" name="Picture 7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462088"/>
            <a:ext cx="5740400" cy="877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E45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6857" name="Rectangle 9"/>
          <p:cNvSpPr>
            <a:spLocks noChangeArrowheads="1"/>
          </p:cNvSpPr>
          <p:nvPr/>
        </p:nvSpPr>
        <p:spPr bwMode="auto">
          <a:xfrm>
            <a:off x="6732431" y="6172200"/>
            <a:ext cx="655949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E45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rgbClr val="0073AE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rgbClr val="0073AE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rgbClr val="0073AE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rgbClr val="0073AE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rgbClr val="0073AE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rgbClr val="0073AE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en-US" altLang="en-US" sz="1200" b="1" dirty="0" smtClean="0"/>
              <a:t>Figure</a:t>
            </a:r>
            <a:endParaRPr lang="en-US" altLang="en-US" sz="1200" b="1" dirty="0"/>
          </a:p>
        </p:txBody>
      </p:sp>
      <p:pic>
        <p:nvPicPr>
          <p:cNvPr id="206858" name="Picture 10" descr="32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3352800"/>
            <a:ext cx="3730625" cy="2773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tângulo 1"/>
          <p:cNvSpPr/>
          <p:nvPr/>
        </p:nvSpPr>
        <p:spPr>
          <a:xfrm>
            <a:off x="533400" y="3539152"/>
            <a:ext cx="4572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pt-B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Dado que f ( x ) = 1 / x &gt; 0 para 1 </a:t>
            </a:r>
            <a:r>
              <a:rPr lang="pt-BR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&gt;</a:t>
            </a:r>
            <a:r>
              <a:rPr lang="pt-B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 x </a:t>
            </a:r>
            <a:r>
              <a:rPr lang="pt-BR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&gt;</a:t>
            </a:r>
            <a:r>
              <a:rPr lang="pt-B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 2, a integral representa uma área e a aproximação dada pela Regra do Ponto Médio é a soma das áreas dos retângulos mostrados na Figura </a:t>
            </a:r>
            <a:r>
              <a:rPr lang="pt-BR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ao lado.</a:t>
            </a:r>
            <a:endParaRPr lang="pt-BR" sz="16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6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6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206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068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68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decel="100000" fill="hold"/>
                                        <p:tgtEl>
                                          <p:spTgt spid="2068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068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068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068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900" decel="100000" fill="hold"/>
                                        <p:tgtEl>
                                          <p:spTgt spid="2068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068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85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A </a:t>
            </a:r>
            <a:r>
              <a:rPr lang="en-US" altLang="en-US" dirty="0" err="1" smtClean="0"/>
              <a:t>Regra</a:t>
            </a:r>
            <a:r>
              <a:rPr lang="en-US" altLang="en-US" dirty="0" smtClean="0"/>
              <a:t> do </a:t>
            </a:r>
            <a:r>
              <a:rPr lang="en-US" altLang="en-US" dirty="0" err="1" smtClean="0"/>
              <a:t>Trapezio</a:t>
            </a:r>
            <a:endParaRPr lang="en-US" altLang="en-US" dirty="0" smtClean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mtClean="0"/>
              <a:t>Another approximation, called the </a:t>
            </a:r>
            <a:r>
              <a:rPr lang="en-US" altLang="en-US" smtClean="0">
                <a:solidFill>
                  <a:srgbClr val="FF0066"/>
                </a:solidFill>
              </a:rPr>
              <a:t>Trapezoidal Rule</a:t>
            </a:r>
            <a:r>
              <a:rPr lang="en-US" altLang="en-US" smtClean="0"/>
              <a:t>, results from averaging the approximations in Equations 1 and 2:</a:t>
            </a:r>
          </a:p>
        </p:txBody>
      </p:sp>
      <p:pic>
        <p:nvPicPr>
          <p:cNvPr id="22532" name="Picture 6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3168537"/>
            <a:ext cx="7683500" cy="1707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E45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err="1" smtClean="0"/>
              <a:t>Integração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aproximada</a:t>
            </a:r>
            <a:endParaRPr lang="en-US" altLang="en-US" dirty="0" smtClean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622908"/>
            <a:ext cx="6591985" cy="3777622"/>
          </a:xfrm>
          <a:noFill/>
        </p:spPr>
        <p:txBody>
          <a:bodyPr/>
          <a:lstStyle/>
          <a:p>
            <a:r>
              <a:rPr lang="pt-BR" dirty="0"/>
              <a:t>O motivo do nome Regra </a:t>
            </a:r>
            <a:r>
              <a:rPr lang="pt-BR" dirty="0" smtClean="0"/>
              <a:t>Trapézio </a:t>
            </a:r>
            <a:r>
              <a:rPr lang="pt-BR" dirty="0"/>
              <a:t>pode ser visto na Figura abaixo, que ilustra o caso com </a:t>
            </a:r>
            <a:r>
              <a:rPr lang="en-US" altLang="en-US" dirty="0" smtClean="0"/>
              <a:t>f(</a:t>
            </a:r>
            <a:r>
              <a:rPr lang="en-US" altLang="en-US" i="1" dirty="0" smtClean="0"/>
              <a:t>x</a:t>
            </a:r>
            <a:r>
              <a:rPr lang="en-US" altLang="en-US" dirty="0" smtClean="0"/>
              <a:t>) </a:t>
            </a:r>
            <a:r>
              <a:rPr lang="en-US" altLang="en-US" b="1" dirty="0" smtClean="0">
                <a:sym typeface="Symbol" panose="05050102010706020507" pitchFamily="18" charset="2"/>
              </a:rPr>
              <a:t></a:t>
            </a:r>
            <a:r>
              <a:rPr lang="en-US" altLang="en-US" dirty="0" smtClean="0">
                <a:sym typeface="Symbol" panose="05050102010706020507" pitchFamily="18" charset="2"/>
              </a:rPr>
              <a:t> 0</a:t>
            </a:r>
            <a:r>
              <a:rPr lang="en-US" altLang="en-US" dirty="0" smtClean="0"/>
              <a:t> e </a:t>
            </a:r>
            <a:r>
              <a:rPr lang="en-US" altLang="en-US" i="1" dirty="0" smtClean="0"/>
              <a:t>n</a:t>
            </a:r>
            <a:r>
              <a:rPr lang="en-US" altLang="en-US" dirty="0" smtClean="0"/>
              <a:t> = 4.</a:t>
            </a:r>
            <a:endParaRPr lang="en-US" altLang="en-US" dirty="0" smtClean="0"/>
          </a:p>
        </p:txBody>
      </p:sp>
      <p:sp>
        <p:nvSpPr>
          <p:cNvPr id="24580" name="Text Box 8"/>
          <p:cNvSpPr txBox="1">
            <a:spLocks noChangeArrowheads="1"/>
          </p:cNvSpPr>
          <p:nvPr/>
        </p:nvSpPr>
        <p:spPr bwMode="auto">
          <a:xfrm>
            <a:off x="4038600" y="5181600"/>
            <a:ext cx="7778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E45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rgbClr val="0073AE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rgbClr val="0073AE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rgbClr val="0073AE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rgbClr val="0073AE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rgbClr val="0073AE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rgbClr val="0073AE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en-US" altLang="en-US" sz="1200" b="1"/>
              <a:t>Figure 2</a:t>
            </a:r>
          </a:p>
        </p:txBody>
      </p:sp>
      <p:pic>
        <p:nvPicPr>
          <p:cNvPr id="24581" name="Picture 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3713" y="2965752"/>
            <a:ext cx="2514600" cy="2117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E45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582" name="Rectangle 10"/>
          <p:cNvSpPr>
            <a:spLocks noChangeArrowheads="1"/>
          </p:cNvSpPr>
          <p:nvPr/>
        </p:nvSpPr>
        <p:spPr bwMode="auto">
          <a:xfrm>
            <a:off x="3276600" y="5562600"/>
            <a:ext cx="30187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E45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rgbClr val="0073AE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rgbClr val="0073AE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rgbClr val="0073AE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rgbClr val="0073AE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rgbClr val="0073AE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rgbClr val="0073AE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400" dirty="0" err="1" smtClean="0"/>
              <a:t>Aproximação</a:t>
            </a:r>
            <a:r>
              <a:rPr lang="en-US" altLang="en-US" sz="1400" dirty="0" smtClean="0"/>
              <a:t> </a:t>
            </a:r>
            <a:r>
              <a:rPr lang="en-US" altLang="en-US" sz="1400" dirty="0" err="1" smtClean="0"/>
              <a:t>pela</a:t>
            </a:r>
            <a:r>
              <a:rPr lang="en-US" altLang="en-US" sz="1400" dirty="0" smtClean="0"/>
              <a:t> </a:t>
            </a:r>
            <a:r>
              <a:rPr lang="en-US" altLang="en-US" sz="1400" dirty="0" err="1" smtClean="0"/>
              <a:t>regra</a:t>
            </a:r>
            <a:r>
              <a:rPr lang="en-US" altLang="en-US" sz="1400" dirty="0" smtClean="0"/>
              <a:t> do </a:t>
            </a:r>
            <a:r>
              <a:rPr lang="en-US" altLang="en-US" sz="1400" dirty="0" err="1" smtClean="0"/>
              <a:t>trapezio</a:t>
            </a:r>
            <a:endParaRPr lang="en-US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r>
              <a:rPr lang="pt-BR" dirty="0"/>
              <a:t>A área do trapézio que fica acima do </a:t>
            </a:r>
            <a:r>
              <a:rPr lang="pt-BR" i="1" dirty="0" smtClean="0"/>
              <a:t>i-</a:t>
            </a:r>
            <a:r>
              <a:rPr lang="pt-BR" dirty="0" err="1" smtClean="0"/>
              <a:t>ésimo</a:t>
            </a:r>
            <a:r>
              <a:rPr lang="pt-BR" dirty="0" smtClean="0"/>
              <a:t> no subintervalo e dado por</a:t>
            </a:r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e se somarmos as áreas de todos esses trapézios, obtemos </a:t>
            </a:r>
            <a:r>
              <a:rPr lang="pt-BR" dirty="0" smtClean="0"/>
              <a:t>a Regra </a:t>
            </a:r>
            <a:r>
              <a:rPr lang="pt-BR" dirty="0" err="1" smtClean="0"/>
              <a:t>Trapezio</a:t>
            </a:r>
            <a:r>
              <a:rPr lang="pt-BR" dirty="0" smtClean="0"/>
              <a:t>.</a:t>
            </a:r>
            <a:endParaRPr lang="pt-BR" dirty="0"/>
          </a:p>
        </p:txBody>
      </p:sp>
      <p:pic>
        <p:nvPicPr>
          <p:cNvPr id="2560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971800"/>
            <a:ext cx="5486400" cy="900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E45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pPr eaLnBrk="1" hangingPunct="1"/>
            <a:r>
              <a:rPr lang="en-US" altLang="en-US" dirty="0" err="1" smtClean="0"/>
              <a:t>Integração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aproximada</a:t>
            </a:r>
            <a:endParaRPr lang="en-US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err="1" smtClean="0"/>
              <a:t>Examplo</a:t>
            </a:r>
            <a:r>
              <a:rPr lang="en-US" altLang="en-US" dirty="0" smtClean="0"/>
              <a:t> 1 </a:t>
            </a:r>
            <a:endParaRPr lang="en-US" altLang="en-US" dirty="0" smtClean="0"/>
          </a:p>
        </p:txBody>
      </p:sp>
      <p:sp>
        <p:nvSpPr>
          <p:cNvPr id="158723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1644349"/>
            <a:ext cx="7543800" cy="3777622"/>
          </a:xfrm>
          <a:noFill/>
        </p:spPr>
        <p:txBody>
          <a:bodyPr>
            <a:normAutofit/>
          </a:bodyPr>
          <a:lstStyle/>
          <a:p>
            <a:r>
              <a:rPr lang="pt-BR" dirty="0"/>
              <a:t>Use (a) a regra trapezoidal e (b) a regra do ponto médio com</a:t>
            </a:r>
          </a:p>
          <a:p>
            <a:r>
              <a:rPr lang="pt-BR" i="1" dirty="0"/>
              <a:t>n</a:t>
            </a:r>
            <a:r>
              <a:rPr lang="pt-BR" dirty="0"/>
              <a:t> = 5 para aproximar o </a:t>
            </a:r>
            <a:r>
              <a:rPr lang="pt-BR" dirty="0" smtClean="0"/>
              <a:t>integral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Solução:</a:t>
            </a:r>
          </a:p>
          <a:p>
            <a:pPr marL="0" indent="0">
              <a:buNone/>
            </a:pPr>
            <a:r>
              <a:rPr lang="pt-BR" dirty="0"/>
              <a:t>(a) Com </a:t>
            </a:r>
            <a:r>
              <a:rPr lang="pt-BR" i="1" dirty="0"/>
              <a:t>n</a:t>
            </a:r>
            <a:r>
              <a:rPr lang="pt-BR" dirty="0"/>
              <a:t> = 5, </a:t>
            </a:r>
            <a:r>
              <a:rPr lang="pt-BR" i="1" dirty="0"/>
              <a:t>a</a:t>
            </a:r>
            <a:r>
              <a:rPr lang="pt-BR" dirty="0"/>
              <a:t> = 1 e </a:t>
            </a:r>
            <a:r>
              <a:rPr lang="pt-BR" i="1" dirty="0"/>
              <a:t>b</a:t>
            </a:r>
            <a:r>
              <a:rPr lang="pt-BR" dirty="0"/>
              <a:t> = 2, temos  </a:t>
            </a:r>
            <a:r>
              <a:rPr lang="pt-BR" i="1" dirty="0"/>
              <a:t>x</a:t>
            </a:r>
            <a:r>
              <a:rPr lang="pt-BR" dirty="0"/>
              <a:t> = (2 - 1) / 5 = 0,2,</a:t>
            </a:r>
          </a:p>
          <a:p>
            <a:pPr marL="0" indent="0">
              <a:buNone/>
            </a:pPr>
            <a:r>
              <a:rPr lang="pt-BR" dirty="0"/>
              <a:t>e assim a regra trapezoidal dá</a:t>
            </a:r>
          </a:p>
          <a:p>
            <a:pPr marL="0" indent="0">
              <a:buNone/>
            </a:pPr>
            <a:r>
              <a:rPr lang="pt-BR" dirty="0"/>
              <a:t>≈ 0,695635</a:t>
            </a:r>
          </a:p>
        </p:txBody>
      </p:sp>
      <p:pic>
        <p:nvPicPr>
          <p:cNvPr id="26628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078037"/>
            <a:ext cx="1176337" cy="351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E45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8726" name="Picture 6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012" y="4617150"/>
            <a:ext cx="7799388" cy="804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E45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8727" name="Picture 7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7288" y="5770563"/>
            <a:ext cx="4524375" cy="693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E45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87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87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1587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587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587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87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 fill="hold"/>
                                        <p:tgtEl>
                                          <p:spTgt spid="1587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587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err="1" smtClean="0"/>
              <a:t>Examplo</a:t>
            </a:r>
            <a:r>
              <a:rPr lang="en-US" altLang="en-US" dirty="0" smtClean="0"/>
              <a:t> </a:t>
            </a:r>
            <a:r>
              <a:rPr lang="en-US" altLang="en-US" dirty="0" smtClean="0"/>
              <a:t>1 – </a:t>
            </a:r>
            <a:r>
              <a:rPr lang="en-US" altLang="en-US" i="1" dirty="0" err="1" smtClean="0"/>
              <a:t>Solução</a:t>
            </a:r>
            <a:r>
              <a:rPr lang="en-US" altLang="en-US" i="1" dirty="0" smtClean="0"/>
              <a:t>  </a:t>
            </a:r>
            <a:endParaRPr lang="en-US" altLang="en-US" i="1" dirty="0" smtClean="0"/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 smtClean="0"/>
              <a:t>A </a:t>
            </a:r>
            <a:r>
              <a:rPr lang="en-US" altLang="en-US" dirty="0" err="1" smtClean="0"/>
              <a:t>aproximação</a:t>
            </a:r>
            <a:r>
              <a:rPr lang="en-US" altLang="en-US" dirty="0" smtClean="0"/>
              <a:t> é </a:t>
            </a:r>
            <a:r>
              <a:rPr lang="en-US" altLang="en-US" dirty="0" err="1" smtClean="0"/>
              <a:t>ilustrada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na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figura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abaixo</a:t>
            </a:r>
            <a:r>
              <a:rPr lang="en-US" altLang="en-US" dirty="0"/>
              <a:t>.</a:t>
            </a:r>
            <a:endParaRPr lang="en-US" altLang="en-US" dirty="0" smtClean="0"/>
          </a:p>
        </p:txBody>
      </p:sp>
      <p:pic>
        <p:nvPicPr>
          <p:cNvPr id="27652" name="Picture 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2819400"/>
            <a:ext cx="3198813" cy="2773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E45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653" name="Text Box 8"/>
          <p:cNvSpPr txBox="1">
            <a:spLocks noChangeArrowheads="1"/>
          </p:cNvSpPr>
          <p:nvPr/>
        </p:nvSpPr>
        <p:spPr bwMode="auto">
          <a:xfrm>
            <a:off x="4098925" y="5318125"/>
            <a:ext cx="7778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E45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rgbClr val="0073AE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rgbClr val="0073AE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rgbClr val="0073AE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rgbClr val="0073AE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rgbClr val="0073AE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rgbClr val="0073AE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en-US" altLang="en-US" sz="1200" b="1"/>
              <a:t>Figure 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err="1" smtClean="0"/>
              <a:t>Examplo</a:t>
            </a:r>
            <a:r>
              <a:rPr lang="en-US" altLang="en-US" dirty="0" smtClean="0"/>
              <a:t> </a:t>
            </a:r>
            <a:r>
              <a:rPr lang="en-US" altLang="en-US" dirty="0" smtClean="0"/>
              <a:t>1 – </a:t>
            </a:r>
            <a:r>
              <a:rPr lang="en-US" altLang="en-US" i="1" dirty="0" err="1" smtClean="0"/>
              <a:t>Solução</a:t>
            </a:r>
            <a:r>
              <a:rPr lang="en-US" altLang="en-US" i="1" dirty="0" smtClean="0"/>
              <a:t>  </a:t>
            </a:r>
            <a:endParaRPr lang="en-US" altLang="en-US" i="1" dirty="0" smtClean="0"/>
          </a:p>
        </p:txBody>
      </p:sp>
      <p:sp>
        <p:nvSpPr>
          <p:cNvPr id="160771" name="Rectangle 3"/>
          <p:cNvSpPr>
            <a:spLocks noGrp="1" noChangeArrowheads="1"/>
          </p:cNvSpPr>
          <p:nvPr>
            <p:ph idx="1"/>
          </p:nvPr>
        </p:nvSpPr>
        <p:spPr>
          <a:xfrm>
            <a:off x="1066800" y="1481138"/>
            <a:ext cx="6591985" cy="4724400"/>
          </a:xfrm>
          <a:noFill/>
        </p:spPr>
        <p:txBody>
          <a:bodyPr>
            <a:normAutofit/>
          </a:bodyPr>
          <a:lstStyle/>
          <a:p>
            <a:r>
              <a:rPr lang="pt-BR" dirty="0"/>
              <a:t>(b) Os pontos médios dos cinco subintervalos são 1,1, 1,3, 1,5,</a:t>
            </a:r>
          </a:p>
          <a:p>
            <a:r>
              <a:rPr lang="pt-BR" dirty="0"/>
              <a:t>1.7 e 1.9, então a Regra do Ponto Médio </a:t>
            </a:r>
            <a:r>
              <a:rPr lang="pt-BR" dirty="0" smtClean="0"/>
              <a:t>dá</a:t>
            </a:r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r>
              <a:rPr lang="pt-BR" dirty="0"/>
              <a:t>≈ 0,691908</a:t>
            </a:r>
          </a:p>
          <a:p>
            <a:r>
              <a:rPr lang="pt-BR" dirty="0"/>
              <a:t>Esta aproximação é</a:t>
            </a:r>
          </a:p>
          <a:p>
            <a:r>
              <a:rPr lang="pt-BR" dirty="0"/>
              <a:t>ilustrado na Figura </a:t>
            </a:r>
            <a:r>
              <a:rPr lang="pt-BR" dirty="0" smtClean="0"/>
              <a:t>ao lado.</a:t>
            </a:r>
            <a:endParaRPr lang="pt-BR" dirty="0"/>
          </a:p>
        </p:txBody>
      </p:sp>
      <p:pic>
        <p:nvPicPr>
          <p:cNvPr id="28677" name="Picture 7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5598" y="2786241"/>
            <a:ext cx="6161088" cy="612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E45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0776" name="Picture 8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3377777"/>
            <a:ext cx="4095750" cy="776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E45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0778" name="Text Box 10"/>
          <p:cNvSpPr txBox="1">
            <a:spLocks noChangeArrowheads="1"/>
          </p:cNvSpPr>
          <p:nvPr/>
        </p:nvSpPr>
        <p:spPr bwMode="auto">
          <a:xfrm>
            <a:off x="5426925" y="6330526"/>
            <a:ext cx="655949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E45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rgbClr val="0073AE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rgbClr val="0073AE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rgbClr val="0073AE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rgbClr val="0073AE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rgbClr val="0073AE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rgbClr val="0073AE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en-US" altLang="en-US" sz="1200" b="1" dirty="0" smtClean="0"/>
              <a:t>Figure</a:t>
            </a:r>
            <a:endParaRPr lang="en-US" altLang="en-US" sz="1200" b="1" dirty="0"/>
          </a:p>
        </p:txBody>
      </p:sp>
      <p:pic>
        <p:nvPicPr>
          <p:cNvPr id="160779" name="Picture 11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3208" y="4154064"/>
            <a:ext cx="2203385" cy="2176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E45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07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07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1607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607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607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07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decel="100000" fill="hold"/>
                                        <p:tgtEl>
                                          <p:spTgt spid="1607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607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607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07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900" decel="100000" fill="hold"/>
                                        <p:tgtEl>
                                          <p:spTgt spid="1607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607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TextBox 2"/>
          <p:cNvSpPr txBox="1">
            <a:spLocks noChangeArrowheads="1"/>
          </p:cNvSpPr>
          <p:nvPr/>
        </p:nvSpPr>
        <p:spPr bwMode="auto">
          <a:xfrm>
            <a:off x="3200400" y="3276600"/>
            <a:ext cx="2778325" cy="800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4600" dirty="0" smtClean="0"/>
              <a:t>Obrigado!</a:t>
            </a:r>
            <a:endParaRPr lang="en-US" sz="4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dfda0dee-c915-441d-b68c-f69e97c01754"/>
</p:tagLst>
</file>

<file path=ppt/theme/theme1.xml><?xml version="1.0" encoding="utf-8"?>
<a:theme xmlns:a="http://schemas.openxmlformats.org/drawingml/2006/main" name="calc">
  <a:themeElements>
    <a:clrScheme name="cal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al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E45C00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E45C00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cal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lc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lc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lc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lc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lc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lc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lc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lc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lc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lc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lc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McKBAlgP8">
  <a:themeElements>
    <a:clrScheme name="McKBAlgP8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cKBAlgP8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E45C00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E45C00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McKBAlgP8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cKBAlgP8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cKBAlgP8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cKBAlgP8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cKBAlgP8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cKBAlgP8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cKBAlgP8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cKBAlgP8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cKBAlgP8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cKBAlgP8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cKBAlgP8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cKBAlgP8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Cacho">
  <a:themeElements>
    <a:clrScheme name="Cacho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Cacho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acho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calc</Template>
  <TotalTime>4181</TotalTime>
  <Words>407</Words>
  <Application>Microsoft Office PowerPoint</Application>
  <PresentationFormat>Apresentação na tela (4:3)</PresentationFormat>
  <Paragraphs>103</Paragraphs>
  <Slides>19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3</vt:i4>
      </vt:variant>
      <vt:variant>
        <vt:lpstr>Títulos de slides</vt:lpstr>
      </vt:variant>
      <vt:variant>
        <vt:i4>19</vt:i4>
      </vt:variant>
    </vt:vector>
  </HeadingPairs>
  <TitlesOfParts>
    <vt:vector size="27" baseType="lpstr">
      <vt:lpstr>Arial</vt:lpstr>
      <vt:lpstr>Wingdings</vt:lpstr>
      <vt:lpstr>UniversLTStd-BoldCn</vt:lpstr>
      <vt:lpstr>Symbol</vt:lpstr>
      <vt:lpstr>Times New Roman</vt:lpstr>
      <vt:lpstr>calc</vt:lpstr>
      <vt:lpstr>McKBAlgP8</vt:lpstr>
      <vt:lpstr>Cacho</vt:lpstr>
      <vt:lpstr>Apresentação do PowerPoint</vt:lpstr>
      <vt:lpstr>A integral definida</vt:lpstr>
      <vt:lpstr>Apresentação do PowerPoint</vt:lpstr>
      <vt:lpstr>A integral definida</vt:lpstr>
      <vt:lpstr>A integral definida</vt:lpstr>
      <vt:lpstr>A integral definida</vt:lpstr>
      <vt:lpstr>Examplo 1</vt:lpstr>
      <vt:lpstr>Apresentação do PowerPoint</vt:lpstr>
      <vt:lpstr>The Midpoint Rule</vt:lpstr>
      <vt:lpstr>A regra do ponto médio</vt:lpstr>
      <vt:lpstr>Examplo 1</vt:lpstr>
      <vt:lpstr>Examplo 1 – Solução</vt:lpstr>
      <vt:lpstr>A Regra do Trapezio</vt:lpstr>
      <vt:lpstr>Integração aproximada</vt:lpstr>
      <vt:lpstr>Integração aproximada</vt:lpstr>
      <vt:lpstr>Examplo 1 </vt:lpstr>
      <vt:lpstr>Examplo 1 – Solução  </vt:lpstr>
      <vt:lpstr>Examplo 1 – Solução  </vt:lpstr>
      <vt:lpstr>Apresentação do PowerPoint</vt:lpstr>
    </vt:vector>
  </TitlesOfParts>
  <Company>eee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aa</dc:creator>
  <cp:lastModifiedBy>antonio tavernard</cp:lastModifiedBy>
  <cp:revision>914</cp:revision>
  <dcterms:created xsi:type="dcterms:W3CDTF">2007-01-13T07:19:09Z</dcterms:created>
  <dcterms:modified xsi:type="dcterms:W3CDTF">2020-11-11T15:53:50Z</dcterms:modified>
</cp:coreProperties>
</file>